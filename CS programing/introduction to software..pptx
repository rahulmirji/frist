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1" r:id="rId6"/>
    <p:sldId id="260" r:id="rId7"/>
    <p:sldId id="262" r:id="rId8"/>
    <p:sldId id="263" r:id="rId9"/>
    <p:sldId id="264" r:id="rId10"/>
    <p:sldId id="265" r:id="rId11"/>
    <p:sldId id="266" r:id="rId12"/>
    <p:sldId id="267" r:id="rId1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588" autoAdjust="0"/>
    <p:restoredTop sz="94607" autoAdjust="0"/>
  </p:normalViewPr>
  <p:slideViewPr>
    <p:cSldViewPr>
      <p:cViewPr varScale="1">
        <p:scale>
          <a:sx n="65" d="100"/>
          <a:sy n="65" d="100"/>
        </p:scale>
        <p:origin x="-1284" y="-60"/>
      </p:cViewPr>
      <p:guideLst>
        <p:guide orient="horz" pos="2160"/>
        <p:guide pos="2880"/>
      </p:guideLst>
    </p:cSldViewPr>
  </p:slideViewPr>
  <p:outlineViewPr>
    <p:cViewPr>
      <p:scale>
        <a:sx n="33" d="100"/>
        <a:sy n="33" d="100"/>
      </p:scale>
      <p:origin x="0" y="4764"/>
    </p:cViewPr>
  </p:outlineViewPr>
  <p:notesTextViewPr>
    <p:cViewPr>
      <p:scale>
        <a:sx n="100" d="100"/>
        <a:sy n="100" d="100"/>
      </p:scale>
      <p:origin x="0" y="0"/>
    </p:cViewPr>
  </p:notesTextViewPr>
  <p:sorterViewPr>
    <p:cViewPr>
      <p:scale>
        <a:sx n="66" d="100"/>
        <a:sy n="66" d="100"/>
      </p:scale>
      <p:origin x="0" y="0"/>
    </p:cViewPr>
  </p:sorter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0D268C92-5D6C-4776-9211-A61723F5877F}" type="datetimeFigureOut">
              <a:rPr lang="en-US" smtClean="0"/>
              <a:pPr/>
              <a:t>26-Nov-21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661DEB5-C566-40C3-9B9F-C588548C1FF8}" type="slidenum">
              <a:rPr lang="en-US" smtClean="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0D268C92-5D6C-4776-9211-A61723F5877F}" type="datetimeFigureOut">
              <a:rPr lang="en-US" smtClean="0"/>
              <a:pPr/>
              <a:t>26-Nov-21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661DEB5-C566-40C3-9B9F-C588548C1FF8}" type="slidenum">
              <a:rPr lang="en-US" smtClean="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0D268C92-5D6C-4776-9211-A61723F5877F}" type="datetimeFigureOut">
              <a:rPr lang="en-US" smtClean="0"/>
              <a:pPr/>
              <a:t>26-Nov-21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661DEB5-C566-40C3-9B9F-C588548C1FF8}" type="slidenum">
              <a:rPr lang="en-US" smtClean="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0D268C92-5D6C-4776-9211-A61723F5877F}" type="datetimeFigureOut">
              <a:rPr lang="en-US" smtClean="0"/>
              <a:pPr/>
              <a:t>26-Nov-21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C661DEB5-C566-40C3-9B9F-C588548C1FF8}" type="slidenum">
              <a:rPr lang="en-US" smtClean="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0D268C92-5D6C-4776-9211-A61723F5877F}" type="datetimeFigureOut">
              <a:rPr lang="en-US" smtClean="0"/>
              <a:pPr/>
              <a:t>26-Nov-21</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C661DEB5-C566-40C3-9B9F-C588548C1FF8}" type="slidenum">
              <a:rPr lang="en-US" smtClean="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0D268C92-5D6C-4776-9211-A61723F5877F}" type="datetimeFigureOut">
              <a:rPr lang="en-US" smtClean="0"/>
              <a:pPr/>
              <a:t>26-Nov-21</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C661DEB5-C566-40C3-9B9F-C588548C1FF8}" type="slidenum">
              <a:rPr lang="en-US" smtClean="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D268C92-5D6C-4776-9211-A61723F5877F}" type="datetimeFigureOut">
              <a:rPr lang="en-US" smtClean="0"/>
              <a:pPr/>
              <a:t>26-Nov-21</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C661DEB5-C566-40C3-9B9F-C588548C1FF8}" type="slidenum">
              <a:rPr lang="en-US" smtClean="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0D268C92-5D6C-4776-9211-A61723F5877F}" type="datetimeFigureOut">
              <a:rPr lang="en-US" smtClean="0"/>
              <a:pPr/>
              <a:t>26-Nov-21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C661DEB5-C566-40C3-9B9F-C588548C1FF8}" type="slidenum">
              <a:rPr lang="en-US" smtClean="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0D268C92-5D6C-4776-9211-A61723F5877F}" type="datetimeFigureOut">
              <a:rPr lang="en-US" smtClean="0"/>
              <a:pPr/>
              <a:t>26-Nov-21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C661DEB5-C566-40C3-9B9F-C588548C1FF8}" type="slidenum">
              <a:rPr lang="en-US" smtClean="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0D268C92-5D6C-4776-9211-A61723F5877F}" type="datetimeFigureOut">
              <a:rPr lang="en-US" smtClean="0"/>
              <a:pPr/>
              <a:t>26-Nov-21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661DEB5-C566-40C3-9B9F-C588548C1FF8}" type="slidenum">
              <a:rPr lang="en-US" smtClean="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0D268C92-5D6C-4776-9211-A61723F5877F}" type="datetimeFigureOut">
              <a:rPr lang="en-US" smtClean="0"/>
              <a:pPr/>
              <a:t>26-Nov-21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661DEB5-C566-40C3-9B9F-C588548C1FF8}" type="slidenum">
              <a:rPr lang="en-US" smtClean="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D268C92-5D6C-4776-9211-A61723F5877F}" type="datetimeFigureOut">
              <a:rPr lang="en-US" smtClean="0"/>
              <a:pPr/>
              <a:t>26-Nov-21</a:t>
            </a:fld>
            <a:endParaRPr lang="en-US"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661DEB5-C566-40C3-9B9F-C588548C1FF8}" type="slidenum">
              <a:rPr lang="en-US" smtClean="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2.xml"/><Relationship Id="rId5" Type="http://schemas.openxmlformats.org/officeDocument/2006/relationships/image" Target="../media/image5.jpeg"/><Relationship Id="rId4" Type="http://schemas.openxmlformats.org/officeDocument/2006/relationships/image" Target="../media/image4.jpe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
            <a:ext cx="7772400" cy="1219199"/>
          </a:xfrm>
        </p:spPr>
        <p:txBody>
          <a:bodyPr>
            <a:normAutofit/>
          </a:bodyPr>
          <a:lstStyle/>
          <a:p>
            <a:r>
              <a:rPr lang="en-US" sz="3600" b="1" dirty="0" smtClean="0">
                <a:solidFill>
                  <a:schemeClr val="accent2">
                    <a:lumMod val="75000"/>
                  </a:schemeClr>
                </a:solidFill>
                <a:latin typeface="Times New Roman" pitchFamily="18" charset="0"/>
                <a:cs typeface="Times New Roman" pitchFamily="18" charset="0"/>
              </a:rPr>
              <a:t>Software</a:t>
            </a:r>
            <a:endParaRPr lang="en-US" sz="3600" b="1" dirty="0">
              <a:solidFill>
                <a:schemeClr val="accent2">
                  <a:lumMod val="75000"/>
                </a:schemeClr>
              </a:solidFill>
              <a:latin typeface="Times New Roman" pitchFamily="18" charset="0"/>
              <a:cs typeface="Times New Roman" pitchFamily="18" charset="0"/>
            </a:endParaRPr>
          </a:p>
        </p:txBody>
      </p:sp>
      <p:sp>
        <p:nvSpPr>
          <p:cNvPr id="3" name="Subtitle 2"/>
          <p:cNvSpPr>
            <a:spLocks noGrp="1"/>
          </p:cNvSpPr>
          <p:nvPr>
            <p:ph type="subTitle" idx="1"/>
          </p:nvPr>
        </p:nvSpPr>
        <p:spPr>
          <a:xfrm>
            <a:off x="457200" y="1295400"/>
            <a:ext cx="8153400" cy="5410200"/>
          </a:xfrm>
        </p:spPr>
        <p:txBody>
          <a:bodyPr>
            <a:noAutofit/>
          </a:bodyPr>
          <a:lstStyle/>
          <a:p>
            <a:r>
              <a:rPr lang="en-US" sz="2000" b="1" dirty="0" smtClean="0">
                <a:solidFill>
                  <a:schemeClr val="tx1"/>
                </a:solidFill>
                <a:latin typeface="Times New Roman" pitchFamily="18" charset="0"/>
                <a:cs typeface="Times New Roman" pitchFamily="18" charset="0"/>
              </a:rPr>
              <a:t>Definition</a:t>
            </a:r>
            <a:r>
              <a:rPr lang="en-US" sz="1800" dirty="0" smtClean="0">
                <a:solidFill>
                  <a:schemeClr val="tx1"/>
                </a:solidFill>
                <a:latin typeface="Times New Roman" pitchFamily="18" charset="0"/>
                <a:cs typeface="Times New Roman" pitchFamily="18" charset="0"/>
              </a:rPr>
              <a:t>:  </a:t>
            </a:r>
            <a:r>
              <a:rPr lang="en-US" sz="2000" dirty="0" smtClean="0">
                <a:solidFill>
                  <a:schemeClr val="tx1"/>
                </a:solidFill>
                <a:latin typeface="Times New Roman" pitchFamily="18" charset="0"/>
                <a:cs typeface="Times New Roman" pitchFamily="18" charset="0"/>
              </a:rPr>
              <a:t>Software </a:t>
            </a:r>
            <a:r>
              <a:rPr lang="en-US" sz="2000" dirty="0">
                <a:solidFill>
                  <a:schemeClr val="tx1"/>
                </a:solidFill>
                <a:latin typeface="Times New Roman" pitchFamily="18" charset="0"/>
                <a:cs typeface="Times New Roman" pitchFamily="18" charset="0"/>
              </a:rPr>
              <a:t>is </a:t>
            </a:r>
            <a:r>
              <a:rPr lang="en-US" sz="2000" b="1" dirty="0">
                <a:solidFill>
                  <a:schemeClr val="tx1"/>
                </a:solidFill>
                <a:latin typeface="Times New Roman" pitchFamily="18" charset="0"/>
                <a:cs typeface="Times New Roman" pitchFamily="18" charset="0"/>
              </a:rPr>
              <a:t>a set of instructions, data or programs used to operate computers and execute specific tasks</a:t>
            </a:r>
            <a:r>
              <a:rPr lang="en-US" sz="2000" dirty="0">
                <a:solidFill>
                  <a:schemeClr val="tx1"/>
                </a:solidFill>
                <a:latin typeface="Times New Roman" pitchFamily="18" charset="0"/>
                <a:cs typeface="Times New Roman" pitchFamily="18" charset="0"/>
              </a:rPr>
              <a:t>. </a:t>
            </a:r>
            <a:endParaRPr lang="en-US" sz="2000" dirty="0" smtClean="0">
              <a:solidFill>
                <a:schemeClr val="tx1"/>
              </a:solidFill>
              <a:latin typeface="Times New Roman" pitchFamily="18" charset="0"/>
              <a:cs typeface="Times New Roman" pitchFamily="18" charset="0"/>
            </a:endParaRPr>
          </a:p>
          <a:p>
            <a:pPr>
              <a:buFont typeface="Wingdings" pitchFamily="2" charset="2"/>
              <a:buChar char="Ø"/>
            </a:pPr>
            <a:endParaRPr lang="en-US" sz="2000" dirty="0" smtClean="0">
              <a:solidFill>
                <a:schemeClr val="tx1"/>
              </a:solidFill>
              <a:latin typeface="Times New Roman" pitchFamily="18" charset="0"/>
              <a:cs typeface="Times New Roman" pitchFamily="18" charset="0"/>
            </a:endParaRPr>
          </a:p>
          <a:p>
            <a:pPr>
              <a:buFont typeface="Wingdings" pitchFamily="2" charset="2"/>
              <a:buChar char="Ø"/>
            </a:pPr>
            <a:r>
              <a:rPr lang="en-US" sz="2400" dirty="0" smtClean="0">
                <a:solidFill>
                  <a:schemeClr val="tx1"/>
                </a:solidFill>
                <a:latin typeface="Times New Roman" pitchFamily="18" charset="0"/>
                <a:cs typeface="Times New Roman" pitchFamily="18" charset="0"/>
              </a:rPr>
              <a:t>It </a:t>
            </a:r>
            <a:r>
              <a:rPr lang="en-US" sz="2400" dirty="0">
                <a:solidFill>
                  <a:schemeClr val="tx1"/>
                </a:solidFill>
                <a:latin typeface="Times New Roman" pitchFamily="18" charset="0"/>
                <a:cs typeface="Times New Roman" pitchFamily="18" charset="0"/>
              </a:rPr>
              <a:t>is the opposite of hardware, which describes the physical aspects of a computer. </a:t>
            </a:r>
            <a:endParaRPr lang="en-US" sz="2400" dirty="0" smtClean="0">
              <a:solidFill>
                <a:schemeClr val="tx1"/>
              </a:solidFill>
              <a:latin typeface="Times New Roman" pitchFamily="18" charset="0"/>
              <a:cs typeface="Times New Roman" pitchFamily="18" charset="0"/>
            </a:endParaRPr>
          </a:p>
          <a:p>
            <a:endParaRPr lang="en-US" sz="2400" dirty="0" smtClean="0">
              <a:solidFill>
                <a:schemeClr val="tx1"/>
              </a:solidFill>
              <a:latin typeface="Times New Roman" pitchFamily="18" charset="0"/>
              <a:cs typeface="Times New Roman" pitchFamily="18" charset="0"/>
            </a:endParaRPr>
          </a:p>
          <a:p>
            <a:pPr>
              <a:buFont typeface="Wingdings" pitchFamily="2" charset="2"/>
              <a:buChar char="Ø"/>
            </a:pPr>
            <a:r>
              <a:rPr lang="en-US" sz="2400" dirty="0" smtClean="0">
                <a:solidFill>
                  <a:schemeClr val="tx1"/>
                </a:solidFill>
                <a:latin typeface="Times New Roman" pitchFamily="18" charset="0"/>
                <a:cs typeface="Times New Roman" pitchFamily="18" charset="0"/>
              </a:rPr>
              <a:t>Software </a:t>
            </a:r>
            <a:r>
              <a:rPr lang="en-US" sz="2400" dirty="0">
                <a:solidFill>
                  <a:schemeClr val="tx1"/>
                </a:solidFill>
                <a:latin typeface="Times New Roman" pitchFamily="18" charset="0"/>
                <a:cs typeface="Times New Roman" pitchFamily="18" charset="0"/>
              </a:rPr>
              <a:t>is a generic term used to refer to applications, scripts and programs </a:t>
            </a:r>
            <a:r>
              <a:rPr lang="en-US" sz="2400" dirty="0" smtClean="0">
                <a:solidFill>
                  <a:schemeClr val="tx1"/>
                </a:solidFill>
                <a:latin typeface="Times New Roman" pitchFamily="18" charset="0"/>
                <a:cs typeface="Times New Roman" pitchFamily="18" charset="0"/>
              </a:rPr>
              <a:t>that run </a:t>
            </a:r>
            <a:r>
              <a:rPr lang="en-US" sz="2400" dirty="0">
                <a:solidFill>
                  <a:schemeClr val="tx1"/>
                </a:solidFill>
                <a:latin typeface="Times New Roman" pitchFamily="18" charset="0"/>
                <a:cs typeface="Times New Roman" pitchFamily="18" charset="0"/>
              </a:rPr>
              <a:t>on a device</a:t>
            </a:r>
            <a:r>
              <a:rPr lang="en-US" sz="2400" dirty="0" smtClean="0">
                <a:solidFill>
                  <a:schemeClr val="tx1"/>
                </a:solidFill>
                <a:latin typeface="Times New Roman" pitchFamily="18" charset="0"/>
                <a:cs typeface="Times New Roman" pitchFamily="18" charset="0"/>
              </a:rPr>
              <a:t>.</a:t>
            </a:r>
          </a:p>
          <a:p>
            <a:endParaRPr lang="en-US" sz="2400" dirty="0">
              <a:solidFill>
                <a:schemeClr val="tx1"/>
              </a:solidFill>
              <a:latin typeface="Times New Roman" pitchFamily="18" charset="0"/>
              <a:cs typeface="Times New Roman" pitchFamily="18" charset="0"/>
            </a:endParaRPr>
          </a:p>
          <a:p>
            <a:pPr algn="l"/>
            <a:endParaRPr lang="en-US" sz="2000" b="1" dirty="0" smtClean="0">
              <a:solidFill>
                <a:schemeClr val="tx1"/>
              </a:solidFill>
              <a:latin typeface="Times New Roman" pitchFamily="18" charset="0"/>
              <a:cs typeface="Times New Roman" pitchFamily="18" charset="0"/>
            </a:endParaRPr>
          </a:p>
          <a:p>
            <a:pPr algn="l"/>
            <a:r>
              <a:rPr lang="en-US" sz="2000" b="1" dirty="0" smtClean="0">
                <a:solidFill>
                  <a:schemeClr val="tx1"/>
                </a:solidFill>
                <a:latin typeface="Times New Roman" pitchFamily="18" charset="0"/>
                <a:cs typeface="Times New Roman" pitchFamily="18" charset="0"/>
              </a:rPr>
              <a:t>There </a:t>
            </a:r>
            <a:r>
              <a:rPr lang="en-US" sz="2000" b="1" dirty="0">
                <a:solidFill>
                  <a:schemeClr val="tx1"/>
                </a:solidFill>
                <a:latin typeface="Times New Roman" pitchFamily="18" charset="0"/>
                <a:cs typeface="Times New Roman" pitchFamily="18" charset="0"/>
              </a:rPr>
              <a:t>are </a:t>
            </a:r>
            <a:r>
              <a:rPr lang="en-US" sz="2000" b="1" dirty="0" smtClean="0">
                <a:solidFill>
                  <a:schemeClr val="tx1"/>
                </a:solidFill>
                <a:latin typeface="Times New Roman" pitchFamily="18" charset="0"/>
                <a:cs typeface="Times New Roman" pitchFamily="18" charset="0"/>
              </a:rPr>
              <a:t>three </a:t>
            </a:r>
            <a:r>
              <a:rPr lang="en-US" sz="2000" b="1" dirty="0">
                <a:solidFill>
                  <a:schemeClr val="tx1"/>
                </a:solidFill>
                <a:latin typeface="Times New Roman" pitchFamily="18" charset="0"/>
                <a:cs typeface="Times New Roman" pitchFamily="18" charset="0"/>
              </a:rPr>
              <a:t>categories of software −</a:t>
            </a:r>
          </a:p>
          <a:p>
            <a:pPr algn="l"/>
            <a:r>
              <a:rPr lang="en-US" sz="2000" dirty="0">
                <a:solidFill>
                  <a:schemeClr val="tx1"/>
                </a:solidFill>
                <a:latin typeface="Times New Roman" pitchFamily="18" charset="0"/>
                <a:cs typeface="Times New Roman" pitchFamily="18" charset="0"/>
              </a:rPr>
              <a:t>System Software</a:t>
            </a:r>
          </a:p>
          <a:p>
            <a:pPr algn="l"/>
            <a:r>
              <a:rPr lang="en-US" sz="2000" dirty="0">
                <a:solidFill>
                  <a:schemeClr val="tx1"/>
                </a:solidFill>
                <a:latin typeface="Times New Roman" pitchFamily="18" charset="0"/>
                <a:cs typeface="Times New Roman" pitchFamily="18" charset="0"/>
              </a:rPr>
              <a:t>Application Software</a:t>
            </a:r>
          </a:p>
          <a:p>
            <a:pPr algn="l"/>
            <a:r>
              <a:rPr lang="en-US" sz="2000" dirty="0">
                <a:solidFill>
                  <a:schemeClr val="tx1"/>
                </a:solidFill>
                <a:latin typeface="Times New Roman" pitchFamily="18" charset="0"/>
                <a:cs typeface="Times New Roman" pitchFamily="18" charset="0"/>
              </a:rPr>
              <a:t>Utility Software</a:t>
            </a:r>
          </a:p>
          <a:p>
            <a:endParaRPr lang="en-US" sz="1800" dirty="0" smtClean="0">
              <a:solidFill>
                <a:schemeClr val="tx1"/>
              </a:solidFill>
              <a:latin typeface="Times New Roman" pitchFamily="18" charset="0"/>
              <a:cs typeface="Times New Roman" pitchFamily="18" charset="0"/>
            </a:endParaRPr>
          </a:p>
          <a:p>
            <a:endParaRPr lang="en-US" sz="1800" dirty="0">
              <a:solidFill>
                <a:schemeClr val="tx1"/>
              </a:solidFill>
              <a:latin typeface="Times New Roman" pitchFamily="18" charset="0"/>
              <a:cs typeface="Times New Roman"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Grp="1" noChangeAspect="1" noChangeArrowheads="1"/>
          </p:cNvPicPr>
          <p:nvPr>
            <p:ph idx="1"/>
          </p:nvPr>
        </p:nvPicPr>
        <p:blipFill>
          <a:blip r:embed="rId2"/>
          <a:srcRect/>
          <a:stretch>
            <a:fillRect/>
          </a:stretch>
        </p:blipFill>
        <p:spPr bwMode="auto">
          <a:xfrm>
            <a:off x="762000" y="228600"/>
            <a:ext cx="8153400" cy="6400800"/>
          </a:xfrm>
          <a:prstGeom prst="rect">
            <a:avLst/>
          </a:prstGeom>
          <a:noFill/>
          <a:ln w="9525">
            <a:noFill/>
            <a:miter lim="800000"/>
            <a:headEnd/>
            <a:tailEnd/>
          </a:ln>
          <a:effec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066800"/>
          </a:xfrm>
        </p:spPr>
        <p:txBody>
          <a:bodyPr>
            <a:normAutofit/>
          </a:bodyPr>
          <a:lstStyle/>
          <a:p>
            <a:r>
              <a:rPr lang="en-US" sz="3600" b="1" dirty="0" smtClean="0">
                <a:solidFill>
                  <a:schemeClr val="accent2"/>
                </a:solidFill>
                <a:latin typeface="Times New Roman" pitchFamily="18" charset="0"/>
                <a:cs typeface="Times New Roman" pitchFamily="18" charset="0"/>
              </a:rPr>
              <a:t>system software</a:t>
            </a:r>
            <a:endParaRPr lang="en-US" sz="3600" dirty="0">
              <a:solidFill>
                <a:schemeClr val="accent2"/>
              </a:solidFill>
            </a:endParaRPr>
          </a:p>
        </p:txBody>
      </p:sp>
      <p:sp>
        <p:nvSpPr>
          <p:cNvPr id="3" name="Content Placeholder 2"/>
          <p:cNvSpPr>
            <a:spLocks noGrp="1"/>
          </p:cNvSpPr>
          <p:nvPr>
            <p:ph idx="1"/>
          </p:nvPr>
        </p:nvSpPr>
        <p:spPr>
          <a:xfrm>
            <a:off x="457200" y="990600"/>
            <a:ext cx="8229600" cy="5638800"/>
          </a:xfrm>
        </p:spPr>
        <p:txBody>
          <a:bodyPr>
            <a:noAutofit/>
          </a:bodyPr>
          <a:lstStyle/>
          <a:p>
            <a:pPr>
              <a:buFont typeface="Wingdings" pitchFamily="2" charset="2"/>
              <a:buChar char="Ø"/>
            </a:pPr>
            <a:r>
              <a:rPr lang="en-US" sz="2400" dirty="0">
                <a:latin typeface="Times New Roman" pitchFamily="18" charset="0"/>
                <a:cs typeface="Times New Roman" pitchFamily="18" charset="0"/>
              </a:rPr>
              <a:t>Software required to run the hardware parts of the computer and other application software are called </a:t>
            </a:r>
            <a:r>
              <a:rPr lang="en-US" sz="2400" b="1" dirty="0">
                <a:latin typeface="Times New Roman" pitchFamily="18" charset="0"/>
                <a:cs typeface="Times New Roman" pitchFamily="18" charset="0"/>
              </a:rPr>
              <a:t>system software</a:t>
            </a:r>
            <a:r>
              <a:rPr lang="en-US" sz="2400" dirty="0">
                <a:latin typeface="Times New Roman" pitchFamily="18" charset="0"/>
                <a:cs typeface="Times New Roman" pitchFamily="18" charset="0"/>
              </a:rPr>
              <a:t>. </a:t>
            </a:r>
            <a:endParaRPr lang="en-US" sz="2400" dirty="0" smtClean="0">
              <a:latin typeface="Times New Roman" pitchFamily="18" charset="0"/>
              <a:cs typeface="Times New Roman" pitchFamily="18" charset="0"/>
            </a:endParaRPr>
          </a:p>
          <a:p>
            <a:pPr>
              <a:buFont typeface="Wingdings" pitchFamily="2" charset="2"/>
              <a:buChar char="Ø"/>
            </a:pPr>
            <a:r>
              <a:rPr lang="en-US" sz="2400" dirty="0" smtClean="0">
                <a:latin typeface="Times New Roman" pitchFamily="18" charset="0"/>
                <a:cs typeface="Times New Roman" pitchFamily="18" charset="0"/>
              </a:rPr>
              <a:t>System </a:t>
            </a:r>
            <a:r>
              <a:rPr lang="en-US" sz="2400" dirty="0">
                <a:latin typeface="Times New Roman" pitchFamily="18" charset="0"/>
                <a:cs typeface="Times New Roman" pitchFamily="18" charset="0"/>
              </a:rPr>
              <a:t>software acts as </a:t>
            </a:r>
            <a:r>
              <a:rPr lang="en-US" sz="2400" b="1" dirty="0">
                <a:latin typeface="Times New Roman" pitchFamily="18" charset="0"/>
                <a:cs typeface="Times New Roman" pitchFamily="18" charset="0"/>
              </a:rPr>
              <a:t>interface</a:t>
            </a:r>
            <a:r>
              <a:rPr lang="en-US" sz="2400" dirty="0">
                <a:latin typeface="Times New Roman" pitchFamily="18" charset="0"/>
                <a:cs typeface="Times New Roman" pitchFamily="18" charset="0"/>
              </a:rPr>
              <a:t> between hardware and user applications. </a:t>
            </a:r>
            <a:endParaRPr lang="en-US" sz="2400" dirty="0" smtClean="0">
              <a:latin typeface="Times New Roman" pitchFamily="18" charset="0"/>
              <a:cs typeface="Times New Roman" pitchFamily="18" charset="0"/>
            </a:endParaRPr>
          </a:p>
          <a:p>
            <a:pPr>
              <a:buFont typeface="Wingdings" pitchFamily="2" charset="2"/>
              <a:buChar char="Ø"/>
            </a:pPr>
            <a:r>
              <a:rPr lang="en-US" sz="2400" dirty="0" smtClean="0">
                <a:latin typeface="Times New Roman" pitchFamily="18" charset="0"/>
                <a:cs typeface="Times New Roman" pitchFamily="18" charset="0"/>
              </a:rPr>
              <a:t>An </a:t>
            </a:r>
            <a:r>
              <a:rPr lang="en-US" sz="2400" dirty="0">
                <a:latin typeface="Times New Roman" pitchFamily="18" charset="0"/>
                <a:cs typeface="Times New Roman" pitchFamily="18" charset="0"/>
              </a:rPr>
              <a:t>interface is needed because hardware devices or machines and humans speak in different languages</a:t>
            </a:r>
            <a:r>
              <a:rPr lang="en-US" sz="2400" dirty="0" smtClean="0">
                <a:latin typeface="Times New Roman" pitchFamily="18" charset="0"/>
                <a:cs typeface="Times New Roman" pitchFamily="18" charset="0"/>
              </a:rPr>
              <a:t>.</a:t>
            </a:r>
          </a:p>
          <a:p>
            <a:pPr>
              <a:buNone/>
            </a:pPr>
            <a:endParaRPr lang="en-US" sz="2800" b="1" dirty="0" smtClean="0">
              <a:solidFill>
                <a:srgbClr val="FF0000"/>
              </a:solidFill>
              <a:latin typeface="Times New Roman" pitchFamily="18" charset="0"/>
              <a:cs typeface="Times New Roman" pitchFamily="18" charset="0"/>
            </a:endParaRPr>
          </a:p>
          <a:p>
            <a:pPr>
              <a:buNone/>
            </a:pPr>
            <a:r>
              <a:rPr lang="en-US" sz="2800" b="1" dirty="0" smtClean="0">
                <a:solidFill>
                  <a:srgbClr val="FF0000"/>
                </a:solidFill>
                <a:latin typeface="Times New Roman" pitchFamily="18" charset="0"/>
                <a:cs typeface="Times New Roman" pitchFamily="18" charset="0"/>
              </a:rPr>
              <a:t>Based </a:t>
            </a:r>
            <a:r>
              <a:rPr lang="en-US" sz="2800" b="1" dirty="0">
                <a:solidFill>
                  <a:srgbClr val="FF0000"/>
                </a:solidFill>
                <a:latin typeface="Times New Roman" pitchFamily="18" charset="0"/>
                <a:cs typeface="Times New Roman" pitchFamily="18" charset="0"/>
              </a:rPr>
              <a:t>on its function, system software is of </a:t>
            </a:r>
            <a:r>
              <a:rPr lang="en-US" sz="2800" b="1" dirty="0" smtClean="0">
                <a:solidFill>
                  <a:srgbClr val="FF0000"/>
                </a:solidFill>
                <a:latin typeface="Times New Roman" pitchFamily="18" charset="0"/>
                <a:cs typeface="Times New Roman" pitchFamily="18" charset="0"/>
              </a:rPr>
              <a:t>Three types </a:t>
            </a:r>
            <a:r>
              <a:rPr lang="en-US" sz="2800" b="1" dirty="0">
                <a:solidFill>
                  <a:srgbClr val="FF0000"/>
                </a:solidFill>
                <a:latin typeface="Times New Roman" pitchFamily="18" charset="0"/>
                <a:cs typeface="Times New Roman" pitchFamily="18" charset="0"/>
              </a:rPr>
              <a:t>−</a:t>
            </a:r>
          </a:p>
          <a:p>
            <a:r>
              <a:rPr lang="en-US" sz="2400" dirty="0"/>
              <a:t>Operating System</a:t>
            </a:r>
          </a:p>
          <a:p>
            <a:r>
              <a:rPr lang="en-US" sz="2400" dirty="0"/>
              <a:t>Language Processor</a:t>
            </a:r>
          </a:p>
          <a:p>
            <a:r>
              <a:rPr lang="en-US" sz="2400" dirty="0"/>
              <a:t>Device Drivers</a:t>
            </a:r>
          </a:p>
          <a:p>
            <a:pPr>
              <a:buNone/>
            </a:pPr>
            <a:endParaRPr lang="en-US" sz="2400" dirty="0">
              <a:latin typeface="Times New Roman" pitchFamily="18" charset="0"/>
              <a:cs typeface="Times New Roman"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52400"/>
            <a:ext cx="8229600" cy="6705600"/>
          </a:xfrm>
        </p:spPr>
        <p:txBody>
          <a:bodyPr>
            <a:normAutofit fontScale="25000" lnSpcReduction="20000"/>
          </a:bodyPr>
          <a:lstStyle/>
          <a:p>
            <a:pPr>
              <a:buNone/>
            </a:pPr>
            <a:r>
              <a:rPr lang="en-US" sz="5000" dirty="0" smtClean="0">
                <a:solidFill>
                  <a:srgbClr val="C00000"/>
                </a:solidFill>
                <a:latin typeface="Times New Roman" pitchFamily="18" charset="0"/>
                <a:cs typeface="Times New Roman" pitchFamily="18" charset="0"/>
              </a:rPr>
              <a:t>     </a:t>
            </a:r>
            <a:r>
              <a:rPr lang="en-US" sz="11200" b="1" dirty="0" smtClean="0">
                <a:solidFill>
                  <a:srgbClr val="C00000"/>
                </a:solidFill>
                <a:latin typeface="Times New Roman" pitchFamily="18" charset="0"/>
                <a:cs typeface="Times New Roman" pitchFamily="18" charset="0"/>
              </a:rPr>
              <a:t>Operating </a:t>
            </a:r>
            <a:r>
              <a:rPr lang="en-US" sz="11200" b="1" dirty="0">
                <a:solidFill>
                  <a:srgbClr val="C00000"/>
                </a:solidFill>
                <a:latin typeface="Times New Roman" pitchFamily="18" charset="0"/>
                <a:cs typeface="Times New Roman" pitchFamily="18" charset="0"/>
              </a:rPr>
              <a:t>System</a:t>
            </a:r>
            <a:endParaRPr lang="en-US" sz="8000" b="1" dirty="0">
              <a:solidFill>
                <a:srgbClr val="C00000"/>
              </a:solidFill>
              <a:latin typeface="Times New Roman" pitchFamily="18" charset="0"/>
              <a:cs typeface="Times New Roman" pitchFamily="18" charset="0"/>
            </a:endParaRPr>
          </a:p>
          <a:p>
            <a:endParaRPr lang="en-US" sz="8000" dirty="0" smtClean="0">
              <a:latin typeface="Times New Roman" pitchFamily="18" charset="0"/>
              <a:cs typeface="Times New Roman" pitchFamily="18" charset="0"/>
            </a:endParaRPr>
          </a:p>
          <a:p>
            <a:pPr>
              <a:buNone/>
            </a:pPr>
            <a:endParaRPr lang="en-US" sz="8000" dirty="0" smtClean="0">
              <a:latin typeface="Times New Roman" pitchFamily="18" charset="0"/>
              <a:cs typeface="Times New Roman" pitchFamily="18" charset="0"/>
            </a:endParaRPr>
          </a:p>
          <a:p>
            <a:pPr>
              <a:buFont typeface="Wingdings" pitchFamily="2" charset="2"/>
              <a:buChar char="Ø"/>
            </a:pPr>
            <a:r>
              <a:rPr lang="en-US" sz="8000" dirty="0" smtClean="0">
                <a:latin typeface="Times New Roman" pitchFamily="18" charset="0"/>
                <a:cs typeface="Times New Roman" pitchFamily="18" charset="0"/>
              </a:rPr>
              <a:t>System </a:t>
            </a:r>
            <a:r>
              <a:rPr lang="en-US" sz="8000" dirty="0">
                <a:latin typeface="Times New Roman" pitchFamily="18" charset="0"/>
                <a:cs typeface="Times New Roman" pitchFamily="18" charset="0"/>
              </a:rPr>
              <a:t>software that is responsible for functioning of all hardware parts and their interoperability to carry out tasks successfully is called </a:t>
            </a:r>
            <a:r>
              <a:rPr lang="en-US" sz="8000" b="1" dirty="0">
                <a:latin typeface="Times New Roman" pitchFamily="18" charset="0"/>
                <a:cs typeface="Times New Roman" pitchFamily="18" charset="0"/>
              </a:rPr>
              <a:t>operating system (OS)</a:t>
            </a:r>
            <a:r>
              <a:rPr lang="en-US" sz="8000" dirty="0">
                <a:latin typeface="Times New Roman" pitchFamily="18" charset="0"/>
                <a:cs typeface="Times New Roman" pitchFamily="18" charset="0"/>
              </a:rPr>
              <a:t>. </a:t>
            </a:r>
            <a:endParaRPr lang="en-US" sz="8000" dirty="0" smtClean="0">
              <a:latin typeface="Times New Roman" pitchFamily="18" charset="0"/>
              <a:cs typeface="Times New Roman" pitchFamily="18" charset="0"/>
            </a:endParaRPr>
          </a:p>
          <a:p>
            <a:pPr>
              <a:buFont typeface="Wingdings" pitchFamily="2" charset="2"/>
              <a:buChar char="Ø"/>
            </a:pPr>
            <a:endParaRPr lang="en-US" sz="8000" dirty="0" smtClean="0">
              <a:latin typeface="Times New Roman" pitchFamily="18" charset="0"/>
              <a:cs typeface="Times New Roman" pitchFamily="18" charset="0"/>
            </a:endParaRPr>
          </a:p>
          <a:p>
            <a:pPr>
              <a:buFont typeface="Wingdings" pitchFamily="2" charset="2"/>
              <a:buChar char="Ø"/>
            </a:pPr>
            <a:r>
              <a:rPr lang="en-US" sz="8000" dirty="0" smtClean="0">
                <a:latin typeface="Times New Roman" pitchFamily="18" charset="0"/>
                <a:cs typeface="Times New Roman" pitchFamily="18" charset="0"/>
              </a:rPr>
              <a:t>OS </a:t>
            </a:r>
            <a:r>
              <a:rPr lang="en-US" sz="8000" dirty="0">
                <a:latin typeface="Times New Roman" pitchFamily="18" charset="0"/>
                <a:cs typeface="Times New Roman" pitchFamily="18" charset="0"/>
              </a:rPr>
              <a:t>is the first software to be loaded into computer memory when the computer is switched on and this is called </a:t>
            </a:r>
            <a:r>
              <a:rPr lang="en-US" sz="8000" b="1" dirty="0">
                <a:latin typeface="Times New Roman" pitchFamily="18" charset="0"/>
                <a:cs typeface="Times New Roman" pitchFamily="18" charset="0"/>
              </a:rPr>
              <a:t>booting</a:t>
            </a:r>
            <a:r>
              <a:rPr lang="en-US" sz="8000" dirty="0">
                <a:latin typeface="Times New Roman" pitchFamily="18" charset="0"/>
                <a:cs typeface="Times New Roman" pitchFamily="18" charset="0"/>
              </a:rPr>
              <a:t>. </a:t>
            </a:r>
            <a:endParaRPr lang="en-US" sz="8000" dirty="0" smtClean="0">
              <a:latin typeface="Times New Roman" pitchFamily="18" charset="0"/>
              <a:cs typeface="Times New Roman" pitchFamily="18" charset="0"/>
            </a:endParaRPr>
          </a:p>
          <a:p>
            <a:pPr>
              <a:buFont typeface="Wingdings" pitchFamily="2" charset="2"/>
              <a:buChar char="Ø"/>
            </a:pPr>
            <a:endParaRPr lang="en-US" sz="8000" dirty="0" smtClean="0">
              <a:latin typeface="Times New Roman" pitchFamily="18" charset="0"/>
              <a:cs typeface="Times New Roman" pitchFamily="18" charset="0"/>
            </a:endParaRPr>
          </a:p>
          <a:p>
            <a:pPr>
              <a:buFont typeface="Wingdings" pitchFamily="2" charset="2"/>
              <a:buChar char="Ø"/>
            </a:pPr>
            <a:r>
              <a:rPr lang="en-US" sz="8000" dirty="0" smtClean="0">
                <a:latin typeface="Times New Roman" pitchFamily="18" charset="0"/>
                <a:cs typeface="Times New Roman" pitchFamily="18" charset="0"/>
              </a:rPr>
              <a:t>OS </a:t>
            </a:r>
            <a:r>
              <a:rPr lang="en-US" sz="8000" dirty="0">
                <a:latin typeface="Times New Roman" pitchFamily="18" charset="0"/>
                <a:cs typeface="Times New Roman" pitchFamily="18" charset="0"/>
              </a:rPr>
              <a:t>manages a computer’s basic functions like storing data in memory, retrieving files from storage devices, scheduling tasks based on priority, etc</a:t>
            </a:r>
            <a:r>
              <a:rPr lang="en-US" sz="8000" dirty="0" smtClean="0">
                <a:latin typeface="Times New Roman" pitchFamily="18" charset="0"/>
                <a:cs typeface="Times New Roman" pitchFamily="18" charset="0"/>
              </a:rPr>
              <a:t>.</a:t>
            </a:r>
          </a:p>
          <a:p>
            <a:pPr>
              <a:buNone/>
            </a:pPr>
            <a:endParaRPr lang="en-US" sz="8000" b="1" dirty="0">
              <a:solidFill>
                <a:srgbClr val="C00000"/>
              </a:solidFill>
              <a:latin typeface="Times New Roman" pitchFamily="18" charset="0"/>
              <a:cs typeface="Times New Roman" pitchFamily="18" charset="0"/>
            </a:endParaRPr>
          </a:p>
          <a:p>
            <a:pPr>
              <a:buNone/>
            </a:pPr>
            <a:r>
              <a:rPr lang="en-US" sz="9600" b="1" dirty="0" smtClean="0">
                <a:solidFill>
                  <a:srgbClr val="C00000"/>
                </a:solidFill>
                <a:latin typeface="Times New Roman" pitchFamily="18" charset="0"/>
                <a:cs typeface="Times New Roman" pitchFamily="18" charset="0"/>
              </a:rPr>
              <a:t>Language </a:t>
            </a:r>
            <a:r>
              <a:rPr lang="en-US" sz="9600" b="1" dirty="0" smtClean="0">
                <a:solidFill>
                  <a:srgbClr val="C00000"/>
                </a:solidFill>
                <a:latin typeface="Times New Roman" pitchFamily="18" charset="0"/>
                <a:cs typeface="Times New Roman" pitchFamily="18" charset="0"/>
              </a:rPr>
              <a:t>Processor</a:t>
            </a:r>
          </a:p>
          <a:p>
            <a:pPr>
              <a:buNone/>
            </a:pPr>
            <a:r>
              <a:rPr lang="en-US" sz="9600" b="1" dirty="0">
                <a:latin typeface="Times New Roman" pitchFamily="18" charset="0"/>
                <a:cs typeface="Times New Roman" pitchFamily="18" charset="0"/>
              </a:rPr>
              <a:t> </a:t>
            </a:r>
            <a:r>
              <a:rPr lang="en-US" sz="9600" b="1" dirty="0" smtClean="0">
                <a:latin typeface="Times New Roman" pitchFamily="18" charset="0"/>
                <a:cs typeface="Times New Roman" pitchFamily="18" charset="0"/>
              </a:rPr>
              <a:t>    </a:t>
            </a:r>
            <a:endParaRPr lang="en-US" sz="8000" b="1" dirty="0" smtClean="0">
              <a:latin typeface="Times New Roman" pitchFamily="18" charset="0"/>
              <a:cs typeface="Times New Roman" pitchFamily="18" charset="0"/>
            </a:endParaRPr>
          </a:p>
          <a:p>
            <a:pPr>
              <a:buFont typeface="Wingdings" pitchFamily="2" charset="2"/>
              <a:buChar char="Ø"/>
            </a:pPr>
            <a:r>
              <a:rPr lang="en-US" sz="8000" b="1" dirty="0" smtClean="0">
                <a:latin typeface="Times New Roman" pitchFamily="18" charset="0"/>
                <a:cs typeface="Times New Roman" pitchFamily="18" charset="0"/>
              </a:rPr>
              <a:t>    </a:t>
            </a:r>
            <a:r>
              <a:rPr lang="en-US" sz="8000" dirty="0" smtClean="0">
                <a:latin typeface="Times New Roman" pitchFamily="18" charset="0"/>
                <a:cs typeface="Times New Roman" pitchFamily="18" charset="0"/>
              </a:rPr>
              <a:t>As </a:t>
            </a:r>
            <a:r>
              <a:rPr lang="en-US" sz="8000" dirty="0">
                <a:latin typeface="Times New Roman" pitchFamily="18" charset="0"/>
                <a:cs typeface="Times New Roman" pitchFamily="18" charset="0"/>
              </a:rPr>
              <a:t>discussed earlier, an important function of system software is to convert all user instructions into machine understandable language. </a:t>
            </a:r>
            <a:endParaRPr lang="en-US" sz="8000" dirty="0" smtClean="0">
              <a:latin typeface="Times New Roman" pitchFamily="18" charset="0"/>
              <a:cs typeface="Times New Roman" pitchFamily="18" charset="0"/>
            </a:endParaRPr>
          </a:p>
          <a:p>
            <a:pPr>
              <a:buNone/>
            </a:pPr>
            <a:endParaRPr lang="en-US" sz="6200" dirty="0">
              <a:latin typeface="Times New Roman" pitchFamily="18" charset="0"/>
              <a:cs typeface="Times New Roman" pitchFamily="18" charset="0"/>
            </a:endParaRPr>
          </a:p>
          <a:p>
            <a:pPr>
              <a:buNone/>
            </a:pPr>
            <a:r>
              <a:rPr lang="en-US" sz="6200" dirty="0" smtClean="0">
                <a:latin typeface="Times New Roman" pitchFamily="18" charset="0"/>
                <a:cs typeface="Times New Roman" pitchFamily="18" charset="0"/>
              </a:rPr>
              <a:t>    </a:t>
            </a:r>
            <a:endParaRPr lang="en-US" sz="6200" dirty="0" smtClean="0">
              <a:latin typeface="Times New Roman" pitchFamily="18" charset="0"/>
              <a:cs typeface="Times New Roman" pitchFamily="18" charset="0"/>
            </a:endParaRPr>
          </a:p>
          <a:p>
            <a:pPr>
              <a:buNone/>
            </a:pPr>
            <a:r>
              <a:rPr lang="en-US" sz="6200" dirty="0" smtClean="0">
                <a:latin typeface="Times New Roman" pitchFamily="18" charset="0"/>
                <a:cs typeface="Times New Roman" pitchFamily="18" charset="0"/>
              </a:rPr>
              <a:t> </a:t>
            </a:r>
            <a:r>
              <a:rPr lang="en-US" sz="11200" b="1" dirty="0" smtClean="0">
                <a:solidFill>
                  <a:srgbClr val="FF0000"/>
                </a:solidFill>
                <a:latin typeface="Times New Roman" pitchFamily="18" charset="0"/>
                <a:cs typeface="Times New Roman" pitchFamily="18" charset="0"/>
              </a:rPr>
              <a:t>languages </a:t>
            </a:r>
            <a:r>
              <a:rPr lang="en-US" sz="11200" b="1" dirty="0">
                <a:solidFill>
                  <a:srgbClr val="FF0000"/>
                </a:solidFill>
                <a:latin typeface="Times New Roman" pitchFamily="18" charset="0"/>
                <a:cs typeface="Times New Roman" pitchFamily="18" charset="0"/>
              </a:rPr>
              <a:t>are of three types </a:t>
            </a:r>
            <a:r>
              <a:rPr lang="en-US" sz="11200" b="1" dirty="0" smtClean="0">
                <a:solidFill>
                  <a:srgbClr val="FF0000"/>
                </a:solidFill>
                <a:latin typeface="Times New Roman" pitchFamily="18" charset="0"/>
                <a:cs typeface="Times New Roman" pitchFamily="18" charset="0"/>
              </a:rPr>
              <a:t>−</a:t>
            </a:r>
          </a:p>
          <a:p>
            <a:pPr>
              <a:buNone/>
            </a:pPr>
            <a:endParaRPr lang="en-US" sz="3100" dirty="0">
              <a:latin typeface="Times New Roman" pitchFamily="18" charset="0"/>
              <a:cs typeface="Times New Roman" pitchFamily="18" charset="0"/>
            </a:endParaRPr>
          </a:p>
          <a:p>
            <a:pPr>
              <a:buNone/>
            </a:pPr>
            <a:endParaRPr lang="en-US" sz="3100" dirty="0">
              <a:latin typeface="Times New Roman" pitchFamily="18" charset="0"/>
              <a:cs typeface="Times New Roman"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81000"/>
            <a:ext cx="8229600" cy="5745163"/>
          </a:xfrm>
        </p:spPr>
        <p:txBody>
          <a:bodyPr>
            <a:normAutofit/>
          </a:bodyPr>
          <a:lstStyle/>
          <a:p>
            <a:pPr>
              <a:buNone/>
            </a:pPr>
            <a:endParaRPr lang="en-US" dirty="0" smtClean="0">
              <a:latin typeface="Times New Roman" pitchFamily="18" charset="0"/>
              <a:cs typeface="Times New Roman" pitchFamily="18" charset="0"/>
            </a:endParaRPr>
          </a:p>
          <a:p>
            <a:pPr>
              <a:buFont typeface="Wingdings" pitchFamily="2" charset="2"/>
              <a:buChar char="Ø"/>
            </a:pPr>
            <a:r>
              <a:rPr lang="en-US" sz="2400" b="1" dirty="0" smtClean="0">
                <a:solidFill>
                  <a:srgbClr val="FF0000"/>
                </a:solidFill>
                <a:latin typeface="Times New Roman" pitchFamily="18" charset="0"/>
                <a:cs typeface="Times New Roman" pitchFamily="18" charset="0"/>
              </a:rPr>
              <a:t>Machine-level language</a:t>
            </a:r>
            <a:r>
              <a:rPr lang="en-US" sz="2000" b="1" dirty="0" smtClean="0">
                <a:solidFill>
                  <a:srgbClr val="FF0000"/>
                </a:solidFill>
                <a:latin typeface="Times New Roman" pitchFamily="18" charset="0"/>
                <a:cs typeface="Times New Roman" pitchFamily="18" charset="0"/>
              </a:rPr>
              <a:t> </a:t>
            </a:r>
            <a:r>
              <a:rPr lang="en-US" sz="2000" dirty="0" smtClean="0">
                <a:solidFill>
                  <a:srgbClr val="FF0000"/>
                </a:solidFill>
                <a:latin typeface="Times New Roman" pitchFamily="18" charset="0"/>
                <a:cs typeface="Times New Roman" pitchFamily="18" charset="0"/>
              </a:rPr>
              <a:t>− </a:t>
            </a:r>
            <a:r>
              <a:rPr lang="en-US" sz="2000" dirty="0" smtClean="0">
                <a:latin typeface="Times New Roman" pitchFamily="18" charset="0"/>
                <a:cs typeface="Times New Roman" pitchFamily="18" charset="0"/>
              </a:rPr>
              <a:t>This language is nothing but a string of 0s and 1s that the machines can understand. It is completely machine dependent.</a:t>
            </a:r>
          </a:p>
          <a:p>
            <a:endParaRPr lang="en-US" sz="2000" dirty="0" smtClean="0">
              <a:latin typeface="Times New Roman" pitchFamily="18" charset="0"/>
              <a:cs typeface="Times New Roman" pitchFamily="18" charset="0"/>
            </a:endParaRPr>
          </a:p>
          <a:p>
            <a:pPr>
              <a:buFont typeface="Wingdings" pitchFamily="2" charset="2"/>
              <a:buChar char="Ø"/>
            </a:pPr>
            <a:endParaRPr lang="en-US" sz="2000" b="1" dirty="0" smtClean="0">
              <a:latin typeface="Times New Roman" pitchFamily="18" charset="0"/>
              <a:cs typeface="Times New Roman" pitchFamily="18" charset="0"/>
            </a:endParaRPr>
          </a:p>
          <a:p>
            <a:pPr>
              <a:buFont typeface="Wingdings" pitchFamily="2" charset="2"/>
              <a:buChar char="Ø"/>
            </a:pPr>
            <a:r>
              <a:rPr lang="en-US" sz="2400" b="1" dirty="0" smtClean="0">
                <a:solidFill>
                  <a:srgbClr val="FF0000"/>
                </a:solidFill>
                <a:latin typeface="Times New Roman" pitchFamily="18" charset="0"/>
                <a:cs typeface="Times New Roman" pitchFamily="18" charset="0"/>
              </a:rPr>
              <a:t>Assembly-level language</a:t>
            </a:r>
            <a:r>
              <a:rPr lang="en-US" sz="2000" dirty="0" smtClean="0">
                <a:solidFill>
                  <a:srgbClr val="FF0000"/>
                </a:solidFill>
                <a:latin typeface="Times New Roman" pitchFamily="18" charset="0"/>
                <a:cs typeface="Times New Roman" pitchFamily="18" charset="0"/>
              </a:rPr>
              <a:t> − </a:t>
            </a:r>
            <a:r>
              <a:rPr lang="en-US" sz="2000" dirty="0" smtClean="0">
                <a:latin typeface="Times New Roman" pitchFamily="18" charset="0"/>
                <a:cs typeface="Times New Roman" pitchFamily="18" charset="0"/>
              </a:rPr>
              <a:t>This language introduces a layer of abstraction by defining mnemonics. Mnemonics are English like words or symbols used to denote a long string of 0s and 1s. For example, the word “READ” can be defined to mean that computer has to retrieve data from the memory. The complete instruction will also tell the memory address. Assembly level language is machine dependent.</a:t>
            </a:r>
          </a:p>
          <a:p>
            <a:endParaRPr lang="en-US" sz="2000" dirty="0" smtClean="0">
              <a:latin typeface="Times New Roman" pitchFamily="18" charset="0"/>
              <a:cs typeface="Times New Roman" pitchFamily="18" charset="0"/>
            </a:endParaRPr>
          </a:p>
          <a:p>
            <a:pPr>
              <a:buFont typeface="Wingdings" pitchFamily="2" charset="2"/>
              <a:buChar char="Ø"/>
            </a:pPr>
            <a:r>
              <a:rPr lang="en-US" sz="2400" b="1" dirty="0" smtClean="0">
                <a:solidFill>
                  <a:srgbClr val="FF0000"/>
                </a:solidFill>
                <a:latin typeface="Times New Roman" pitchFamily="18" charset="0"/>
                <a:cs typeface="Times New Roman" pitchFamily="18" charset="0"/>
              </a:rPr>
              <a:t>High level language</a:t>
            </a:r>
            <a:r>
              <a:rPr lang="en-US" sz="2000" dirty="0" smtClean="0">
                <a:latin typeface="Times New Roman" pitchFamily="18" charset="0"/>
                <a:cs typeface="Times New Roman" pitchFamily="18" charset="0"/>
              </a:rPr>
              <a:t> − This language uses English like statements and is completely independent of machines. Programs written using high level languages are easy to create, read and understand.</a:t>
            </a:r>
          </a:p>
          <a:p>
            <a:pPr>
              <a:buNone/>
            </a:pPr>
            <a:endParaRPr lang="en-US" sz="2000" dirty="0" smtClean="0">
              <a:latin typeface="Times New Roman" pitchFamily="18" charset="0"/>
              <a:cs typeface="Times New Roman" pitchFamily="18" charset="0"/>
            </a:endParaRPr>
          </a:p>
          <a:p>
            <a:pPr>
              <a:buNone/>
            </a:pPr>
            <a:endParaRPr lang="en-US" sz="2000" dirty="0" smtClean="0">
              <a:latin typeface="Times New Roman" pitchFamily="18" charset="0"/>
              <a:cs typeface="Times New Roman" pitchFamily="18" charset="0"/>
            </a:endParaRPr>
          </a:p>
          <a:p>
            <a:endParaRPr lang="en-US" sz="2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57200"/>
            <a:ext cx="8229600" cy="5668963"/>
          </a:xfrm>
        </p:spPr>
        <p:txBody>
          <a:bodyPr>
            <a:noAutofit/>
          </a:bodyPr>
          <a:lstStyle/>
          <a:p>
            <a:pPr>
              <a:buFont typeface="Wingdings" pitchFamily="2" charset="2"/>
              <a:buChar char="Ø"/>
            </a:pPr>
            <a:r>
              <a:rPr lang="en-US" sz="2000" dirty="0" smtClean="0">
                <a:latin typeface="Times New Roman" pitchFamily="18" charset="0"/>
                <a:cs typeface="Times New Roman" pitchFamily="18" charset="0"/>
              </a:rPr>
              <a:t> Program </a:t>
            </a:r>
            <a:r>
              <a:rPr lang="en-US" sz="2000" dirty="0">
                <a:latin typeface="Times New Roman" pitchFamily="18" charset="0"/>
                <a:cs typeface="Times New Roman" pitchFamily="18" charset="0"/>
              </a:rPr>
              <a:t>written in high level programming languages like Java, C++, etc. is called </a:t>
            </a:r>
            <a:r>
              <a:rPr lang="en-US" sz="2000" b="1" dirty="0">
                <a:latin typeface="Times New Roman" pitchFamily="18" charset="0"/>
                <a:cs typeface="Times New Roman" pitchFamily="18" charset="0"/>
              </a:rPr>
              <a:t>source code</a:t>
            </a:r>
            <a:r>
              <a:rPr lang="en-US" sz="2000" dirty="0">
                <a:latin typeface="Times New Roman" pitchFamily="18" charset="0"/>
                <a:cs typeface="Times New Roman" pitchFamily="18" charset="0"/>
              </a:rPr>
              <a:t>. </a:t>
            </a:r>
            <a:endParaRPr lang="en-US" sz="2000" dirty="0" smtClean="0">
              <a:latin typeface="Times New Roman" pitchFamily="18" charset="0"/>
              <a:cs typeface="Times New Roman" pitchFamily="18" charset="0"/>
            </a:endParaRPr>
          </a:p>
          <a:p>
            <a:pPr>
              <a:buFont typeface="Wingdings" pitchFamily="2" charset="2"/>
              <a:buChar char="Ø"/>
            </a:pPr>
            <a:endParaRPr lang="en-US" sz="2000" dirty="0" smtClean="0">
              <a:latin typeface="Times New Roman" pitchFamily="18" charset="0"/>
              <a:cs typeface="Times New Roman" pitchFamily="18" charset="0"/>
            </a:endParaRPr>
          </a:p>
          <a:p>
            <a:pPr>
              <a:buFont typeface="Wingdings" pitchFamily="2" charset="2"/>
              <a:buChar char="Ø"/>
            </a:pPr>
            <a:r>
              <a:rPr lang="en-US" sz="2000" dirty="0" smtClean="0">
                <a:latin typeface="Times New Roman" pitchFamily="18" charset="0"/>
                <a:cs typeface="Times New Roman" pitchFamily="18" charset="0"/>
              </a:rPr>
              <a:t>Set </a:t>
            </a:r>
            <a:r>
              <a:rPr lang="en-US" sz="2000" dirty="0">
                <a:latin typeface="Times New Roman" pitchFamily="18" charset="0"/>
                <a:cs typeface="Times New Roman" pitchFamily="18" charset="0"/>
              </a:rPr>
              <a:t>of instructions in machine readable form is called </a:t>
            </a:r>
            <a:r>
              <a:rPr lang="en-US" sz="2000" b="1" dirty="0">
                <a:latin typeface="Times New Roman" pitchFamily="18" charset="0"/>
                <a:cs typeface="Times New Roman" pitchFamily="18" charset="0"/>
              </a:rPr>
              <a:t>object code</a:t>
            </a:r>
            <a:r>
              <a:rPr lang="en-US" sz="2000" dirty="0">
                <a:latin typeface="Times New Roman" pitchFamily="18" charset="0"/>
                <a:cs typeface="Times New Roman" pitchFamily="18" charset="0"/>
              </a:rPr>
              <a:t> or </a:t>
            </a:r>
            <a:r>
              <a:rPr lang="en-US" sz="2000" b="1" dirty="0">
                <a:latin typeface="Times New Roman" pitchFamily="18" charset="0"/>
                <a:cs typeface="Times New Roman" pitchFamily="18" charset="0"/>
              </a:rPr>
              <a:t>machine code</a:t>
            </a:r>
            <a:r>
              <a:rPr lang="en-US" sz="2000" dirty="0">
                <a:latin typeface="Times New Roman" pitchFamily="18" charset="0"/>
                <a:cs typeface="Times New Roman" pitchFamily="18" charset="0"/>
              </a:rPr>
              <a:t>. </a:t>
            </a:r>
            <a:endParaRPr lang="en-US" sz="2000" dirty="0" smtClean="0">
              <a:latin typeface="Times New Roman" pitchFamily="18" charset="0"/>
              <a:cs typeface="Times New Roman" pitchFamily="18" charset="0"/>
            </a:endParaRPr>
          </a:p>
          <a:p>
            <a:pPr>
              <a:buNone/>
            </a:pPr>
            <a:endParaRPr lang="en-US" sz="2000" dirty="0" smtClean="0">
              <a:latin typeface="Times New Roman" pitchFamily="18" charset="0"/>
              <a:cs typeface="Times New Roman" pitchFamily="18" charset="0"/>
            </a:endParaRPr>
          </a:p>
          <a:p>
            <a:pPr>
              <a:buFont typeface="Wingdings" pitchFamily="2" charset="2"/>
              <a:buChar char="Ø"/>
            </a:pPr>
            <a:r>
              <a:rPr lang="en-US" sz="2000" b="1" dirty="0" smtClean="0">
                <a:latin typeface="Times New Roman" pitchFamily="18" charset="0"/>
                <a:cs typeface="Times New Roman" pitchFamily="18" charset="0"/>
              </a:rPr>
              <a:t>System </a:t>
            </a:r>
            <a:r>
              <a:rPr lang="en-US" sz="2000" b="1" dirty="0">
                <a:latin typeface="Times New Roman" pitchFamily="18" charset="0"/>
                <a:cs typeface="Times New Roman" pitchFamily="18" charset="0"/>
              </a:rPr>
              <a:t>software</a:t>
            </a:r>
            <a:r>
              <a:rPr lang="en-US" sz="2000" dirty="0">
                <a:latin typeface="Times New Roman" pitchFamily="18" charset="0"/>
                <a:cs typeface="Times New Roman" pitchFamily="18" charset="0"/>
              </a:rPr>
              <a:t> that converts source code to object code is called </a:t>
            </a:r>
            <a:r>
              <a:rPr lang="en-US" sz="2000" b="1" dirty="0">
                <a:latin typeface="Times New Roman" pitchFamily="18" charset="0"/>
                <a:cs typeface="Times New Roman" pitchFamily="18" charset="0"/>
              </a:rPr>
              <a:t>language processor</a:t>
            </a:r>
            <a:r>
              <a:rPr lang="en-US" sz="2000" dirty="0">
                <a:latin typeface="Times New Roman" pitchFamily="18" charset="0"/>
                <a:cs typeface="Times New Roman" pitchFamily="18" charset="0"/>
              </a:rPr>
              <a:t>. There are three types of language interpreters−</a:t>
            </a:r>
          </a:p>
          <a:p>
            <a:endParaRPr lang="en-US" sz="2000" b="1" dirty="0" smtClean="0">
              <a:latin typeface="Times New Roman" pitchFamily="18" charset="0"/>
              <a:cs typeface="Times New Roman" pitchFamily="18" charset="0"/>
            </a:endParaRPr>
          </a:p>
          <a:p>
            <a:endParaRPr lang="en-US" sz="2000" b="1" dirty="0" smtClean="0">
              <a:latin typeface="Times New Roman" pitchFamily="18" charset="0"/>
              <a:cs typeface="Times New Roman" pitchFamily="18" charset="0"/>
            </a:endParaRPr>
          </a:p>
          <a:p>
            <a:r>
              <a:rPr lang="en-US" sz="2400" b="1" dirty="0" smtClean="0">
                <a:solidFill>
                  <a:srgbClr val="FF0000"/>
                </a:solidFill>
                <a:latin typeface="Times New Roman" pitchFamily="18" charset="0"/>
                <a:cs typeface="Times New Roman" pitchFamily="18" charset="0"/>
              </a:rPr>
              <a:t>Assembler</a:t>
            </a:r>
            <a:r>
              <a:rPr lang="en-US" sz="2400" dirty="0">
                <a:solidFill>
                  <a:srgbClr val="FF0000"/>
                </a:solidFill>
                <a:latin typeface="Times New Roman" pitchFamily="18" charset="0"/>
                <a:cs typeface="Times New Roman" pitchFamily="18" charset="0"/>
              </a:rPr>
              <a:t> </a:t>
            </a:r>
            <a:r>
              <a:rPr lang="en-US" sz="2000" dirty="0">
                <a:latin typeface="Times New Roman" pitchFamily="18" charset="0"/>
                <a:cs typeface="Times New Roman" pitchFamily="18" charset="0"/>
              </a:rPr>
              <a:t>− Converts assembly level program into machine level program.</a:t>
            </a:r>
          </a:p>
          <a:p>
            <a:r>
              <a:rPr lang="en-US" sz="2400" b="1" dirty="0">
                <a:solidFill>
                  <a:srgbClr val="FF0000"/>
                </a:solidFill>
                <a:latin typeface="Times New Roman" pitchFamily="18" charset="0"/>
                <a:cs typeface="Times New Roman" pitchFamily="18" charset="0"/>
              </a:rPr>
              <a:t>Interpreter</a:t>
            </a:r>
            <a:r>
              <a:rPr lang="en-US" sz="2000" dirty="0">
                <a:latin typeface="Times New Roman" pitchFamily="18" charset="0"/>
                <a:cs typeface="Times New Roman" pitchFamily="18" charset="0"/>
              </a:rPr>
              <a:t> − Converts high level programs into machine level program line by line.</a:t>
            </a:r>
          </a:p>
          <a:p>
            <a:r>
              <a:rPr lang="en-US" sz="2400" b="1" dirty="0">
                <a:solidFill>
                  <a:srgbClr val="FF0000"/>
                </a:solidFill>
                <a:latin typeface="Times New Roman" pitchFamily="18" charset="0"/>
                <a:cs typeface="Times New Roman" pitchFamily="18" charset="0"/>
              </a:rPr>
              <a:t>Compiler</a:t>
            </a:r>
            <a:r>
              <a:rPr lang="en-US" sz="2400" dirty="0">
                <a:solidFill>
                  <a:srgbClr val="FF0000"/>
                </a:solidFill>
                <a:latin typeface="Times New Roman" pitchFamily="18" charset="0"/>
                <a:cs typeface="Times New Roman" pitchFamily="18" charset="0"/>
              </a:rPr>
              <a:t> </a:t>
            </a:r>
            <a:r>
              <a:rPr lang="en-US" sz="2000" dirty="0">
                <a:latin typeface="Times New Roman" pitchFamily="18" charset="0"/>
                <a:cs typeface="Times New Roman" pitchFamily="18" charset="0"/>
              </a:rPr>
              <a:t>− Converts high level programs into machine level programs at one go rather than line by line.</a:t>
            </a:r>
          </a:p>
          <a:p>
            <a:endParaRPr lang="en-US" sz="2400" dirty="0">
              <a:latin typeface="Times New Roman" pitchFamily="18" charset="0"/>
              <a:cs typeface="Times New Roman"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28600"/>
            <a:ext cx="8229600" cy="5897563"/>
          </a:xfrm>
        </p:spPr>
        <p:txBody>
          <a:bodyPr>
            <a:normAutofit/>
          </a:bodyPr>
          <a:lstStyle/>
          <a:p>
            <a:pPr>
              <a:buNone/>
            </a:pPr>
            <a:r>
              <a:rPr lang="en-US" dirty="0" smtClean="0"/>
              <a:t>   </a:t>
            </a:r>
          </a:p>
          <a:p>
            <a:pPr>
              <a:buNone/>
            </a:pPr>
            <a:endParaRPr lang="en-US" sz="2800" b="1" dirty="0">
              <a:latin typeface="Times New Roman" pitchFamily="18" charset="0"/>
              <a:cs typeface="Times New Roman" pitchFamily="18" charset="0"/>
            </a:endParaRPr>
          </a:p>
          <a:p>
            <a:pPr>
              <a:buNone/>
            </a:pPr>
            <a:r>
              <a:rPr lang="en-US" sz="2800" b="1" dirty="0" smtClean="0">
                <a:latin typeface="Times New Roman" pitchFamily="18" charset="0"/>
                <a:cs typeface="Times New Roman" pitchFamily="18" charset="0"/>
              </a:rPr>
              <a:t>  </a:t>
            </a:r>
            <a:r>
              <a:rPr lang="en-US" sz="2800" b="1" dirty="0" smtClean="0">
                <a:solidFill>
                  <a:srgbClr val="C00000"/>
                </a:solidFill>
                <a:latin typeface="Times New Roman" pitchFamily="18" charset="0"/>
                <a:cs typeface="Times New Roman" pitchFamily="18" charset="0"/>
              </a:rPr>
              <a:t>Device </a:t>
            </a:r>
            <a:r>
              <a:rPr lang="en-US" sz="2800" b="1" dirty="0">
                <a:solidFill>
                  <a:srgbClr val="C00000"/>
                </a:solidFill>
                <a:latin typeface="Times New Roman" pitchFamily="18" charset="0"/>
                <a:cs typeface="Times New Roman" pitchFamily="18" charset="0"/>
              </a:rPr>
              <a:t>Drivers</a:t>
            </a:r>
          </a:p>
          <a:p>
            <a:pPr>
              <a:buNone/>
            </a:pPr>
            <a:r>
              <a:rPr lang="en-US" sz="2200" dirty="0">
                <a:latin typeface="Times New Roman" pitchFamily="18" charset="0"/>
                <a:cs typeface="Times New Roman" pitchFamily="18" charset="0"/>
              </a:rPr>
              <a:t> </a:t>
            </a:r>
            <a:r>
              <a:rPr lang="en-US" sz="2200" dirty="0" smtClean="0">
                <a:latin typeface="Times New Roman" pitchFamily="18" charset="0"/>
                <a:cs typeface="Times New Roman" pitchFamily="18" charset="0"/>
              </a:rPr>
              <a:t> </a:t>
            </a:r>
          </a:p>
          <a:p>
            <a:pPr>
              <a:buFont typeface="Wingdings" pitchFamily="2" charset="2"/>
              <a:buChar char="Ø"/>
            </a:pPr>
            <a:r>
              <a:rPr lang="en-US" sz="2000" dirty="0" smtClean="0">
                <a:latin typeface="Times New Roman" pitchFamily="18" charset="0"/>
                <a:cs typeface="Times New Roman" pitchFamily="18" charset="0"/>
              </a:rPr>
              <a:t>System </a:t>
            </a:r>
            <a:r>
              <a:rPr lang="en-US" sz="2000" dirty="0">
                <a:latin typeface="Times New Roman" pitchFamily="18" charset="0"/>
                <a:cs typeface="Times New Roman" pitchFamily="18" charset="0"/>
              </a:rPr>
              <a:t>software that controls and monitors functioning of a specific device on computer is called </a:t>
            </a:r>
            <a:r>
              <a:rPr lang="en-US" sz="2000" b="1" dirty="0">
                <a:latin typeface="Times New Roman" pitchFamily="18" charset="0"/>
                <a:cs typeface="Times New Roman" pitchFamily="18" charset="0"/>
              </a:rPr>
              <a:t>device driver</a:t>
            </a:r>
            <a:r>
              <a:rPr lang="en-US" sz="2000" dirty="0">
                <a:latin typeface="Times New Roman" pitchFamily="18" charset="0"/>
                <a:cs typeface="Times New Roman" pitchFamily="18" charset="0"/>
              </a:rPr>
              <a:t>. </a:t>
            </a:r>
            <a:endParaRPr lang="en-US" sz="2000" dirty="0" smtClean="0">
              <a:latin typeface="Times New Roman" pitchFamily="18" charset="0"/>
              <a:cs typeface="Times New Roman" pitchFamily="18" charset="0"/>
            </a:endParaRPr>
          </a:p>
          <a:p>
            <a:pPr>
              <a:buFont typeface="Wingdings" pitchFamily="2" charset="2"/>
              <a:buChar char="Ø"/>
            </a:pPr>
            <a:endParaRPr lang="en-US" sz="2000" dirty="0" smtClean="0">
              <a:latin typeface="Times New Roman" pitchFamily="18" charset="0"/>
              <a:cs typeface="Times New Roman" pitchFamily="18" charset="0"/>
            </a:endParaRPr>
          </a:p>
          <a:p>
            <a:pPr>
              <a:buFont typeface="Wingdings" pitchFamily="2" charset="2"/>
              <a:buChar char="Ø"/>
            </a:pPr>
            <a:r>
              <a:rPr lang="en-US" sz="2000" dirty="0" smtClean="0">
                <a:latin typeface="Times New Roman" pitchFamily="18" charset="0"/>
                <a:cs typeface="Times New Roman" pitchFamily="18" charset="0"/>
              </a:rPr>
              <a:t>Each </a:t>
            </a:r>
            <a:r>
              <a:rPr lang="en-US" sz="2000" dirty="0">
                <a:latin typeface="Times New Roman" pitchFamily="18" charset="0"/>
                <a:cs typeface="Times New Roman" pitchFamily="18" charset="0"/>
              </a:rPr>
              <a:t>device like printer, scanner, microphone, speaker, etc. that needs to be attached externally to the system has a specific driver associated with it. </a:t>
            </a:r>
            <a:endParaRPr lang="en-US" sz="2000" dirty="0" smtClean="0">
              <a:latin typeface="Times New Roman" pitchFamily="18" charset="0"/>
              <a:cs typeface="Times New Roman" pitchFamily="18" charset="0"/>
            </a:endParaRPr>
          </a:p>
          <a:p>
            <a:pPr>
              <a:buNone/>
            </a:pPr>
            <a:endParaRPr lang="en-US" sz="2000" dirty="0" smtClean="0">
              <a:latin typeface="Times New Roman" pitchFamily="18" charset="0"/>
              <a:cs typeface="Times New Roman" pitchFamily="18" charset="0"/>
            </a:endParaRPr>
          </a:p>
          <a:p>
            <a:pPr>
              <a:buFont typeface="Wingdings" pitchFamily="2" charset="2"/>
              <a:buChar char="Ø"/>
            </a:pPr>
            <a:r>
              <a:rPr lang="en-US" sz="2000" dirty="0" smtClean="0">
                <a:latin typeface="Times New Roman" pitchFamily="18" charset="0"/>
                <a:cs typeface="Times New Roman" pitchFamily="18" charset="0"/>
              </a:rPr>
              <a:t>When </a:t>
            </a:r>
            <a:r>
              <a:rPr lang="en-US" sz="2000" dirty="0">
                <a:latin typeface="Times New Roman" pitchFamily="18" charset="0"/>
                <a:cs typeface="Times New Roman" pitchFamily="18" charset="0"/>
              </a:rPr>
              <a:t>you attach a new device, you need to install its driver so that the OS knows how it needs to be managed.</a:t>
            </a:r>
          </a:p>
          <a:p>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C:\Users\SSMS C LAB3\Desktop\system software img.jpg"/>
          <p:cNvPicPr>
            <a:picLocks noGrp="1" noChangeAspect="1" noChangeArrowheads="1"/>
          </p:cNvPicPr>
          <p:nvPr>
            <p:ph idx="1"/>
          </p:nvPr>
        </p:nvPicPr>
        <p:blipFill>
          <a:blip r:embed="rId2"/>
          <a:srcRect/>
          <a:stretch>
            <a:fillRect/>
          </a:stretch>
        </p:blipFill>
        <p:spPr bwMode="auto">
          <a:xfrm>
            <a:off x="381001" y="838200"/>
            <a:ext cx="3809999" cy="2895600"/>
          </a:xfrm>
          <a:prstGeom prst="rect">
            <a:avLst/>
          </a:prstGeom>
          <a:noFill/>
        </p:spPr>
      </p:pic>
      <p:pic>
        <p:nvPicPr>
          <p:cNvPr id="2051" name="Picture 3" descr="C:\Users\SSMS C LAB3\Desktop\LANGUAGE PROCESSOR img.jpg"/>
          <p:cNvPicPr>
            <a:picLocks noChangeAspect="1" noChangeArrowheads="1"/>
          </p:cNvPicPr>
          <p:nvPr/>
        </p:nvPicPr>
        <p:blipFill>
          <a:blip r:embed="rId3"/>
          <a:srcRect/>
          <a:stretch>
            <a:fillRect/>
          </a:stretch>
        </p:blipFill>
        <p:spPr bwMode="auto">
          <a:xfrm>
            <a:off x="4953000" y="990600"/>
            <a:ext cx="3733800" cy="2438400"/>
          </a:xfrm>
          <a:prstGeom prst="rect">
            <a:avLst/>
          </a:prstGeom>
          <a:noFill/>
        </p:spPr>
      </p:pic>
      <p:pic>
        <p:nvPicPr>
          <p:cNvPr id="2052" name="Picture 4" descr="C:\Users\SSMS C LAB3\Desktop\drivers img.jpg"/>
          <p:cNvPicPr>
            <a:picLocks noChangeAspect="1" noChangeArrowheads="1"/>
          </p:cNvPicPr>
          <p:nvPr/>
        </p:nvPicPr>
        <p:blipFill>
          <a:blip r:embed="rId4"/>
          <a:srcRect/>
          <a:stretch>
            <a:fillRect/>
          </a:stretch>
        </p:blipFill>
        <p:spPr bwMode="auto">
          <a:xfrm>
            <a:off x="457200" y="4419600"/>
            <a:ext cx="3657600" cy="1981200"/>
          </a:xfrm>
          <a:prstGeom prst="rect">
            <a:avLst/>
          </a:prstGeom>
          <a:noFill/>
        </p:spPr>
      </p:pic>
      <p:pic>
        <p:nvPicPr>
          <p:cNvPr id="2053" name="Picture 5" descr="C:\Users\SSMS C LAB3\Desktop\device2img.jpg"/>
          <p:cNvPicPr>
            <a:picLocks noChangeAspect="1" noChangeArrowheads="1"/>
          </p:cNvPicPr>
          <p:nvPr/>
        </p:nvPicPr>
        <p:blipFill>
          <a:blip r:embed="rId5"/>
          <a:srcRect/>
          <a:stretch>
            <a:fillRect/>
          </a:stretch>
        </p:blipFill>
        <p:spPr bwMode="auto">
          <a:xfrm>
            <a:off x="5257800" y="4419600"/>
            <a:ext cx="3429000" cy="1981200"/>
          </a:xfrm>
          <a:prstGeom prst="rect">
            <a:avLst/>
          </a:prstGeom>
          <a:noFill/>
        </p:spPr>
      </p:pic>
      <p:sp>
        <p:nvSpPr>
          <p:cNvPr id="8" name="TextBox 7"/>
          <p:cNvSpPr txBox="1"/>
          <p:nvPr/>
        </p:nvSpPr>
        <p:spPr>
          <a:xfrm>
            <a:off x="685800" y="228600"/>
            <a:ext cx="3276600" cy="369332"/>
          </a:xfrm>
          <a:prstGeom prst="rect">
            <a:avLst/>
          </a:prstGeom>
          <a:noFill/>
        </p:spPr>
        <p:txBody>
          <a:bodyPr wrap="square" rtlCol="0">
            <a:spAutoFit/>
          </a:bodyPr>
          <a:lstStyle/>
          <a:p>
            <a:r>
              <a:rPr lang="en-US" dirty="0" smtClean="0"/>
              <a:t>            </a:t>
            </a:r>
            <a:r>
              <a:rPr lang="en-US" b="1" dirty="0" smtClean="0">
                <a:latin typeface="Times New Roman" pitchFamily="18" charset="0"/>
                <a:cs typeface="Times New Roman" pitchFamily="18" charset="0"/>
              </a:rPr>
              <a:t>Operating system</a:t>
            </a:r>
            <a:endParaRPr lang="en-US" b="1" dirty="0">
              <a:latin typeface="Times New Roman" pitchFamily="18" charset="0"/>
              <a:cs typeface="Times New Roman" pitchFamily="18" charset="0"/>
            </a:endParaRPr>
          </a:p>
        </p:txBody>
      </p:sp>
      <p:sp>
        <p:nvSpPr>
          <p:cNvPr id="10" name="TextBox 9"/>
          <p:cNvSpPr txBox="1"/>
          <p:nvPr/>
        </p:nvSpPr>
        <p:spPr>
          <a:xfrm>
            <a:off x="4953000" y="304800"/>
            <a:ext cx="3733800" cy="369332"/>
          </a:xfrm>
          <a:prstGeom prst="rect">
            <a:avLst/>
          </a:prstGeom>
          <a:noFill/>
        </p:spPr>
        <p:txBody>
          <a:bodyPr wrap="square" rtlCol="0">
            <a:spAutoFit/>
          </a:bodyPr>
          <a:lstStyle/>
          <a:p>
            <a:r>
              <a:rPr lang="en-US" dirty="0" smtClean="0"/>
              <a:t>                </a:t>
            </a:r>
            <a:r>
              <a:rPr lang="en-US" b="1" dirty="0" smtClean="0">
                <a:latin typeface="Times New Roman" pitchFamily="18" charset="0"/>
                <a:cs typeface="Times New Roman" pitchFamily="18" charset="0"/>
              </a:rPr>
              <a:t>Language Processor</a:t>
            </a:r>
            <a:endParaRPr lang="en-US" b="1" dirty="0">
              <a:latin typeface="Times New Roman" pitchFamily="18" charset="0"/>
              <a:cs typeface="Times New Roman" pitchFamily="18" charset="0"/>
            </a:endParaRPr>
          </a:p>
        </p:txBody>
      </p:sp>
      <p:sp>
        <p:nvSpPr>
          <p:cNvPr id="11" name="TextBox 10"/>
          <p:cNvSpPr txBox="1"/>
          <p:nvPr/>
        </p:nvSpPr>
        <p:spPr>
          <a:xfrm>
            <a:off x="609600" y="3886200"/>
            <a:ext cx="3276600" cy="369332"/>
          </a:xfrm>
          <a:prstGeom prst="rect">
            <a:avLst/>
          </a:prstGeom>
          <a:noFill/>
        </p:spPr>
        <p:txBody>
          <a:bodyPr wrap="square" rtlCol="0">
            <a:spAutoFit/>
          </a:bodyPr>
          <a:lstStyle/>
          <a:p>
            <a:r>
              <a:rPr lang="en-US" dirty="0" smtClean="0"/>
              <a:t>              </a:t>
            </a:r>
            <a:r>
              <a:rPr lang="en-US" b="1" dirty="0" smtClean="0">
                <a:latin typeface="Times New Roman" pitchFamily="18" charset="0"/>
                <a:cs typeface="Times New Roman" pitchFamily="18" charset="0"/>
              </a:rPr>
              <a:t>Storage Drivers</a:t>
            </a:r>
            <a:endParaRPr lang="en-US" b="1" dirty="0">
              <a:latin typeface="Times New Roman" pitchFamily="18" charset="0"/>
              <a:cs typeface="Times New Roman" pitchFamily="18" charset="0"/>
            </a:endParaRPr>
          </a:p>
        </p:txBody>
      </p:sp>
      <p:sp>
        <p:nvSpPr>
          <p:cNvPr id="12" name="TextBox 11"/>
          <p:cNvSpPr txBox="1"/>
          <p:nvPr/>
        </p:nvSpPr>
        <p:spPr>
          <a:xfrm>
            <a:off x="5257800" y="3886200"/>
            <a:ext cx="3276600" cy="381000"/>
          </a:xfrm>
          <a:prstGeom prst="rect">
            <a:avLst/>
          </a:prstGeom>
          <a:noFill/>
        </p:spPr>
        <p:txBody>
          <a:bodyPr wrap="square" rtlCol="0">
            <a:spAutoFit/>
          </a:bodyPr>
          <a:lstStyle/>
          <a:p>
            <a:r>
              <a:rPr lang="en-US" dirty="0" smtClean="0"/>
              <a:t>                 </a:t>
            </a:r>
            <a:r>
              <a:rPr lang="en-US" b="1" dirty="0" smtClean="0">
                <a:latin typeface="Times New Roman" pitchFamily="18" charset="0"/>
                <a:cs typeface="Times New Roman" pitchFamily="18" charset="0"/>
              </a:rPr>
              <a:t>Device Drivers</a:t>
            </a:r>
            <a:endParaRPr lang="en-US" b="1"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smtClean="0">
                <a:solidFill>
                  <a:srgbClr val="C00000"/>
                </a:solidFill>
                <a:latin typeface="Times New Roman" pitchFamily="18" charset="0"/>
                <a:cs typeface="Times New Roman" pitchFamily="18" charset="0"/>
              </a:rPr>
              <a:t>Application Software</a:t>
            </a:r>
            <a:br>
              <a:rPr lang="en-US" sz="3200" b="1" dirty="0" smtClean="0">
                <a:solidFill>
                  <a:srgbClr val="C00000"/>
                </a:solidFill>
                <a:latin typeface="Times New Roman" pitchFamily="18" charset="0"/>
                <a:cs typeface="Times New Roman" pitchFamily="18" charset="0"/>
              </a:rPr>
            </a:br>
            <a:endParaRPr lang="en-US" sz="3200" b="1" dirty="0">
              <a:solidFill>
                <a:srgbClr val="C00000"/>
              </a:solidFill>
              <a:latin typeface="Times New Roman" pitchFamily="18" charset="0"/>
              <a:cs typeface="Times New Roman" pitchFamily="18" charset="0"/>
            </a:endParaRPr>
          </a:p>
        </p:txBody>
      </p:sp>
      <p:sp>
        <p:nvSpPr>
          <p:cNvPr id="3" name="Content Placeholder 2"/>
          <p:cNvSpPr>
            <a:spLocks noGrp="1"/>
          </p:cNvSpPr>
          <p:nvPr>
            <p:ph idx="1"/>
          </p:nvPr>
        </p:nvSpPr>
        <p:spPr>
          <a:xfrm>
            <a:off x="457200" y="1295400"/>
            <a:ext cx="8229600" cy="4830763"/>
          </a:xfrm>
        </p:spPr>
        <p:txBody>
          <a:bodyPr>
            <a:normAutofit fontScale="92500" lnSpcReduction="20000"/>
          </a:bodyPr>
          <a:lstStyle/>
          <a:p>
            <a:pPr>
              <a:buFont typeface="Wingdings" pitchFamily="2" charset="2"/>
              <a:buChar char="Ø"/>
            </a:pPr>
            <a:r>
              <a:rPr lang="en-US" sz="1800" dirty="0" smtClean="0">
                <a:latin typeface="Times New Roman" pitchFamily="18" charset="0"/>
                <a:cs typeface="Times New Roman" pitchFamily="18" charset="0"/>
              </a:rPr>
              <a:t> </a:t>
            </a:r>
            <a:r>
              <a:rPr lang="en-US" sz="2400" dirty="0" smtClean="0">
                <a:latin typeface="Times New Roman" pitchFamily="18" charset="0"/>
                <a:cs typeface="Times New Roman" pitchFamily="18" charset="0"/>
              </a:rPr>
              <a:t>A </a:t>
            </a:r>
            <a:r>
              <a:rPr lang="en-US" sz="2400" dirty="0">
                <a:latin typeface="Times New Roman" pitchFamily="18" charset="0"/>
                <a:cs typeface="Times New Roman" pitchFamily="18" charset="0"/>
              </a:rPr>
              <a:t>software that performs a single task and nothing else is called </a:t>
            </a:r>
            <a:r>
              <a:rPr lang="en-US" sz="2400" b="1" dirty="0">
                <a:latin typeface="Times New Roman" pitchFamily="18" charset="0"/>
                <a:cs typeface="Times New Roman" pitchFamily="18" charset="0"/>
              </a:rPr>
              <a:t>application software</a:t>
            </a:r>
            <a:r>
              <a:rPr lang="en-US" sz="2400" dirty="0">
                <a:latin typeface="Times New Roman" pitchFamily="18" charset="0"/>
                <a:cs typeface="Times New Roman" pitchFamily="18" charset="0"/>
              </a:rPr>
              <a:t>. </a:t>
            </a:r>
            <a:endParaRPr lang="en-US" sz="2400" dirty="0" smtClean="0">
              <a:latin typeface="Times New Roman" pitchFamily="18" charset="0"/>
              <a:cs typeface="Times New Roman" pitchFamily="18" charset="0"/>
            </a:endParaRPr>
          </a:p>
          <a:p>
            <a:pPr>
              <a:buFont typeface="Wingdings" pitchFamily="2" charset="2"/>
              <a:buChar char="Ø"/>
            </a:pPr>
            <a:r>
              <a:rPr lang="en-US" sz="2400" dirty="0" smtClean="0">
                <a:latin typeface="Times New Roman" pitchFamily="18" charset="0"/>
                <a:cs typeface="Times New Roman" pitchFamily="18" charset="0"/>
              </a:rPr>
              <a:t>Application </a:t>
            </a:r>
            <a:r>
              <a:rPr lang="en-US" sz="2400" dirty="0">
                <a:latin typeface="Times New Roman" pitchFamily="18" charset="0"/>
                <a:cs typeface="Times New Roman" pitchFamily="18" charset="0"/>
              </a:rPr>
              <a:t>software are very specialized in their function and approach to solving a problem. </a:t>
            </a:r>
            <a:endParaRPr lang="en-US" sz="2400" dirty="0" smtClean="0">
              <a:latin typeface="Times New Roman" pitchFamily="18" charset="0"/>
              <a:cs typeface="Times New Roman" pitchFamily="18" charset="0"/>
            </a:endParaRPr>
          </a:p>
          <a:p>
            <a:pPr>
              <a:buFont typeface="Wingdings" pitchFamily="2" charset="2"/>
              <a:buChar char="Ø"/>
            </a:pPr>
            <a:r>
              <a:rPr lang="en-US" sz="2400" dirty="0" smtClean="0">
                <a:latin typeface="Times New Roman" pitchFamily="18" charset="0"/>
                <a:cs typeface="Times New Roman" pitchFamily="18" charset="0"/>
              </a:rPr>
              <a:t>So </a:t>
            </a:r>
            <a:r>
              <a:rPr lang="en-US" sz="2400" dirty="0">
                <a:latin typeface="Times New Roman" pitchFamily="18" charset="0"/>
                <a:cs typeface="Times New Roman" pitchFamily="18" charset="0"/>
              </a:rPr>
              <a:t>a spreadsheet software can only do operations with numbers and nothing else</a:t>
            </a:r>
            <a:r>
              <a:rPr lang="en-US" sz="2400" dirty="0" smtClean="0">
                <a:latin typeface="Times New Roman" pitchFamily="18" charset="0"/>
                <a:cs typeface="Times New Roman" pitchFamily="18" charset="0"/>
              </a:rPr>
              <a:t>.</a:t>
            </a:r>
          </a:p>
          <a:p>
            <a:pPr>
              <a:buFont typeface="Wingdings" pitchFamily="2" charset="2"/>
              <a:buChar char="Ø"/>
            </a:pPr>
            <a:endParaRPr lang="en-US" sz="2400" dirty="0">
              <a:latin typeface="Times New Roman" pitchFamily="18" charset="0"/>
              <a:cs typeface="Times New Roman" pitchFamily="18" charset="0"/>
            </a:endParaRPr>
          </a:p>
          <a:p>
            <a:pPr>
              <a:buFont typeface="Wingdings" pitchFamily="2" charset="2"/>
              <a:buChar char="Ø"/>
            </a:pPr>
            <a:r>
              <a:rPr lang="en-US" sz="2400" dirty="0" smtClean="0">
                <a:latin typeface="Times New Roman" pitchFamily="18" charset="0"/>
                <a:cs typeface="Times New Roman" pitchFamily="18" charset="0"/>
              </a:rPr>
              <a:t> </a:t>
            </a:r>
            <a:r>
              <a:rPr lang="en-US" sz="2400" dirty="0">
                <a:latin typeface="Times New Roman" pitchFamily="18" charset="0"/>
                <a:cs typeface="Times New Roman" pitchFamily="18" charset="0"/>
              </a:rPr>
              <a:t>A hospital management software will manage hospital activities and nothing else. Here are some commonly used application software −</a:t>
            </a:r>
          </a:p>
          <a:p>
            <a:endParaRPr lang="en-US" sz="2400" dirty="0" smtClean="0">
              <a:latin typeface="Times New Roman" pitchFamily="18" charset="0"/>
              <a:cs typeface="Times New Roman" pitchFamily="18" charset="0"/>
            </a:endParaRPr>
          </a:p>
          <a:p>
            <a:r>
              <a:rPr lang="en-US" sz="2400" dirty="0" smtClean="0">
                <a:latin typeface="Times New Roman" pitchFamily="18" charset="0"/>
                <a:cs typeface="Times New Roman" pitchFamily="18" charset="0"/>
              </a:rPr>
              <a:t>Word </a:t>
            </a:r>
            <a:r>
              <a:rPr lang="en-US" sz="2400" dirty="0">
                <a:latin typeface="Times New Roman" pitchFamily="18" charset="0"/>
                <a:cs typeface="Times New Roman" pitchFamily="18" charset="0"/>
              </a:rPr>
              <a:t>processing</a:t>
            </a:r>
          </a:p>
          <a:p>
            <a:r>
              <a:rPr lang="en-US" sz="2400" dirty="0">
                <a:latin typeface="Times New Roman" pitchFamily="18" charset="0"/>
                <a:cs typeface="Times New Roman" pitchFamily="18" charset="0"/>
              </a:rPr>
              <a:t>Spreadsheet</a:t>
            </a:r>
          </a:p>
          <a:p>
            <a:r>
              <a:rPr lang="en-US" sz="2400" dirty="0">
                <a:latin typeface="Times New Roman" pitchFamily="18" charset="0"/>
                <a:cs typeface="Times New Roman" pitchFamily="18" charset="0"/>
              </a:rPr>
              <a:t>Presentation</a:t>
            </a:r>
          </a:p>
          <a:p>
            <a:r>
              <a:rPr lang="en-US" sz="2400" dirty="0">
                <a:latin typeface="Times New Roman" pitchFamily="18" charset="0"/>
                <a:cs typeface="Times New Roman" pitchFamily="18" charset="0"/>
              </a:rPr>
              <a:t>Database management</a:t>
            </a:r>
          </a:p>
          <a:p>
            <a:r>
              <a:rPr lang="en-US" sz="2400" dirty="0">
                <a:latin typeface="Times New Roman" pitchFamily="18" charset="0"/>
                <a:cs typeface="Times New Roman" pitchFamily="18" charset="0"/>
              </a:rPr>
              <a:t>Multimedia tools</a:t>
            </a:r>
          </a:p>
          <a:p>
            <a:pPr>
              <a:buNone/>
            </a:pPr>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C:\Users\SSMS C LAB3\Desktop\application img.jpg"/>
          <p:cNvPicPr>
            <a:picLocks noGrp="1" noChangeAspect="1" noChangeArrowheads="1"/>
          </p:cNvPicPr>
          <p:nvPr>
            <p:ph idx="1"/>
          </p:nvPr>
        </p:nvPicPr>
        <p:blipFill>
          <a:blip r:embed="rId2"/>
          <a:srcRect/>
          <a:stretch>
            <a:fillRect/>
          </a:stretch>
        </p:blipFill>
        <p:spPr bwMode="auto">
          <a:xfrm>
            <a:off x="685800" y="838200"/>
            <a:ext cx="7010400" cy="2971800"/>
          </a:xfrm>
          <a:prstGeom prst="rect">
            <a:avLst/>
          </a:prstGeom>
          <a:noFill/>
        </p:spPr>
      </p:pic>
      <p:pic>
        <p:nvPicPr>
          <p:cNvPr id="3075" name="Picture 3" descr="C:\Users\SSMS C LAB3\Desktop\img2.png"/>
          <p:cNvPicPr>
            <a:picLocks noChangeAspect="1" noChangeArrowheads="1"/>
          </p:cNvPicPr>
          <p:nvPr/>
        </p:nvPicPr>
        <p:blipFill>
          <a:blip r:embed="rId3"/>
          <a:srcRect/>
          <a:stretch>
            <a:fillRect/>
          </a:stretch>
        </p:blipFill>
        <p:spPr bwMode="auto">
          <a:xfrm>
            <a:off x="1828800" y="3886200"/>
            <a:ext cx="4953000" cy="2667000"/>
          </a:xfrm>
          <a:prstGeom prst="rect">
            <a:avLst/>
          </a:prstGeom>
          <a:noFill/>
        </p:spPr>
      </p:pic>
      <p:sp>
        <p:nvSpPr>
          <p:cNvPr id="6" name="TextBox 5"/>
          <p:cNvSpPr txBox="1"/>
          <p:nvPr/>
        </p:nvSpPr>
        <p:spPr>
          <a:xfrm>
            <a:off x="1371600" y="304800"/>
            <a:ext cx="6248400" cy="461665"/>
          </a:xfrm>
          <a:prstGeom prst="rect">
            <a:avLst/>
          </a:prstGeom>
          <a:noFill/>
        </p:spPr>
        <p:txBody>
          <a:bodyPr wrap="square" rtlCol="0">
            <a:spAutoFit/>
          </a:bodyPr>
          <a:lstStyle/>
          <a:p>
            <a:r>
              <a:rPr lang="en-US" dirty="0" smtClean="0"/>
              <a:t>                                    </a:t>
            </a:r>
            <a:r>
              <a:rPr lang="en-US" sz="2400" b="1" dirty="0" smtClean="0">
                <a:solidFill>
                  <a:srgbClr val="FF0000"/>
                </a:solidFill>
                <a:latin typeface="Times New Roman" pitchFamily="18" charset="0"/>
                <a:cs typeface="Times New Roman" pitchFamily="18" charset="0"/>
              </a:rPr>
              <a:t>Application Software's</a:t>
            </a:r>
            <a:endParaRPr lang="en-US" sz="2400" b="1" dirty="0">
              <a:solidFill>
                <a:srgbClr val="FF0000"/>
              </a:solidFill>
              <a:latin typeface="Times New Roman" pitchFamily="18" charset="0"/>
              <a:cs typeface="Times New Roman"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600" b="1" dirty="0" smtClean="0">
                <a:latin typeface="Times New Roman" pitchFamily="18" charset="0"/>
                <a:cs typeface="Times New Roman" pitchFamily="18" charset="0"/>
              </a:rPr>
              <a:t/>
            </a:r>
            <a:br>
              <a:rPr lang="en-US" sz="3600" b="1" dirty="0" smtClean="0">
                <a:latin typeface="Times New Roman" pitchFamily="18" charset="0"/>
                <a:cs typeface="Times New Roman" pitchFamily="18" charset="0"/>
              </a:rPr>
            </a:br>
            <a:r>
              <a:rPr lang="en-US" sz="3200" b="1" dirty="0" smtClean="0">
                <a:solidFill>
                  <a:srgbClr val="C00000"/>
                </a:solidFill>
                <a:latin typeface="Times New Roman" pitchFamily="18" charset="0"/>
                <a:cs typeface="Times New Roman" pitchFamily="18" charset="0"/>
              </a:rPr>
              <a:t>Utility Software</a:t>
            </a:r>
            <a:br>
              <a:rPr lang="en-US" sz="3200" b="1" dirty="0" smtClean="0">
                <a:solidFill>
                  <a:srgbClr val="C00000"/>
                </a:solidFill>
                <a:latin typeface="Times New Roman" pitchFamily="18" charset="0"/>
                <a:cs typeface="Times New Roman" pitchFamily="18" charset="0"/>
              </a:rPr>
            </a:br>
            <a:endParaRPr lang="en-US" sz="3200" b="1" dirty="0">
              <a:solidFill>
                <a:srgbClr val="C00000"/>
              </a:solidFill>
            </a:endParaRPr>
          </a:p>
        </p:txBody>
      </p:sp>
      <p:sp>
        <p:nvSpPr>
          <p:cNvPr id="3" name="Content Placeholder 2"/>
          <p:cNvSpPr>
            <a:spLocks noGrp="1"/>
          </p:cNvSpPr>
          <p:nvPr>
            <p:ph idx="1"/>
          </p:nvPr>
        </p:nvSpPr>
        <p:spPr/>
        <p:txBody>
          <a:bodyPr>
            <a:normAutofit fontScale="92500" lnSpcReduction="10000"/>
          </a:bodyPr>
          <a:lstStyle/>
          <a:p>
            <a:pPr>
              <a:buFont typeface="Wingdings" pitchFamily="2" charset="2"/>
              <a:buChar char="Ø"/>
            </a:pPr>
            <a:r>
              <a:rPr lang="en-US" sz="2000" dirty="0" smtClean="0">
                <a:latin typeface="Times New Roman" pitchFamily="18" charset="0"/>
                <a:cs typeface="Times New Roman" pitchFamily="18" charset="0"/>
              </a:rPr>
              <a:t> Application </a:t>
            </a:r>
            <a:r>
              <a:rPr lang="en-US" sz="2000" dirty="0">
                <a:latin typeface="Times New Roman" pitchFamily="18" charset="0"/>
                <a:cs typeface="Times New Roman" pitchFamily="18" charset="0"/>
              </a:rPr>
              <a:t>software that assist system software in doing their work is called </a:t>
            </a:r>
            <a:r>
              <a:rPr lang="en-US" sz="2000" b="1" dirty="0">
                <a:latin typeface="Times New Roman" pitchFamily="18" charset="0"/>
                <a:cs typeface="Times New Roman" pitchFamily="18" charset="0"/>
              </a:rPr>
              <a:t>utility software</a:t>
            </a:r>
            <a:r>
              <a:rPr lang="en-US" sz="2000" dirty="0">
                <a:latin typeface="Times New Roman" pitchFamily="18" charset="0"/>
                <a:cs typeface="Times New Roman" pitchFamily="18" charset="0"/>
              </a:rPr>
              <a:t>. </a:t>
            </a:r>
            <a:endParaRPr lang="en-US" sz="2000" dirty="0" smtClean="0">
              <a:latin typeface="Times New Roman" pitchFamily="18" charset="0"/>
              <a:cs typeface="Times New Roman" pitchFamily="18" charset="0"/>
            </a:endParaRPr>
          </a:p>
          <a:p>
            <a:pPr>
              <a:buNone/>
            </a:pPr>
            <a:endParaRPr lang="en-US" sz="2000" dirty="0" smtClean="0">
              <a:latin typeface="Times New Roman" pitchFamily="18" charset="0"/>
              <a:cs typeface="Times New Roman" pitchFamily="18" charset="0"/>
            </a:endParaRPr>
          </a:p>
          <a:p>
            <a:pPr>
              <a:buFont typeface="Wingdings" pitchFamily="2" charset="2"/>
              <a:buChar char="Ø"/>
            </a:pPr>
            <a:r>
              <a:rPr lang="en-US" sz="2000" dirty="0" smtClean="0">
                <a:latin typeface="Times New Roman" pitchFamily="18" charset="0"/>
                <a:cs typeface="Times New Roman" pitchFamily="18" charset="0"/>
              </a:rPr>
              <a:t>Thus </a:t>
            </a:r>
            <a:r>
              <a:rPr lang="en-US" sz="2000" dirty="0">
                <a:latin typeface="Times New Roman" pitchFamily="18" charset="0"/>
                <a:cs typeface="Times New Roman" pitchFamily="18" charset="0"/>
              </a:rPr>
              <a:t>utility software is actually a cross between system software and application software. </a:t>
            </a:r>
            <a:endParaRPr lang="en-US" sz="2000" dirty="0" smtClean="0">
              <a:latin typeface="Times New Roman" pitchFamily="18" charset="0"/>
              <a:cs typeface="Times New Roman" pitchFamily="18" charset="0"/>
            </a:endParaRPr>
          </a:p>
          <a:p>
            <a:pPr>
              <a:buNone/>
            </a:pPr>
            <a:r>
              <a:rPr lang="en-US" sz="2000" dirty="0">
                <a:latin typeface="Times New Roman" pitchFamily="18" charset="0"/>
                <a:cs typeface="Times New Roman" pitchFamily="18" charset="0"/>
              </a:rPr>
              <a:t> </a:t>
            </a:r>
            <a:r>
              <a:rPr lang="en-US" sz="2000" dirty="0" smtClean="0">
                <a:latin typeface="Times New Roman" pitchFamily="18" charset="0"/>
                <a:cs typeface="Times New Roman" pitchFamily="18" charset="0"/>
              </a:rPr>
              <a:t> </a:t>
            </a:r>
          </a:p>
          <a:p>
            <a:pPr>
              <a:buNone/>
            </a:pPr>
            <a:r>
              <a:rPr lang="en-US" sz="2000" dirty="0">
                <a:latin typeface="Times New Roman" pitchFamily="18" charset="0"/>
                <a:cs typeface="Times New Roman" pitchFamily="18" charset="0"/>
              </a:rPr>
              <a:t> </a:t>
            </a:r>
            <a:r>
              <a:rPr lang="en-US" sz="2000" dirty="0" smtClean="0">
                <a:latin typeface="Times New Roman" pitchFamily="18" charset="0"/>
                <a:cs typeface="Times New Roman" pitchFamily="18" charset="0"/>
              </a:rPr>
              <a:t>  Examples </a:t>
            </a:r>
            <a:r>
              <a:rPr lang="en-US" sz="2000" dirty="0">
                <a:latin typeface="Times New Roman" pitchFamily="18" charset="0"/>
                <a:cs typeface="Times New Roman" pitchFamily="18" charset="0"/>
              </a:rPr>
              <a:t>of utility software include </a:t>
            </a:r>
            <a:r>
              <a:rPr lang="en-US" sz="2000" dirty="0" smtClean="0">
                <a:latin typeface="Times New Roman" pitchFamily="18" charset="0"/>
                <a:cs typeface="Times New Roman" pitchFamily="18" charset="0"/>
              </a:rPr>
              <a:t>−</a:t>
            </a:r>
          </a:p>
          <a:p>
            <a:pPr>
              <a:buNone/>
            </a:pPr>
            <a:endParaRPr lang="en-US" sz="2000" dirty="0">
              <a:latin typeface="Times New Roman" pitchFamily="18" charset="0"/>
              <a:cs typeface="Times New Roman" pitchFamily="18" charset="0"/>
            </a:endParaRPr>
          </a:p>
          <a:p>
            <a:endParaRPr lang="en-US" sz="2000" dirty="0" smtClean="0">
              <a:latin typeface="Times New Roman" pitchFamily="18" charset="0"/>
              <a:cs typeface="Times New Roman" pitchFamily="18" charset="0"/>
            </a:endParaRPr>
          </a:p>
          <a:p>
            <a:r>
              <a:rPr lang="en-US" sz="2000" dirty="0" smtClean="0">
                <a:latin typeface="Times New Roman" pitchFamily="18" charset="0"/>
                <a:cs typeface="Times New Roman" pitchFamily="18" charset="0"/>
              </a:rPr>
              <a:t> Antivirus </a:t>
            </a:r>
            <a:r>
              <a:rPr lang="en-US" sz="2000" dirty="0">
                <a:latin typeface="Times New Roman" pitchFamily="18" charset="0"/>
                <a:cs typeface="Times New Roman" pitchFamily="18" charset="0"/>
              </a:rPr>
              <a:t>software</a:t>
            </a:r>
          </a:p>
          <a:p>
            <a:pPr marL="457200" indent="-457200"/>
            <a:r>
              <a:rPr lang="en-US" sz="2000" dirty="0" smtClean="0">
                <a:latin typeface="Times New Roman" pitchFamily="18" charset="0"/>
                <a:cs typeface="Times New Roman" pitchFamily="18" charset="0"/>
              </a:rPr>
              <a:t>Disk </a:t>
            </a:r>
            <a:r>
              <a:rPr lang="en-US" sz="2000" dirty="0">
                <a:latin typeface="Times New Roman" pitchFamily="18" charset="0"/>
                <a:cs typeface="Times New Roman" pitchFamily="18" charset="0"/>
              </a:rPr>
              <a:t>management tools</a:t>
            </a:r>
          </a:p>
          <a:p>
            <a:r>
              <a:rPr lang="en-US" sz="2000" dirty="0" smtClean="0">
                <a:latin typeface="Times New Roman" pitchFamily="18" charset="0"/>
                <a:cs typeface="Times New Roman" pitchFamily="18" charset="0"/>
              </a:rPr>
              <a:t>  File </a:t>
            </a:r>
            <a:r>
              <a:rPr lang="en-US" sz="2000" dirty="0">
                <a:latin typeface="Times New Roman" pitchFamily="18" charset="0"/>
                <a:cs typeface="Times New Roman" pitchFamily="18" charset="0"/>
              </a:rPr>
              <a:t>management tools</a:t>
            </a:r>
          </a:p>
          <a:p>
            <a:r>
              <a:rPr lang="en-US" sz="2000" dirty="0" smtClean="0">
                <a:latin typeface="Times New Roman" pitchFamily="18" charset="0"/>
                <a:cs typeface="Times New Roman" pitchFamily="18" charset="0"/>
              </a:rPr>
              <a:t>  Compression </a:t>
            </a:r>
            <a:r>
              <a:rPr lang="en-US" sz="2000" dirty="0">
                <a:latin typeface="Times New Roman" pitchFamily="18" charset="0"/>
                <a:cs typeface="Times New Roman" pitchFamily="18" charset="0"/>
              </a:rPr>
              <a:t>tools</a:t>
            </a:r>
          </a:p>
          <a:p>
            <a:pPr marL="457200" indent="-457200"/>
            <a:r>
              <a:rPr lang="en-US" sz="2000" dirty="0" smtClean="0">
                <a:latin typeface="Times New Roman" pitchFamily="18" charset="0"/>
                <a:cs typeface="Times New Roman" pitchFamily="18" charset="0"/>
              </a:rPr>
              <a:t>Backup </a:t>
            </a:r>
            <a:r>
              <a:rPr lang="en-US" sz="2000" dirty="0">
                <a:latin typeface="Times New Roman" pitchFamily="18" charset="0"/>
                <a:cs typeface="Times New Roman" pitchFamily="18" charset="0"/>
              </a:rPr>
              <a:t>tools</a:t>
            </a:r>
          </a:p>
          <a:p>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C:\Users\SSMS C LAB3\Desktop\utility.jpg"/>
          <p:cNvPicPr>
            <a:picLocks noGrp="1" noChangeAspect="1" noChangeArrowheads="1"/>
          </p:cNvPicPr>
          <p:nvPr>
            <p:ph idx="1"/>
          </p:nvPr>
        </p:nvPicPr>
        <p:blipFill>
          <a:blip r:embed="rId2"/>
          <a:srcRect/>
          <a:stretch>
            <a:fillRect/>
          </a:stretch>
        </p:blipFill>
        <p:spPr bwMode="auto">
          <a:xfrm>
            <a:off x="2895600" y="914400"/>
            <a:ext cx="3886200" cy="2057400"/>
          </a:xfrm>
          <a:prstGeom prst="rect">
            <a:avLst/>
          </a:prstGeom>
          <a:noFill/>
        </p:spPr>
      </p:pic>
      <p:pic>
        <p:nvPicPr>
          <p:cNvPr id="4099" name="Picture 3" descr="C:\Users\SSMS C LAB3\Desktop\u2.jpg"/>
          <p:cNvPicPr>
            <a:picLocks noChangeAspect="1" noChangeArrowheads="1"/>
          </p:cNvPicPr>
          <p:nvPr/>
        </p:nvPicPr>
        <p:blipFill>
          <a:blip r:embed="rId3"/>
          <a:srcRect/>
          <a:stretch>
            <a:fillRect/>
          </a:stretch>
        </p:blipFill>
        <p:spPr bwMode="auto">
          <a:xfrm>
            <a:off x="838200" y="3276600"/>
            <a:ext cx="8001000" cy="3276600"/>
          </a:xfrm>
          <a:prstGeom prst="rect">
            <a:avLst/>
          </a:prstGeom>
          <a:noFill/>
        </p:spPr>
      </p:pic>
      <p:sp>
        <p:nvSpPr>
          <p:cNvPr id="6" name="TextBox 5"/>
          <p:cNvSpPr txBox="1"/>
          <p:nvPr/>
        </p:nvSpPr>
        <p:spPr>
          <a:xfrm>
            <a:off x="1371600" y="228600"/>
            <a:ext cx="6477000" cy="461665"/>
          </a:xfrm>
          <a:prstGeom prst="rect">
            <a:avLst/>
          </a:prstGeom>
          <a:noFill/>
        </p:spPr>
        <p:txBody>
          <a:bodyPr wrap="square" rtlCol="0">
            <a:spAutoFit/>
          </a:bodyPr>
          <a:lstStyle/>
          <a:p>
            <a:r>
              <a:rPr lang="en-US" dirty="0" smtClean="0"/>
              <a:t>                                         </a:t>
            </a:r>
            <a:r>
              <a:rPr lang="en-US" sz="2400" b="1" dirty="0" smtClean="0">
                <a:solidFill>
                  <a:srgbClr val="FF0000"/>
                </a:solidFill>
                <a:latin typeface="Times New Roman" pitchFamily="18" charset="0"/>
                <a:cs typeface="Times New Roman" pitchFamily="18" charset="0"/>
              </a:rPr>
              <a:t>Utility Software</a:t>
            </a:r>
            <a:endParaRPr lang="en-US" sz="2000" b="1" dirty="0">
              <a:solidFill>
                <a:srgbClr val="FF0000"/>
              </a:solidFill>
              <a:latin typeface="Times New Roman" pitchFamily="18" charset="0"/>
              <a:cs typeface="Times New Roman" pitchFamily="18" charset="0"/>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115</TotalTime>
  <Words>132</Words>
  <Application>Microsoft Office PowerPoint</Application>
  <PresentationFormat>On-screen Show (4:3)</PresentationFormat>
  <Paragraphs>94</Paragraphs>
  <Slides>12</Slides>
  <Notes>0</Notes>
  <HiddenSlides>0</HiddenSlides>
  <MMClips>0</MMClips>
  <ScaleCrop>false</ScaleCrop>
  <HeadingPairs>
    <vt:vector size="4" baseType="variant">
      <vt:variant>
        <vt:lpstr>Theme</vt:lpstr>
      </vt:variant>
      <vt:variant>
        <vt:i4>1</vt:i4>
      </vt:variant>
      <vt:variant>
        <vt:lpstr>Slide Titles</vt:lpstr>
      </vt:variant>
      <vt:variant>
        <vt:i4>12</vt:i4>
      </vt:variant>
    </vt:vector>
  </HeadingPairs>
  <TitlesOfParts>
    <vt:vector size="13" baseType="lpstr">
      <vt:lpstr>Office Theme</vt:lpstr>
      <vt:lpstr>Software</vt:lpstr>
      <vt:lpstr>Slide 2</vt:lpstr>
      <vt:lpstr>system software</vt:lpstr>
      <vt:lpstr>Slide 4</vt:lpstr>
      <vt:lpstr>Slide 5</vt:lpstr>
      <vt:lpstr>Slide 6</vt:lpstr>
      <vt:lpstr>Slide 7</vt:lpstr>
      <vt:lpstr>Slide 8</vt:lpstr>
      <vt:lpstr>Application Software </vt:lpstr>
      <vt:lpstr>Slide 10</vt:lpstr>
      <vt:lpstr> Utility Software </vt:lpstr>
      <vt:lpstr>Slide 12</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SSMS C LAB3</dc:creator>
  <cp:lastModifiedBy>Windows User</cp:lastModifiedBy>
  <cp:revision>45</cp:revision>
  <dcterms:created xsi:type="dcterms:W3CDTF">2021-11-01T09:16:09Z</dcterms:created>
  <dcterms:modified xsi:type="dcterms:W3CDTF">2021-11-26T15:33:51Z</dcterms:modified>
</cp:coreProperties>
</file>