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21" r:id="rId23"/>
    <p:sldId id="277" r:id="rId24"/>
    <p:sldId id="279" r:id="rId25"/>
    <p:sldId id="281" r:id="rId26"/>
    <p:sldId id="282" r:id="rId27"/>
    <p:sldId id="283" r:id="rId28"/>
    <p:sldId id="284" r:id="rId29"/>
    <p:sldId id="300" r:id="rId30"/>
    <p:sldId id="301" r:id="rId31"/>
    <p:sldId id="318" r:id="rId32"/>
    <p:sldId id="319" r:id="rId33"/>
    <p:sldId id="320" r:id="rId34"/>
    <p:sldId id="285" r:id="rId35"/>
    <p:sldId id="286" r:id="rId36"/>
    <p:sldId id="302" r:id="rId37"/>
    <p:sldId id="287" r:id="rId38"/>
    <p:sldId id="307" r:id="rId39"/>
    <p:sldId id="288" r:id="rId40"/>
    <p:sldId id="289" r:id="rId41"/>
    <p:sldId id="290" r:id="rId42"/>
    <p:sldId id="323" r:id="rId43"/>
    <p:sldId id="324" r:id="rId44"/>
    <p:sldId id="291" r:id="rId45"/>
    <p:sldId id="294" r:id="rId46"/>
    <p:sldId id="295" r:id="rId47"/>
    <p:sldId id="296" r:id="rId48"/>
    <p:sldId id="297" r:id="rId49"/>
    <p:sldId id="298" r:id="rId50"/>
    <p:sldId id="299" r:id="rId51"/>
    <p:sldId id="303" r:id="rId52"/>
    <p:sldId id="304" r:id="rId53"/>
    <p:sldId id="305" r:id="rId54"/>
    <p:sldId id="306" r:id="rId55"/>
    <p:sldId id="308" r:id="rId56"/>
    <p:sldId id="309" r:id="rId57"/>
    <p:sldId id="310" r:id="rId58"/>
    <p:sldId id="311" r:id="rId59"/>
    <p:sldId id="313" r:id="rId60"/>
    <p:sldId id="314" r:id="rId61"/>
    <p:sldId id="315" r:id="rId62"/>
    <p:sldId id="316" r:id="rId63"/>
    <p:sldId id="317"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66" r:id="rId77"/>
    <p:sldId id="357" r:id="rId78"/>
    <p:sldId id="359" r:id="rId79"/>
    <p:sldId id="360" r:id="rId80"/>
    <p:sldId id="345" r:id="rId81"/>
    <p:sldId id="349" r:id="rId82"/>
    <p:sldId id="346" r:id="rId83"/>
    <p:sldId id="337" r:id="rId84"/>
    <p:sldId id="350" r:id="rId85"/>
    <p:sldId id="348" r:id="rId86"/>
    <p:sldId id="351" r:id="rId87"/>
    <p:sldId id="356" r:id="rId88"/>
    <p:sldId id="363" r:id="rId89"/>
    <p:sldId id="364" r:id="rId90"/>
    <p:sldId id="344" r:id="rId91"/>
    <p:sldId id="369" r:id="rId92"/>
    <p:sldId id="342" r:id="rId93"/>
    <p:sldId id="370" r:id="rId94"/>
    <p:sldId id="371" r:id="rId95"/>
    <p:sldId id="372" r:id="rId96"/>
    <p:sldId id="373" r:id="rId97"/>
    <p:sldId id="374" r:id="rId98"/>
    <p:sldId id="375" r:id="rId99"/>
    <p:sldId id="376" r:id="rId100"/>
    <p:sldId id="377" r:id="rId101"/>
    <p:sldId id="378" r:id="rId102"/>
    <p:sldId id="390" r:id="rId103"/>
    <p:sldId id="379" r:id="rId104"/>
    <p:sldId id="380" r:id="rId105"/>
    <p:sldId id="381" r:id="rId106"/>
    <p:sldId id="382" r:id="rId107"/>
    <p:sldId id="383" r:id="rId108"/>
    <p:sldId id="384" r:id="rId109"/>
    <p:sldId id="385" r:id="rId110"/>
    <p:sldId id="386" r:id="rId111"/>
    <p:sldId id="387" r:id="rId112"/>
    <p:sldId id="388" r:id="rId113"/>
    <p:sldId id="389" r:id="rId114"/>
    <p:sldId id="392" r:id="rId115"/>
    <p:sldId id="394" r:id="rId116"/>
    <p:sldId id="395" r:id="rId117"/>
    <p:sldId id="396" r:id="rId118"/>
    <p:sldId id="397" r:id="rId119"/>
    <p:sldId id="398" r:id="rId120"/>
    <p:sldId id="399" r:id="rId121"/>
    <p:sldId id="400" r:id="rId122"/>
    <p:sldId id="401" r:id="rId123"/>
    <p:sldId id="402" r:id="rId124"/>
    <p:sldId id="403" r:id="rId125"/>
    <p:sldId id="404" r:id="rId126"/>
    <p:sldId id="405" r:id="rId127"/>
    <p:sldId id="407" r:id="rId128"/>
    <p:sldId id="408" r:id="rId129"/>
    <p:sldId id="409" r:id="rId130"/>
    <p:sldId id="410" r:id="rId131"/>
    <p:sldId id="411" r:id="rId132"/>
    <p:sldId id="412" r:id="rId133"/>
    <p:sldId id="406" r:id="rId134"/>
    <p:sldId id="413" r:id="rId135"/>
    <p:sldId id="414" r:id="rId136"/>
    <p:sldId id="415" r:id="rId137"/>
    <p:sldId id="416" r:id="rId138"/>
    <p:sldId id="418" r:id="rId139"/>
    <p:sldId id="419" r:id="rId140"/>
    <p:sldId id="420" r:id="rId141"/>
    <p:sldId id="421" r:id="rId142"/>
    <p:sldId id="422" r:id="rId143"/>
    <p:sldId id="423" r:id="rId144"/>
    <p:sldId id="424" r:id="rId145"/>
    <p:sldId id="425" r:id="rId146"/>
    <p:sldId id="426" r:id="rId147"/>
    <p:sldId id="427" r:id="rId148"/>
    <p:sldId id="428" r:id="rId149"/>
    <p:sldId id="429" r:id="rId150"/>
    <p:sldId id="430" r:id="rId151"/>
    <p:sldId id="431" r:id="rId152"/>
    <p:sldId id="432" r:id="rId153"/>
    <p:sldId id="433" r:id="rId154"/>
    <p:sldId id="434" r:id="rId155"/>
    <p:sldId id="435" r:id="rId156"/>
    <p:sldId id="436" r:id="rId157"/>
    <p:sldId id="437" r:id="rId158"/>
    <p:sldId id="438" r:id="rId159"/>
    <p:sldId id="439" r:id="rId160"/>
    <p:sldId id="440" r:id="rId161"/>
    <p:sldId id="417" r:id="rId162"/>
    <p:sldId id="442" r:id="rId163"/>
    <p:sldId id="456" r:id="rId164"/>
    <p:sldId id="457" r:id="rId165"/>
    <p:sldId id="458" r:id="rId166"/>
    <p:sldId id="459" r:id="rId167"/>
    <p:sldId id="443" r:id="rId168"/>
    <p:sldId id="444" r:id="rId169"/>
    <p:sldId id="445" r:id="rId170"/>
    <p:sldId id="446" r:id="rId171"/>
    <p:sldId id="447" r:id="rId172"/>
    <p:sldId id="448" r:id="rId173"/>
    <p:sldId id="449" r:id="rId174"/>
    <p:sldId id="450" r:id="rId175"/>
    <p:sldId id="451" r:id="rId176"/>
    <p:sldId id="452" r:id="rId177"/>
    <p:sldId id="454" r:id="rId178"/>
    <p:sldId id="461" r:id="rId179"/>
    <p:sldId id="462" r:id="rId180"/>
    <p:sldId id="463" r:id="rId181"/>
    <p:sldId id="464" r:id="rId182"/>
    <p:sldId id="465" r:id="rId183"/>
    <p:sldId id="466" r:id="rId184"/>
    <p:sldId id="467" r:id="rId185"/>
    <p:sldId id="468" r:id="rId186"/>
    <p:sldId id="469" r:id="rId187"/>
    <p:sldId id="470" r:id="rId188"/>
    <p:sldId id="471" r:id="rId189"/>
    <p:sldId id="472" r:id="rId190"/>
    <p:sldId id="473" r:id="rId191"/>
    <p:sldId id="474" r:id="rId192"/>
    <p:sldId id="475" r:id="rId193"/>
    <p:sldId id="476" r:id="rId194"/>
    <p:sldId id="477" r:id="rId195"/>
    <p:sldId id="478" r:id="rId196"/>
    <p:sldId id="479" r:id="rId1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81" autoAdjust="0"/>
    <p:restoredTop sz="94660"/>
  </p:normalViewPr>
  <p:slideViewPr>
    <p:cSldViewPr>
      <p:cViewPr>
        <p:scale>
          <a:sx n="66" d="100"/>
          <a:sy n="66" d="100"/>
        </p:scale>
        <p:origin x="-151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96" Type="http://schemas.openxmlformats.org/officeDocument/2006/relationships/slide" Target="slides/slide195.xml"/><Relationship Id="rId200"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1"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notesMaster" Target="notesMasters/notesMaster1.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2C2954-CD8A-44F5-A0A4-9DB5E476EF5D}" type="datetimeFigureOut">
              <a:rPr lang="en-US" smtClean="0"/>
              <a:pPr/>
              <a:t>2/12/2022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9669EB-7A22-409C-B82A-DE0DD28125FE}" type="slidenum">
              <a:rPr lang="en-US" smtClean="0"/>
              <a:pPr/>
              <a:t>‹#›</a:t>
            </a:fld>
            <a:endParaRPr lang="en-US"/>
          </a:p>
        </p:txBody>
      </p:sp>
    </p:spTree>
    <p:extLst>
      <p:ext uri="{BB962C8B-B14F-4D97-AF65-F5344CB8AC3E}">
        <p14:creationId xmlns:p14="http://schemas.microsoft.com/office/powerpoint/2010/main" val="2427469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29669EB-7A22-409C-B82A-DE0DD28125FE}" type="slidenum">
              <a:rPr lang="en-US" smtClean="0"/>
              <a:pPr/>
              <a:t>29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29669EB-7A22-409C-B82A-DE0DD28125FE}" type="slidenum">
              <a:rPr lang="en-US" smtClean="0"/>
              <a:pPr/>
              <a:t>50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29669EB-7A22-409C-B82A-DE0DD28125FE}" type="slidenum">
              <a:rPr lang="en-US" smtClean="0"/>
              <a:pPr/>
              <a:t>89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29669EB-7A22-409C-B82A-DE0DD28125FE}" type="slidenum">
              <a:rPr lang="en-US" smtClean="0"/>
              <a:pPr/>
              <a:t>108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E798838-98EE-4705-B1B5-06AFA7379B48}" type="datetimeFigureOut">
              <a:rPr lang="en-US" smtClean="0"/>
              <a:pPr/>
              <a:t>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798838-98EE-4705-B1B5-06AFA7379B48}" type="datetimeFigureOut">
              <a:rPr lang="en-US" smtClean="0"/>
              <a:pPr/>
              <a:t>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98838-98EE-4705-B1B5-06AFA7379B48}" type="datetimeFigureOut">
              <a:rPr lang="en-US" smtClean="0"/>
              <a:pPr/>
              <a:t>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798838-98EE-4705-B1B5-06AFA7379B48}" type="datetimeFigureOut">
              <a:rPr lang="en-US" smtClean="0"/>
              <a:pPr/>
              <a:t>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798838-98EE-4705-B1B5-06AFA7379B48}" type="datetimeFigureOut">
              <a:rPr lang="en-US" smtClean="0"/>
              <a:pPr/>
              <a:t>2/12/2022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798838-98EE-4705-B1B5-06AFA7379B48}" type="datetimeFigureOut">
              <a:rPr lang="en-US" smtClean="0"/>
              <a:pPr/>
              <a:t>2/12/2022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798838-98EE-4705-B1B5-06AFA7379B48}" type="datetimeFigureOut">
              <a:rPr lang="en-US" smtClean="0"/>
              <a:pPr/>
              <a:t>2/12/2022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798838-98EE-4705-B1B5-06AFA7379B48}" type="datetimeFigureOut">
              <a:rPr lang="en-US" smtClean="0"/>
              <a:pPr/>
              <a:t>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798838-98EE-4705-B1B5-06AFA7379B48}" type="datetimeFigureOut">
              <a:rPr lang="en-US" smtClean="0"/>
              <a:pPr/>
              <a:t>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798838-98EE-4705-B1B5-06AFA7379B48}" type="datetimeFigureOut">
              <a:rPr lang="en-US" smtClean="0"/>
              <a:pPr/>
              <a:t>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798838-98EE-4705-B1B5-06AFA7379B48}" type="datetimeFigureOut">
              <a:rPr lang="en-US" smtClean="0"/>
              <a:pPr/>
              <a:t>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53837-7BAB-44D3-AA68-FE2C58ADE4A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798838-98EE-4705-B1B5-06AFA7379B48}" type="datetimeFigureOut">
              <a:rPr lang="en-US" smtClean="0"/>
              <a:pPr/>
              <a:t>2/12/2022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53837-7BAB-44D3-AA68-FE2C58ADE4A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w3schools.in/c-tutorial/data-typ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fresh2refresh.com/c/c-strings/"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hyperlink" Target="https://www.codingeek.com/tutorials/c-programming/control-statements-in-c-programming-language-switch-statement/" TargetMode="External"/><Relationship Id="rId2" Type="http://schemas.openxmlformats.org/officeDocument/2006/relationships/hyperlink" Target="https://www.codingeek.com/tutorials/c-programming/do-while-loop-in-c-programming-language-iteration-statements/" TargetMode="Externa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 Programming Basic </a:t>
            </a:r>
            <a:r>
              <a:rPr lang="en-US" dirty="0" smtClean="0"/>
              <a:t>Concepts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sz="3600" dirty="0">
                <a:latin typeface="Times New Roman" pitchFamily="18" charset="0"/>
                <a:cs typeface="Times New Roman" pitchFamily="18" charset="0"/>
              </a:rPr>
              <a:t>Tokens in C</a:t>
            </a:r>
            <a:br>
              <a:rPr lang="en-US" sz="3600"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Ø"/>
            </a:pPr>
            <a:r>
              <a:rPr lang="en-US" sz="2400" dirty="0">
                <a:latin typeface="Times New Roman" pitchFamily="18" charset="0"/>
                <a:cs typeface="Times New Roman" pitchFamily="18" charset="0"/>
              </a:rPr>
              <a:t>Tokens in C is the most important element to be used in creating a program in C. </a:t>
            </a:r>
          </a:p>
          <a:p>
            <a:pPr>
              <a:buFont typeface="Wingdings" pitchFamily="2" charset="2"/>
              <a:buChar char="Ø"/>
            </a:pPr>
            <a:r>
              <a:rPr lang="en-US" sz="2400" dirty="0">
                <a:latin typeface="Times New Roman" pitchFamily="18" charset="0"/>
                <a:cs typeface="Times New Roman" pitchFamily="18" charset="0"/>
              </a:rPr>
              <a:t>We can define the token as the smallest individual element in C.</a:t>
            </a:r>
          </a:p>
          <a:p>
            <a:pPr>
              <a:buFont typeface="Wingdings" pitchFamily="2" charset="2"/>
              <a:buChar char="Ø"/>
            </a:pPr>
            <a:r>
              <a:rPr lang="en-US" sz="2400" dirty="0">
                <a:latin typeface="Times New Roman" pitchFamily="18" charset="0"/>
                <a:cs typeface="Times New Roman" pitchFamily="18" charset="0"/>
              </a:rPr>
              <a:t>For `example, we cannot create a sentence without using words; similarly, we cannot create a program in C without using tokens in C. Therefore, we can say that tokens in C is the building block or the basic component for creating a program in C language.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533400" y="914400"/>
            <a:ext cx="8229599" cy="54864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b="1" dirty="0">
                <a:solidFill>
                  <a:srgbClr val="FF0000"/>
                </a:solidFill>
                <a:latin typeface="Times New Roman" pitchFamily="18" charset="0"/>
                <a:cs typeface="Times New Roman" pitchFamily="18" charset="0"/>
              </a:rPr>
              <a:t>Keywords in C</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can be defined as the </a:t>
            </a:r>
            <a:r>
              <a:rPr lang="en-US" sz="2400" b="1" dirty="0">
                <a:latin typeface="Times New Roman" pitchFamily="18" charset="0"/>
                <a:cs typeface="Times New Roman" pitchFamily="18" charset="0"/>
              </a:rPr>
              <a:t>pre-defined</a:t>
            </a:r>
            <a:r>
              <a:rPr lang="en-US" sz="2400" dirty="0">
                <a:latin typeface="Times New Roman" pitchFamily="18" charset="0"/>
                <a:cs typeface="Times New Roman" pitchFamily="18" charset="0"/>
              </a:rPr>
              <a:t> or the </a:t>
            </a:r>
            <a:r>
              <a:rPr lang="en-US" sz="2400" b="1" dirty="0">
                <a:latin typeface="Times New Roman" pitchFamily="18" charset="0"/>
                <a:cs typeface="Times New Roman" pitchFamily="18" charset="0"/>
              </a:rPr>
              <a:t>reserved words</a:t>
            </a:r>
            <a:r>
              <a:rPr lang="en-US" sz="2400" dirty="0">
                <a:latin typeface="Times New Roman" pitchFamily="18" charset="0"/>
                <a:cs typeface="Times New Roman" pitchFamily="18" charset="0"/>
              </a:rPr>
              <a:t> having its own importance, and each keyword has its own functionality. Since keywords are the pre-defined words used by the compiler, so they cannot be used as the variable names.</a:t>
            </a:r>
          </a:p>
          <a:p>
            <a:r>
              <a:rPr lang="en-US" sz="2400" dirty="0">
                <a:latin typeface="Times New Roman" pitchFamily="18" charset="0"/>
                <a:cs typeface="Times New Roman" pitchFamily="18" charset="0"/>
              </a:rPr>
              <a:t>If the keywords are used as the variable names, it means that we are assigning a different meaning to the keyword, which is not allowed. </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C language supports 32 keywords given below: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b="1" dirty="0">
                <a:solidFill>
                  <a:srgbClr val="FF0000"/>
                </a:solidFill>
                <a:latin typeface="Times New Roman" pitchFamily="18" charset="0"/>
                <a:cs typeface="Times New Roman" pitchFamily="18" charset="0"/>
              </a:rPr>
              <a:t>Identifiers in C :</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are used for naming variables, functions, arrays, structures, etc. Identifiers in C are the user-defined words. </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It can be composed of uppercase letters, lowercase letters, underscore, or digits, but the starting letter should be either an underscore or an alphabet. </a:t>
            </a:r>
          </a:p>
          <a:p>
            <a:endParaRPr lang="en-US" sz="2400" dirty="0">
              <a:latin typeface="Times New Roman" pitchFamily="18" charset="0"/>
              <a:cs typeface="Times New Roman" pitchFamily="18" charset="0"/>
            </a:endParaRPr>
          </a:p>
          <a:p>
            <a:r>
              <a:rPr lang="en-US" sz="2400" dirty="0"/>
              <a:t>Identifiers cannot be used as keywords.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latin typeface="Times New Roman" pitchFamily="18" charset="0"/>
                <a:cs typeface="Times New Roman" pitchFamily="18" charset="0"/>
              </a:rPr>
              <a:t/>
            </a:r>
            <a:br>
              <a:rPr lang="en-US" sz="3200" b="1" dirty="0">
                <a:latin typeface="Times New Roman" pitchFamily="18" charset="0"/>
                <a:cs typeface="Times New Roman" pitchFamily="18" charset="0"/>
              </a:rPr>
            </a:br>
            <a:r>
              <a:rPr lang="en-US" sz="2400" b="1" dirty="0">
                <a:latin typeface="Times New Roman" pitchFamily="18" charset="0"/>
                <a:cs typeface="Times New Roman" pitchFamily="18" charset="0"/>
              </a:rPr>
              <a:t>Rules for constructing identifiers in C are given below:</a:t>
            </a:r>
            <a:r>
              <a:rPr lang="en-US" sz="3200" b="1" dirty="0">
                <a:latin typeface="Times New Roman" pitchFamily="18" charset="0"/>
                <a:cs typeface="Times New Roman" pitchFamily="18" charset="0"/>
              </a:rPr>
              <a:t/>
            </a:r>
            <a:br>
              <a:rPr lang="en-US" sz="3200"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334000"/>
          </a:xfrm>
        </p:spPr>
        <p:txBody>
          <a:bodyPr>
            <a:noAutofit/>
          </a:bodyPr>
          <a:lstStyle/>
          <a:p>
            <a:r>
              <a:rPr lang="en-US" sz="2000" b="1" dirty="0">
                <a:latin typeface="Times New Roman" pitchFamily="18" charset="0"/>
                <a:cs typeface="Times New Roman" pitchFamily="18" charset="0"/>
              </a:rPr>
              <a:t>The first character of an identifier should be either an alphabet or an underscore, and then it can be followed by any of the character, digit, or underscore.</a:t>
            </a:r>
          </a:p>
          <a:p>
            <a:r>
              <a:rPr lang="en-US" sz="2000" b="1" dirty="0">
                <a:latin typeface="Times New Roman" pitchFamily="18" charset="0"/>
                <a:cs typeface="Times New Roman" pitchFamily="18" charset="0"/>
              </a:rPr>
              <a:t>It should not begin with any numerical digit.</a:t>
            </a:r>
          </a:p>
          <a:p>
            <a:r>
              <a:rPr lang="en-US" sz="2000" b="1" dirty="0">
                <a:latin typeface="Times New Roman" pitchFamily="18" charset="0"/>
                <a:cs typeface="Times New Roman" pitchFamily="18" charset="0"/>
              </a:rPr>
              <a:t>In identifiers, both uppercase and lowercase letters are distinct. Therefore, we can say that identifiers are case sensitive.</a:t>
            </a:r>
          </a:p>
          <a:p>
            <a:r>
              <a:rPr lang="en-US" sz="2000" b="1" dirty="0">
                <a:latin typeface="Times New Roman" pitchFamily="18" charset="0"/>
                <a:cs typeface="Times New Roman" pitchFamily="18" charset="0"/>
              </a:rPr>
              <a:t>Commas or blank spaces cannot be specified within an identifier.</a:t>
            </a:r>
          </a:p>
          <a:p>
            <a:r>
              <a:rPr lang="en-US" sz="2000" b="1" dirty="0">
                <a:latin typeface="Times New Roman" pitchFamily="18" charset="0"/>
                <a:cs typeface="Times New Roman" pitchFamily="18" charset="0"/>
              </a:rPr>
              <a:t>Keywords cannot be represented as an identifier.</a:t>
            </a:r>
          </a:p>
          <a:p>
            <a:r>
              <a:rPr lang="en-US" sz="2000" b="1" dirty="0">
                <a:latin typeface="Times New Roman" pitchFamily="18" charset="0"/>
                <a:cs typeface="Times New Roman" pitchFamily="18" charset="0"/>
              </a:rPr>
              <a:t>The length of the identifiers should not be more than 31 characters.</a:t>
            </a:r>
          </a:p>
          <a:p>
            <a:r>
              <a:rPr lang="en-US" sz="2000" b="1" dirty="0">
                <a:latin typeface="Times New Roman" pitchFamily="18" charset="0"/>
                <a:cs typeface="Times New Roman" pitchFamily="18" charset="0"/>
              </a:rPr>
              <a:t>Identifiers should be written in such a way that it is meaningful, short, and easy to read. </a:t>
            </a:r>
          </a:p>
          <a:p>
            <a:pPr>
              <a:buNone/>
            </a:pPr>
            <a:endParaRPr lang="en-US" sz="2000" b="1"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Examples:   </a:t>
            </a:r>
            <a:r>
              <a:rPr lang="en-US" sz="2000" b="1" dirty="0" err="1"/>
              <a:t>int</a:t>
            </a:r>
            <a:r>
              <a:rPr lang="en-US" sz="2000" b="1" dirty="0"/>
              <a:t> money;</a:t>
            </a:r>
          </a:p>
          <a:p>
            <a:pPr>
              <a:buNone/>
            </a:pPr>
            <a:r>
              <a:rPr lang="en-US" sz="2000" b="1" dirty="0"/>
              <a:t>                      double </a:t>
            </a:r>
            <a:r>
              <a:rPr lang="en-US" sz="2000" b="1" dirty="0" err="1"/>
              <a:t>accountBalance</a:t>
            </a:r>
            <a:r>
              <a:rPr lang="en-US" sz="2000" b="1" dirty="0"/>
              <a:t>;</a:t>
            </a:r>
            <a:endParaRPr lang="en-US" sz="2000" b="1" dirty="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sz="2800" b="1" dirty="0">
                <a:solidFill>
                  <a:srgbClr val="FF0000"/>
                </a:solidFill>
                <a:latin typeface="Times New Roman" pitchFamily="18" charset="0"/>
                <a:cs typeface="Times New Roman" pitchFamily="18" charset="0"/>
              </a:rPr>
              <a:t>Constants in C</a:t>
            </a:r>
            <a:endParaRPr lang="en-US" sz="2800" dirty="0">
              <a:solidFill>
                <a:srgbClr val="FF0000"/>
              </a:solidFill>
            </a:endParaRPr>
          </a:p>
        </p:txBody>
      </p:sp>
      <p:sp>
        <p:nvSpPr>
          <p:cNvPr id="3" name="Content Placeholder 2"/>
          <p:cNvSpPr>
            <a:spLocks noGrp="1"/>
          </p:cNvSpPr>
          <p:nvPr>
            <p:ph idx="1"/>
          </p:nvPr>
        </p:nvSpPr>
        <p:spPr>
          <a:xfrm>
            <a:off x="457200" y="838200"/>
            <a:ext cx="8229600" cy="5287963"/>
          </a:xfrm>
        </p:spPr>
        <p:txBody>
          <a:bodyPr>
            <a:normAutofit lnSpcReduction="10000"/>
          </a:bodyPr>
          <a:lstStyle/>
          <a:p>
            <a:pPr>
              <a:buFont typeface="Wingdings" pitchFamily="2" charset="2"/>
              <a:buChar char="Ø"/>
            </a:pPr>
            <a:r>
              <a:rPr lang="en-US" sz="2400" dirty="0">
                <a:latin typeface="Times New Roman" pitchFamily="18" charset="0"/>
                <a:cs typeface="Times New Roman" pitchFamily="18" charset="0"/>
              </a:rPr>
              <a:t>C Constants is the most fundamental and essential part of the C programming language.</a:t>
            </a:r>
          </a:p>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 Constants in C are the fixed values that are used in a program, and its value remains the same during the entire execution of the program.</a:t>
            </a:r>
          </a:p>
          <a:p>
            <a:pPr>
              <a:buFont typeface="Wingdings" pitchFamily="2" charset="2"/>
              <a:buChar char="Ø"/>
            </a:pP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Constants are also called literals.</a:t>
            </a:r>
          </a:p>
          <a:p>
            <a:r>
              <a:rPr lang="en-US" sz="2400" b="1" dirty="0">
                <a:latin typeface="Times New Roman" pitchFamily="18" charset="0"/>
                <a:cs typeface="Times New Roman" pitchFamily="18" charset="0"/>
              </a:rPr>
              <a:t>Constants can be any of the </a:t>
            </a:r>
            <a:r>
              <a:rPr lang="en-US" sz="2400" b="1" dirty="0">
                <a:latin typeface="Times New Roman" pitchFamily="18" charset="0"/>
                <a:cs typeface="Times New Roman" pitchFamily="18" charset="0"/>
                <a:hlinkClick r:id="rId2"/>
              </a:rPr>
              <a:t>data types</a:t>
            </a:r>
            <a:r>
              <a:rPr lang="en-US" sz="2400" b="1" dirty="0">
                <a:latin typeface="Times New Roman" pitchFamily="18" charset="0"/>
                <a:cs typeface="Times New Roman" pitchFamily="18" charset="0"/>
              </a:rPr>
              <a:t>.</a:t>
            </a:r>
          </a:p>
          <a:p>
            <a:r>
              <a:rPr lang="en-US" sz="2400" b="1" dirty="0">
                <a:latin typeface="Times New Roman" pitchFamily="18" charset="0"/>
                <a:cs typeface="Times New Roman" pitchFamily="18" charset="0"/>
              </a:rPr>
              <a:t>It is considered best practice to define constants using only upper-case names.</a:t>
            </a:r>
          </a:p>
          <a:p>
            <a:endParaRPr lang="en-US" sz="2400" b="1" dirty="0">
              <a:latin typeface="Times New Roman" pitchFamily="18" charset="0"/>
              <a:cs typeface="Times New Roman" pitchFamily="18" charset="0"/>
            </a:endParaRPr>
          </a:p>
          <a:p>
            <a:pPr>
              <a:buNone/>
            </a:pPr>
            <a:r>
              <a:rPr lang="en-US" sz="2400" b="1" dirty="0">
                <a:solidFill>
                  <a:srgbClr val="FF0000"/>
                </a:solidFill>
                <a:latin typeface="Times New Roman" pitchFamily="18" charset="0"/>
                <a:cs typeface="Times New Roman" pitchFamily="18" charset="0"/>
              </a:rPr>
              <a:t>Syntax</a:t>
            </a:r>
            <a:r>
              <a:rPr lang="en-US" sz="2400" b="1" dirty="0">
                <a:latin typeface="Times New Roman" pitchFamily="18" charset="0"/>
                <a:cs typeface="Times New Roman" pitchFamily="18" charset="0"/>
              </a:rPr>
              <a:t>: const type constant </a:t>
            </a:r>
            <a:r>
              <a:rPr lang="en-US" sz="2400" b="1">
                <a:latin typeface="Times New Roman" pitchFamily="18" charset="0"/>
                <a:cs typeface="Times New Roman" pitchFamily="18" charset="0"/>
              </a:rPr>
              <a:t>_ </a:t>
            </a:r>
            <a:r>
              <a:rPr lang="en-US" sz="2400" b="1" smtClean="0">
                <a:latin typeface="Times New Roman" pitchFamily="18" charset="0"/>
                <a:cs typeface="Times New Roman" pitchFamily="18" charset="0"/>
              </a:rPr>
              <a:t>name;</a:t>
            </a:r>
            <a:endParaRPr lang="en-US" sz="2400" b="1" dirty="0">
              <a:latin typeface="Times New Roman" pitchFamily="18" charset="0"/>
              <a:cs typeface="Times New Roman" pitchFamily="18" charset="0"/>
            </a:endParaRPr>
          </a:p>
          <a:p>
            <a:pPr>
              <a:buFont typeface="Wingdings" pitchFamily="2" charset="2"/>
              <a:buChar char="Ø"/>
            </a:pPr>
            <a:endParaRPr lang="en-US"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Example:</a:t>
            </a:r>
          </a:p>
        </p:txBody>
      </p:sp>
      <p:sp>
        <p:nvSpPr>
          <p:cNvPr id="3" name="Content Placeholder 2"/>
          <p:cNvSpPr>
            <a:spLocks noGrp="1"/>
          </p:cNvSpPr>
          <p:nvPr>
            <p:ph idx="1"/>
          </p:nvPr>
        </p:nvSpPr>
        <p:spPr/>
        <p:txBody>
          <a:bodyPr>
            <a:normAutofit lnSpcReduction="10000"/>
          </a:bodyPr>
          <a:lstStyle/>
          <a:p>
            <a:pPr>
              <a:buNone/>
            </a:pPr>
            <a:r>
              <a:rPr lang="en-US" sz="2000" b="1" dirty="0">
                <a:latin typeface="Times New Roman" pitchFamily="18" charset="0"/>
                <a:cs typeface="Times New Roman" pitchFamily="18" charset="0"/>
              </a:rPr>
              <a:t>#include&lt;</a:t>
            </a:r>
            <a:r>
              <a:rPr lang="en-US" sz="2000" b="1" dirty="0" err="1">
                <a:latin typeface="Times New Roman" pitchFamily="18" charset="0"/>
                <a:cs typeface="Times New Roman" pitchFamily="18" charset="0"/>
              </a:rPr>
              <a:t>stdio.h</a:t>
            </a:r>
            <a:r>
              <a:rPr lang="en-US" sz="2000" b="1" dirty="0">
                <a:latin typeface="Times New Roman" pitchFamily="18" charset="0"/>
                <a:cs typeface="Times New Roman" pitchFamily="18" charset="0"/>
              </a:rPr>
              <a:t>&gt;</a:t>
            </a:r>
          </a:p>
          <a:p>
            <a:pPr>
              <a:buNone/>
            </a:pPr>
            <a:r>
              <a:rPr lang="en-US" sz="2000" b="1" dirty="0">
                <a:latin typeface="Times New Roman" pitchFamily="18" charset="0"/>
                <a:cs typeface="Times New Roman" pitchFamily="18" charset="0"/>
              </a:rPr>
              <a:t>void main() </a:t>
            </a:r>
          </a:p>
          <a:p>
            <a:pPr>
              <a:buNone/>
            </a:pPr>
            <a:r>
              <a:rPr lang="en-US" sz="2000" b="1" dirty="0">
                <a:latin typeface="Times New Roman" pitchFamily="18" charset="0"/>
                <a:cs typeface="Times New Roman" pitchFamily="18" charset="0"/>
              </a:rPr>
              <a:t>{</a:t>
            </a:r>
          </a:p>
          <a:p>
            <a:pPr>
              <a:buNone/>
            </a:pPr>
            <a:r>
              <a:rPr lang="en-US" sz="2000" b="1" dirty="0">
                <a:latin typeface="Times New Roman" pitchFamily="18" charset="0"/>
                <a:cs typeface="Times New Roman" pitchFamily="18" charset="0"/>
              </a:rPr>
              <a:t>    </a:t>
            </a:r>
          </a:p>
          <a:p>
            <a:pPr>
              <a:buNone/>
            </a:pPr>
            <a:r>
              <a:rPr lang="en-US" sz="2000" b="1" dirty="0">
                <a:latin typeface="Times New Roman" pitchFamily="18" charset="0"/>
                <a:cs typeface="Times New Roman" pitchFamily="18" charset="0"/>
              </a:rPr>
              <a:t>const </a:t>
            </a:r>
            <a:r>
              <a:rPr lang="en-US" sz="2000" b="1" dirty="0" err="1">
                <a:latin typeface="Times New Roman" pitchFamily="18" charset="0"/>
                <a:cs typeface="Times New Roman" pitchFamily="18" charset="0"/>
              </a:rPr>
              <a:t>int</a:t>
            </a:r>
            <a:r>
              <a:rPr lang="en-US" sz="2000" b="1" dirty="0">
                <a:latin typeface="Times New Roman" pitchFamily="18" charset="0"/>
                <a:cs typeface="Times New Roman" pitchFamily="18" charset="0"/>
              </a:rPr>
              <a:t> SIDE = 10;  </a:t>
            </a:r>
          </a:p>
          <a:p>
            <a:pPr>
              <a:buNone/>
            </a:pPr>
            <a:r>
              <a:rPr lang="en-US" sz="2000" b="1" dirty="0">
                <a:latin typeface="Times New Roman" pitchFamily="18" charset="0"/>
                <a:cs typeface="Times New Roman" pitchFamily="18" charset="0"/>
              </a:rPr>
              <a:t>     </a:t>
            </a:r>
          </a:p>
          <a:p>
            <a:pPr>
              <a:buNone/>
            </a:pPr>
            <a:r>
              <a:rPr lang="en-US" sz="2000" b="1" dirty="0" err="1">
                <a:latin typeface="Times New Roman" pitchFamily="18" charset="0"/>
                <a:cs typeface="Times New Roman" pitchFamily="18" charset="0"/>
              </a:rPr>
              <a:t>int</a:t>
            </a:r>
            <a:r>
              <a:rPr lang="en-US" sz="2000" b="1" dirty="0">
                <a:latin typeface="Times New Roman" pitchFamily="18" charset="0"/>
                <a:cs typeface="Times New Roman" pitchFamily="18" charset="0"/>
              </a:rPr>
              <a:t> area;</a:t>
            </a:r>
          </a:p>
          <a:p>
            <a:pPr>
              <a:buNone/>
            </a:pPr>
            <a:r>
              <a:rPr lang="en-US" sz="2000" b="1" dirty="0">
                <a:latin typeface="Times New Roman" pitchFamily="18" charset="0"/>
                <a:cs typeface="Times New Roman" pitchFamily="18" charset="0"/>
              </a:rPr>
              <a:t>     </a:t>
            </a:r>
          </a:p>
          <a:p>
            <a:pPr>
              <a:buNone/>
            </a:pPr>
            <a:r>
              <a:rPr lang="en-US" sz="2000" b="1" dirty="0">
                <a:latin typeface="Times New Roman" pitchFamily="18" charset="0"/>
                <a:cs typeface="Times New Roman" pitchFamily="18" charset="0"/>
              </a:rPr>
              <a:t>area = SIDE*SIDE;</a:t>
            </a:r>
          </a:p>
          <a:p>
            <a:pPr>
              <a:buNone/>
            </a:pPr>
            <a:endParaRPr lang="en-US" sz="2000" b="1"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printf</a:t>
            </a:r>
            <a:r>
              <a:rPr lang="en-US" sz="2000" b="1" dirty="0">
                <a:latin typeface="Times New Roman" pitchFamily="18" charset="0"/>
                <a:cs typeface="Times New Roman" pitchFamily="18" charset="0"/>
              </a:rPr>
              <a:t>("The area of the square with side: %d is: %d sq. units" , SIDE, area);</a:t>
            </a:r>
          </a:p>
          <a:p>
            <a:pPr>
              <a:buNone/>
            </a:pPr>
            <a:r>
              <a:rPr lang="en-US" sz="2000" b="1" dirty="0">
                <a:latin typeface="Times New Roman" pitchFamily="18" charset="0"/>
                <a:cs typeface="Times New Roman" pitchFamily="18" charset="0"/>
              </a:rPr>
              <a: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Types of Constants</a:t>
            </a:r>
          </a:p>
        </p:txBody>
      </p:sp>
      <p:sp>
        <p:nvSpPr>
          <p:cNvPr id="3" name="Content Placeholder 2"/>
          <p:cNvSpPr>
            <a:spLocks noGrp="1"/>
          </p:cNvSpPr>
          <p:nvPr>
            <p:ph idx="1"/>
          </p:nvPr>
        </p:nvSpPr>
        <p:spPr/>
        <p:txBody>
          <a:bodyPr/>
          <a:lstStyle/>
          <a:p>
            <a:pPr>
              <a:buNone/>
            </a:pPr>
            <a:r>
              <a:rPr lang="en-US" sz="2400" b="1" dirty="0">
                <a:latin typeface="Times New Roman" pitchFamily="18" charset="0"/>
                <a:cs typeface="Times New Roman" pitchFamily="18" charset="0"/>
              </a:rPr>
              <a:t>Numeric Constants</a:t>
            </a:r>
          </a:p>
          <a:p>
            <a:pPr>
              <a:buFont typeface="Wingdings" pitchFamily="2" charset="2"/>
              <a:buChar char="Ø"/>
            </a:pPr>
            <a:r>
              <a:rPr lang="en-US" sz="2400" dirty="0">
                <a:latin typeface="Times New Roman" pitchFamily="18" charset="0"/>
                <a:cs typeface="Times New Roman" pitchFamily="18" charset="0"/>
              </a:rPr>
              <a:t>  Integer Constants</a:t>
            </a:r>
          </a:p>
          <a:p>
            <a:pPr>
              <a:buFont typeface="Wingdings" pitchFamily="2" charset="2"/>
              <a:buChar char="Ø"/>
            </a:pPr>
            <a:r>
              <a:rPr lang="en-US" sz="2400" dirty="0">
                <a:latin typeface="Times New Roman" pitchFamily="18" charset="0"/>
                <a:cs typeface="Times New Roman" pitchFamily="18" charset="0"/>
              </a:rPr>
              <a:t>  Real Constants</a:t>
            </a:r>
          </a:p>
          <a:p>
            <a:pPr>
              <a:buFont typeface="Wingdings" pitchFamily="2" charset="2"/>
              <a:buChar char="Ø"/>
            </a:pP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Character Constants</a:t>
            </a:r>
          </a:p>
          <a:p>
            <a:pPr>
              <a:buFont typeface="Wingdings" pitchFamily="2" charset="2"/>
              <a:buChar char="Ø"/>
            </a:pPr>
            <a:r>
              <a:rPr lang="en-US" sz="2400" dirty="0"/>
              <a:t>Single Character Constants</a:t>
            </a:r>
          </a:p>
          <a:p>
            <a:pPr>
              <a:buFont typeface="Wingdings" pitchFamily="2" charset="2"/>
              <a:buChar char="Ø"/>
            </a:pPr>
            <a:r>
              <a:rPr lang="en-US" sz="2400" dirty="0"/>
              <a:t>String Constants</a:t>
            </a:r>
          </a:p>
          <a:p>
            <a:pPr>
              <a:buFont typeface="Wingdings" pitchFamily="2" charset="2"/>
              <a:buChar char="Ø"/>
            </a:pPr>
            <a:r>
              <a:rPr lang="en-US" sz="2400" dirty="0"/>
              <a:t>Backslash Character Constants</a:t>
            </a:r>
          </a:p>
          <a:p>
            <a:pPr>
              <a:buNone/>
            </a:pPr>
            <a:endParaRPr lang="en-US" sz="2400" dirty="0">
              <a:latin typeface="Times New Roman" pitchFamily="18" charset="0"/>
              <a:cs typeface="Times New Roman" pitchFamily="18" charset="0"/>
            </a:endParaRP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Integer Constants</a:t>
            </a:r>
          </a:p>
        </p:txBody>
      </p:sp>
      <p:sp>
        <p:nvSpPr>
          <p:cNvPr id="3" name="Content Placeholder 2"/>
          <p:cNvSpPr>
            <a:spLocks noGrp="1"/>
          </p:cNvSpPr>
          <p:nvPr>
            <p:ph idx="1"/>
          </p:nvPr>
        </p:nvSpPr>
        <p:spPr/>
        <p:txBody>
          <a:bodyPr>
            <a:normAutofit fontScale="92500" lnSpcReduction="10000"/>
          </a:bodyPr>
          <a:lstStyle/>
          <a:p>
            <a:r>
              <a:rPr lang="en-US" sz="2400" dirty="0">
                <a:latin typeface="Times New Roman" pitchFamily="18" charset="0"/>
                <a:cs typeface="Times New Roman" pitchFamily="18" charset="0"/>
              </a:rPr>
              <a:t>It's referring to a sequence of digits.</a:t>
            </a:r>
          </a:p>
          <a:p>
            <a:endParaRPr lang="en-US" sz="2400" dirty="0">
              <a:latin typeface="Times New Roman" pitchFamily="18" charset="0"/>
              <a:cs typeface="Times New Roman" pitchFamily="18" charset="0"/>
            </a:endParaRPr>
          </a:p>
          <a:p>
            <a:pPr>
              <a:buFont typeface="Wingdings" pitchFamily="2" charset="2"/>
              <a:buChar char="v"/>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Integers are of three types </a:t>
            </a:r>
          </a:p>
          <a:p>
            <a:endParaRPr lang="en-US" sz="2400" dirty="0">
              <a:latin typeface="Times New Roman" pitchFamily="18" charset="0"/>
              <a:cs typeface="Times New Roman" pitchFamily="18" charset="0"/>
            </a:endParaRPr>
          </a:p>
          <a:p>
            <a:pPr marL="514350" indent="-514350">
              <a:buFont typeface="+mj-lt"/>
              <a:buAutoNum type="romanUcPeriod"/>
            </a:pPr>
            <a:r>
              <a:rPr lang="en-US" sz="2400" dirty="0">
                <a:latin typeface="Times New Roman" pitchFamily="18" charset="0"/>
                <a:cs typeface="Times New Roman" pitchFamily="18" charset="0"/>
              </a:rPr>
              <a:t>Decimal Integer</a:t>
            </a:r>
          </a:p>
          <a:p>
            <a:pPr marL="514350" indent="-514350">
              <a:buFont typeface="+mj-lt"/>
              <a:buAutoNum type="romanUcPeriod"/>
            </a:pPr>
            <a:r>
              <a:rPr lang="en-US" sz="2400" dirty="0">
                <a:latin typeface="Times New Roman" pitchFamily="18" charset="0"/>
                <a:cs typeface="Times New Roman" pitchFamily="18" charset="0"/>
              </a:rPr>
              <a:t>Octal Integer</a:t>
            </a:r>
          </a:p>
          <a:p>
            <a:pPr marL="514350" indent="-514350">
              <a:buFont typeface="+mj-lt"/>
              <a:buAutoNum type="romanUcPeriod"/>
            </a:pPr>
            <a:r>
              <a:rPr lang="en-US" sz="2400" dirty="0">
                <a:latin typeface="Times New Roman" pitchFamily="18" charset="0"/>
                <a:cs typeface="Times New Roman" pitchFamily="18" charset="0"/>
              </a:rPr>
              <a:t>Hexadecimal Integer</a:t>
            </a:r>
          </a:p>
          <a:p>
            <a:pPr marL="514350" indent="-514350">
              <a:buFont typeface="+mj-lt"/>
              <a:buAutoNum type="romanUcPeriod"/>
            </a:pP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Ex:  15, -265, 0, 99818, +25, 045, 0X6</a:t>
            </a:r>
          </a:p>
          <a:p>
            <a:pPr>
              <a:buNone/>
            </a:pPr>
            <a:endParaRPr lang="en-US" sz="2400" b="1" dirty="0"/>
          </a:p>
          <a:p>
            <a:pPr>
              <a:buNone/>
            </a:pPr>
            <a:r>
              <a:rPr lang="en-US" sz="2400" dirty="0"/>
              <a:t/>
            </a:r>
            <a:br>
              <a:rPr lang="en-US" sz="2400" dirty="0"/>
            </a:br>
            <a:endParaRPr lang="en-US" sz="2400" dirty="0">
              <a:latin typeface="Times New Roman" pitchFamily="18" charset="0"/>
              <a:cs typeface="Times New Roman" pitchFamily="18" charset="0"/>
            </a:endParaRP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latin typeface="Times New Roman" pitchFamily="18" charset="0"/>
                <a:cs typeface="Times New Roman" pitchFamily="18" charset="0"/>
              </a:rPr>
              <a:t>Real Constants</a:t>
            </a:r>
          </a:p>
        </p:txBody>
      </p:sp>
      <p:sp>
        <p:nvSpPr>
          <p:cNvPr id="3" name="Content Placeholder 2"/>
          <p:cNvSpPr>
            <a:spLocks noGrp="1"/>
          </p:cNvSpPr>
          <p:nvPr>
            <p:ph idx="1"/>
          </p:nvPr>
        </p:nvSpPr>
        <p:spPr/>
        <p:txBody>
          <a:bodyPr>
            <a:normAutofit/>
          </a:bodyPr>
          <a:lstStyle/>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The numbers containing fractional parts like 99.25 are called real or floating points constant.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sz="3600" dirty="0">
                <a:solidFill>
                  <a:srgbClr val="FF0000"/>
                </a:solidFill>
                <a:latin typeface="Times New Roman" pitchFamily="18" charset="0"/>
                <a:cs typeface="Times New Roman" pitchFamily="18" charset="0"/>
              </a:rPr>
              <a:t>Character Constants</a:t>
            </a:r>
            <a:r>
              <a:rPr lang="en-US" dirty="0"/>
              <a:t/>
            </a:r>
            <a:br>
              <a:rPr lang="en-US" dirty="0"/>
            </a:br>
            <a:endParaRPr lang="en-US" dirty="0"/>
          </a:p>
        </p:txBody>
      </p:sp>
      <p:sp>
        <p:nvSpPr>
          <p:cNvPr id="3" name="Content Placeholder 2"/>
          <p:cNvSpPr>
            <a:spLocks noGrp="1"/>
          </p:cNvSpPr>
          <p:nvPr>
            <p:ph idx="1"/>
          </p:nvPr>
        </p:nvSpPr>
        <p:spPr/>
        <p:txBody>
          <a:bodyPr/>
          <a:lstStyle/>
          <a:p>
            <a:pPr>
              <a:buNone/>
            </a:pPr>
            <a:r>
              <a:rPr lang="en-US" dirty="0"/>
              <a:t> </a:t>
            </a:r>
            <a:r>
              <a:rPr lang="en-US" b="1" dirty="0">
                <a:latin typeface="Times New Roman" pitchFamily="18" charset="0"/>
                <a:cs typeface="Times New Roman" pitchFamily="18" charset="0"/>
              </a:rPr>
              <a:t>Character Constants</a:t>
            </a:r>
          </a:p>
          <a:p>
            <a:pPr lvl="1"/>
            <a:endParaRPr lang="en-US" dirty="0"/>
          </a:p>
          <a:p>
            <a:pPr lvl="1">
              <a:buFont typeface="Wingdings" pitchFamily="2" charset="2"/>
              <a:buChar char="v"/>
            </a:pPr>
            <a:r>
              <a:rPr lang="en-US" sz="2400" dirty="0">
                <a:latin typeface="Times New Roman" pitchFamily="18" charset="0"/>
                <a:cs typeface="Times New Roman" pitchFamily="18" charset="0"/>
              </a:rPr>
              <a:t>Single Character Constants</a:t>
            </a:r>
          </a:p>
          <a:p>
            <a:pPr lvl="1">
              <a:buFont typeface="Wingdings" pitchFamily="2" charset="2"/>
              <a:buChar char="v"/>
            </a:pPr>
            <a:r>
              <a:rPr lang="en-US" sz="2400" dirty="0">
                <a:latin typeface="Times New Roman" pitchFamily="18" charset="0"/>
                <a:cs typeface="Times New Roman" pitchFamily="18" charset="0"/>
              </a:rPr>
              <a:t>String Constants</a:t>
            </a:r>
          </a:p>
          <a:p>
            <a:pPr lvl="1">
              <a:buFont typeface="Wingdings" pitchFamily="2" charset="2"/>
              <a:buChar char="v"/>
            </a:pPr>
            <a:r>
              <a:rPr lang="en-US" sz="2400" dirty="0">
                <a:latin typeface="Times New Roman" pitchFamily="18" charset="0"/>
                <a:cs typeface="Times New Roman" pitchFamily="18" charset="0"/>
              </a:rPr>
              <a:t>  Backslash Character Constants</a:t>
            </a:r>
          </a:p>
          <a:p>
            <a:endParaRPr lang="en-US" sz="2400" b="1" dirty="0">
              <a:latin typeface="Times New Roman" pitchFamily="18" charset="0"/>
              <a:cs typeface="Times New Roman" pitchFamily="18" charset="0"/>
            </a:endParaRPr>
          </a:p>
          <a:p>
            <a:pPr>
              <a:buNone/>
            </a:pPr>
            <a:r>
              <a:rPr lang="en-US" dirty="0"/>
              <a:t/>
            </a:r>
            <a:br>
              <a:rPr lang="en-US" dirty="0"/>
            </a:b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2800" b="1" dirty="0">
                <a:solidFill>
                  <a:srgbClr val="FF0000"/>
                </a:solidFill>
                <a:latin typeface="Times New Roman" pitchFamily="18" charset="0"/>
                <a:cs typeface="Times New Roman" pitchFamily="18" charset="0"/>
              </a:rPr>
              <a:t>Single Character Constants</a:t>
            </a:r>
            <a:br>
              <a:rPr lang="en-US" sz="2800" b="1" dirty="0">
                <a:solidFill>
                  <a:srgbClr val="FF0000"/>
                </a:solidFill>
                <a:latin typeface="Times New Roman" pitchFamily="18" charset="0"/>
                <a:cs typeface="Times New Roman" pitchFamily="18" charset="0"/>
              </a:rPr>
            </a:br>
            <a:endParaRPr lang="en-US" sz="2800" b="1" dirty="0">
              <a:solidFill>
                <a:srgbClr val="FF0000"/>
              </a:solidFill>
            </a:endParaRPr>
          </a:p>
        </p:txBody>
      </p:sp>
      <p:sp>
        <p:nvSpPr>
          <p:cNvPr id="3" name="Content Placeholder 2"/>
          <p:cNvSpPr>
            <a:spLocks noGrp="1"/>
          </p:cNvSpPr>
          <p:nvPr>
            <p:ph idx="1"/>
          </p:nvPr>
        </p:nvSpPr>
        <p:spPr/>
        <p:txBody>
          <a:bodyPr>
            <a:normAutofit fontScale="92500"/>
          </a:bodyPr>
          <a:lstStyle/>
          <a:p>
            <a:pPr>
              <a:buFont typeface="Wingdings" pitchFamily="2" charset="2"/>
              <a:buChar char="Ø"/>
            </a:pPr>
            <a:r>
              <a:rPr lang="en-US" sz="2400" dirty="0">
                <a:latin typeface="Times New Roman" pitchFamily="18" charset="0"/>
                <a:cs typeface="Times New Roman" pitchFamily="18" charset="0"/>
              </a:rPr>
              <a:t>it simply contains a single character enclosed within ' and ' (a pair of single quote). </a:t>
            </a:r>
          </a:p>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It is to be noted that the character '</a:t>
            </a:r>
            <a:r>
              <a:rPr lang="en-US" sz="2400" b="1" dirty="0">
                <a:latin typeface="Times New Roman" pitchFamily="18" charset="0"/>
                <a:cs typeface="Times New Roman" pitchFamily="18" charset="0"/>
              </a:rPr>
              <a:t>8</a:t>
            </a:r>
            <a:r>
              <a:rPr lang="en-US" sz="2400" dirty="0">
                <a:latin typeface="Times New Roman" pitchFamily="18" charset="0"/>
                <a:cs typeface="Times New Roman" pitchFamily="18" charset="0"/>
              </a:rPr>
              <a:t>' is not the same as </a:t>
            </a:r>
            <a:r>
              <a:rPr lang="en-US" sz="2400" b="1" dirty="0">
                <a:latin typeface="Times New Roman" pitchFamily="18" charset="0"/>
                <a:cs typeface="Times New Roman" pitchFamily="18" charset="0"/>
              </a:rPr>
              <a:t>8</a:t>
            </a:r>
            <a:r>
              <a:rPr lang="en-US" sz="2400" dirty="0">
                <a:latin typeface="Times New Roman" pitchFamily="18" charset="0"/>
                <a:cs typeface="Times New Roman" pitchFamily="18" charset="0"/>
              </a:rPr>
              <a:t>. Character constants have a specific set of integer values known as ASCII values (American Standard Code for Information Interchange).</a:t>
            </a:r>
          </a:p>
          <a:p>
            <a:pPr>
              <a:buNone/>
            </a:pPr>
            <a:endParaRPr lang="en-US" sz="2400" u="sng" dirty="0">
              <a:latin typeface="Times New Roman" pitchFamily="18" charset="0"/>
              <a:cs typeface="Times New Roman" pitchFamily="18" charset="0"/>
            </a:endParaRPr>
          </a:p>
          <a:p>
            <a:pPr>
              <a:buNone/>
            </a:pPr>
            <a:r>
              <a:rPr lang="en-US" sz="2400" u="sng" dirty="0">
                <a:latin typeface="Times New Roman" pitchFamily="18" charset="0"/>
                <a:cs typeface="Times New Roman" pitchFamily="18" charset="0"/>
              </a:rPr>
              <a:t>Example:</a:t>
            </a:r>
          </a:p>
          <a:p>
            <a:pPr>
              <a:buNone/>
            </a:pPr>
            <a:endParaRPr lang="en-US" sz="2400" u="sng" dirty="0">
              <a:latin typeface="Times New Roman" pitchFamily="18" charset="0"/>
              <a:cs typeface="Times New Roman" pitchFamily="18" charset="0"/>
            </a:endParaRPr>
          </a:p>
          <a:p>
            <a:pPr>
              <a:buNone/>
            </a:pPr>
            <a:r>
              <a:rPr lang="en-US" sz="4400" b="1" baseline="-25000" dirty="0">
                <a:solidFill>
                  <a:srgbClr val="FF0000"/>
                </a:solidFill>
                <a:latin typeface="Times New Roman" pitchFamily="18" charset="0"/>
                <a:cs typeface="Times New Roman" pitchFamily="18" charset="0"/>
              </a:rPr>
              <a:t>'X', '5', ';'</a:t>
            </a:r>
            <a:r>
              <a:rPr lang="en-US" b="1" baseline="-25000" dirty="0"/>
              <a:t/>
            </a:r>
            <a:br>
              <a:rPr lang="en-US" b="1" baseline="-25000" dirty="0"/>
            </a:br>
            <a:endParaRPr lang="en-US" b="1" baseline="-25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latin typeface="Times New Roman" pitchFamily="18" charset="0"/>
                <a:cs typeface="Times New Roman" pitchFamily="18" charset="0"/>
              </a:rPr>
              <a:t>String Constant</a:t>
            </a:r>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sz="2400" dirty="0">
                <a:latin typeface="Times New Roman" pitchFamily="18" charset="0"/>
                <a:cs typeface="Times New Roman" pitchFamily="18" charset="0"/>
              </a:rPr>
              <a:t>These are a sequence of characters enclosed in double quotes, and they may include letters, digits, special characters, and blank spaces.</a:t>
            </a:r>
          </a:p>
          <a:p>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 It is again to be noted that </a:t>
            </a:r>
            <a:r>
              <a:rPr lang="en-US" sz="2400" dirty="0">
                <a:solidFill>
                  <a:srgbClr val="FF0000"/>
                </a:solidFill>
                <a:latin typeface="Times New Roman" pitchFamily="18" charset="0"/>
                <a:cs typeface="Times New Roman" pitchFamily="18" charset="0"/>
              </a:rPr>
              <a:t>"</a:t>
            </a:r>
            <a:r>
              <a:rPr lang="en-US" sz="2400" b="1" dirty="0">
                <a:solidFill>
                  <a:srgbClr val="FF0000"/>
                </a:solidFill>
                <a:latin typeface="Times New Roman" pitchFamily="18" charset="0"/>
                <a:cs typeface="Times New Roman" pitchFamily="18" charset="0"/>
              </a:rPr>
              <a:t>G</a:t>
            </a:r>
            <a:r>
              <a:rPr lang="en-US" sz="2400" dirty="0">
                <a:solidFill>
                  <a:srgbClr val="FF0000"/>
                </a:solidFill>
                <a:latin typeface="Times New Roman" pitchFamily="18" charset="0"/>
                <a:cs typeface="Times New Roman" pitchFamily="18" charset="0"/>
              </a:rPr>
              <a:t>"</a:t>
            </a:r>
            <a:r>
              <a:rPr lang="en-US" sz="2400" dirty="0">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and '</a:t>
            </a:r>
            <a:r>
              <a:rPr lang="en-US" sz="2400" b="1" dirty="0">
                <a:solidFill>
                  <a:srgbClr val="FF0000"/>
                </a:solidFill>
                <a:latin typeface="Times New Roman" pitchFamily="18" charset="0"/>
                <a:cs typeface="Times New Roman" pitchFamily="18" charset="0"/>
              </a:rPr>
              <a:t>G</a:t>
            </a:r>
            <a:r>
              <a:rPr lang="en-US" sz="2400" dirty="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are different - because "G" represents a string as it is enclosed within a pair of double quotes where as 'G' represents a single character.</a:t>
            </a:r>
          </a:p>
          <a:p>
            <a:pPr>
              <a:buNone/>
            </a:pPr>
            <a:endParaRPr 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Example:</a:t>
            </a:r>
          </a:p>
          <a:p>
            <a:pPr>
              <a:buNone/>
            </a:pPr>
            <a:endParaRPr lang="en-US" sz="2400" dirty="0">
              <a:latin typeface="Times New Roman" pitchFamily="18" charset="0"/>
              <a:cs typeface="Times New Roman" pitchFamily="18" charset="0"/>
            </a:endParaRPr>
          </a:p>
          <a:p>
            <a:pPr>
              <a:buNone/>
            </a:pPr>
            <a:r>
              <a:rPr lang="en-US" sz="2400" b="1" dirty="0">
                <a:solidFill>
                  <a:srgbClr val="FF0000"/>
                </a:solidFill>
                <a:latin typeface="Times New Roman" pitchFamily="18" charset="0"/>
                <a:cs typeface="Times New Roman" pitchFamily="18" charset="0"/>
              </a:rPr>
              <a:t>"Hello!", "2015", "2+1"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itchFamily="2" charset="2"/>
              <a:buChar char="Ø"/>
            </a:pPr>
            <a:r>
              <a:rPr lang="en-US" sz="2400" dirty="0">
                <a:latin typeface="Times New Roman" pitchFamily="18" charset="0"/>
                <a:cs typeface="Times New Roman" pitchFamily="18" charset="0"/>
              </a:rPr>
              <a:t>C supports some character constants having a backslash in front of it. </a:t>
            </a:r>
          </a:p>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The lists of backslash characters have a specific meaning which is known to the compiler. </a:t>
            </a:r>
          </a:p>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They are also termed as </a:t>
            </a:r>
            <a:r>
              <a:rPr lang="en-US" sz="2400" b="1" dirty="0">
                <a:solidFill>
                  <a:srgbClr val="FF0000"/>
                </a:solidFill>
                <a:latin typeface="Times New Roman" pitchFamily="18" charset="0"/>
                <a:cs typeface="Times New Roman" pitchFamily="18" charset="0"/>
              </a:rPr>
              <a:t>"Escape Sequence</a:t>
            </a:r>
            <a:r>
              <a:rPr lang="en-US" b="1" dirty="0">
                <a:solidFill>
                  <a:srgbClr val="FF0000"/>
                </a:solidFill>
                <a:latin typeface="Times New Roman" pitchFamily="18" charset="0"/>
                <a:cs typeface="Times New Roman" pitchFamily="18" charset="0"/>
              </a:rPr>
              <a:t>".</a:t>
            </a:r>
          </a:p>
          <a:p>
            <a:pPr>
              <a:buFont typeface="Wingdings" pitchFamily="2" charset="2"/>
              <a:buChar char="Ø"/>
            </a:pPr>
            <a:endParaRPr lang="en-US" dirty="0"/>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itchFamily="18" charset="0"/>
                <a:cs typeface="Times New Roman" pitchFamily="18" charset="0"/>
              </a:rPr>
              <a:t>Example:</a:t>
            </a:r>
          </a:p>
        </p:txBody>
      </p:sp>
      <p:pic>
        <p:nvPicPr>
          <p:cNvPr id="1026" name="Picture 2"/>
          <p:cNvPicPr>
            <a:picLocks noGrp="1" noChangeAspect="1" noChangeArrowheads="1"/>
          </p:cNvPicPr>
          <p:nvPr>
            <p:ph idx="1"/>
          </p:nvPr>
        </p:nvPicPr>
        <p:blipFill>
          <a:blip r:embed="rId2"/>
          <a:srcRect/>
          <a:stretch>
            <a:fillRect/>
          </a:stretch>
        </p:blipFill>
        <p:spPr bwMode="auto">
          <a:xfrm>
            <a:off x="457200" y="1447800"/>
            <a:ext cx="8382000" cy="51816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Strings:</a:t>
            </a: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String in C are always represented as an array of characters having null character '\0' at the end of the string. </a:t>
            </a:r>
          </a:p>
          <a:p>
            <a:r>
              <a:rPr lang="en-US" sz="2000" dirty="0">
                <a:latin typeface="Times New Roman" pitchFamily="18" charset="0"/>
                <a:cs typeface="Times New Roman" pitchFamily="18" charset="0"/>
              </a:rPr>
              <a:t>This null character denotes the end of the string. </a:t>
            </a:r>
          </a:p>
          <a:p>
            <a:r>
              <a:rPr lang="en-US" sz="2000" dirty="0">
                <a:latin typeface="Times New Roman" pitchFamily="18" charset="0"/>
                <a:cs typeface="Times New Roman" pitchFamily="18" charset="0"/>
              </a:rPr>
              <a:t>Strings in C are enclosed within double quotes, while characters are enclosed within single characters.</a:t>
            </a:r>
          </a:p>
          <a:p>
            <a:r>
              <a:rPr lang="en-US" sz="2000" dirty="0">
                <a:latin typeface="Times New Roman" pitchFamily="18" charset="0"/>
                <a:cs typeface="Times New Roman" pitchFamily="18" charset="0"/>
              </a:rPr>
              <a:t> The size of a string is a number of characters that the string contains.</a:t>
            </a:r>
          </a:p>
          <a:p>
            <a:r>
              <a:rPr lang="en-US" sz="2000" dirty="0">
                <a:latin typeface="Times New Roman" pitchFamily="18" charset="0"/>
                <a:cs typeface="Times New Roman" pitchFamily="18" charset="0"/>
              </a:rPr>
              <a:t>Now, we describe the strings in different ways:</a:t>
            </a:r>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Ex: char a[10] = "</a:t>
            </a:r>
            <a:r>
              <a:rPr lang="en-US" sz="2000" dirty="0" err="1">
                <a:latin typeface="Times New Roman" pitchFamily="18" charset="0"/>
                <a:cs typeface="Times New Roman" pitchFamily="18" charset="0"/>
              </a:rPr>
              <a:t>javatpoint</a:t>
            </a:r>
            <a:r>
              <a:rPr lang="en-US" sz="2000" dirty="0">
                <a:latin typeface="Times New Roman" pitchFamily="18" charset="0"/>
                <a:cs typeface="Times New Roman" pitchFamily="18" charset="0"/>
              </a:rPr>
              <a:t>"; // The compiler allocates the 10 bytes to the 'a' array.</a:t>
            </a:r>
          </a:p>
          <a:p>
            <a:pPr>
              <a:buNone/>
            </a:pPr>
            <a:r>
              <a:rPr lang="en-US" sz="2000" dirty="0"/>
              <a:t>      char a[10] = {'</a:t>
            </a:r>
            <a:r>
              <a:rPr lang="en-US" sz="2000" dirty="0" err="1"/>
              <a:t>j','a','v','a','t','p','o','i','n','t</a:t>
            </a:r>
            <a:r>
              <a:rPr lang="en-US" sz="2000" dirty="0"/>
              <a:t>','\0'}; // String is represented in the form of characters.</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latin typeface="Times New Roman" pitchFamily="18" charset="0"/>
                <a:cs typeface="Times New Roman" pitchFamily="18" charset="0"/>
              </a:rPr>
              <a:t>Operator</a:t>
            </a: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Operator in c is a special symbol used to perform the functions. The data items on which the operators are applied are known as operands. Operators are applied between the operands.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Depending on the number of operands, operators are classified as follows:</a:t>
            </a:r>
          </a:p>
          <a:p>
            <a:endParaRPr lang="en-US" sz="2000" dirty="0">
              <a:latin typeface="Times New Roman" pitchFamily="18" charset="0"/>
              <a:cs typeface="Times New Roman" pitchFamily="18" charset="0"/>
            </a:endParaRPr>
          </a:p>
          <a:p>
            <a:pPr>
              <a:buNone/>
            </a:pPr>
            <a:r>
              <a:rPr lang="en-US" sz="1800" b="1" dirty="0">
                <a:solidFill>
                  <a:srgbClr val="FF0000"/>
                </a:solidFill>
                <a:latin typeface="Times New Roman" pitchFamily="18" charset="0"/>
                <a:cs typeface="Times New Roman" pitchFamily="18" charset="0"/>
              </a:rPr>
              <a:t>Unary Operator</a:t>
            </a:r>
          </a:p>
          <a:p>
            <a:pPr>
              <a:buNone/>
            </a:pPr>
            <a:endParaRPr lang="en-US" sz="1800" b="1" dirty="0">
              <a:solidFill>
                <a:srgbClr val="FF0000"/>
              </a:solidFill>
              <a:latin typeface="Times New Roman" pitchFamily="18" charset="0"/>
              <a:cs typeface="Times New Roman" pitchFamily="18" charset="0"/>
            </a:endParaRPr>
          </a:p>
          <a:p>
            <a:pPr>
              <a:buNone/>
            </a:pPr>
            <a:r>
              <a:rPr lang="en-US" sz="1800" dirty="0"/>
              <a:t>A unary operator is an operator applied to the single operand. </a:t>
            </a:r>
          </a:p>
          <a:p>
            <a:pPr>
              <a:buNone/>
            </a:pPr>
            <a:r>
              <a:rPr lang="en-US" sz="1800" dirty="0"/>
              <a:t>For example: increment operator (++), decrement operator (--), </a:t>
            </a:r>
            <a:r>
              <a:rPr lang="en-US" sz="1800" dirty="0" err="1"/>
              <a:t>sizeof</a:t>
            </a:r>
            <a:r>
              <a:rPr lang="en-US" sz="1800" dirty="0"/>
              <a:t>, (type)*.</a:t>
            </a:r>
          </a:p>
          <a:p>
            <a:pPr>
              <a:buNone/>
            </a:pPr>
            <a:endParaRPr lang="en-US" sz="1800" dirty="0">
              <a:solidFill>
                <a:srgbClr val="FF0000"/>
              </a:solidFill>
              <a:latin typeface="Times New Roman" pitchFamily="18" charset="0"/>
              <a:cs typeface="Times New Roman" pitchFamily="18" charset="0"/>
            </a:endParaRPr>
          </a:p>
          <a:p>
            <a:pPr>
              <a:buNone/>
            </a:pPr>
            <a:endParaRPr lang="en-US" sz="1800" dirty="0">
              <a:solidFill>
                <a:srgbClr val="FF0000"/>
              </a:solidFill>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2000" b="1" dirty="0">
                <a:solidFill>
                  <a:srgbClr val="FF0000"/>
                </a:solidFill>
                <a:latin typeface="Times New Roman" pitchFamily="18" charset="0"/>
                <a:cs typeface="Times New Roman" pitchFamily="18" charset="0"/>
              </a:rPr>
              <a:t>     Binary Operator</a:t>
            </a:r>
          </a:p>
          <a:p>
            <a:pPr>
              <a:buNone/>
            </a:pPr>
            <a:endParaRPr lang="en-US" sz="2000" b="1" dirty="0">
              <a:solidFill>
                <a:srgbClr val="FF0000"/>
              </a:solidFill>
              <a:latin typeface="Times New Roman" pitchFamily="18" charset="0"/>
              <a:cs typeface="Times New Roman" pitchFamily="18" charset="0"/>
            </a:endParaRPr>
          </a:p>
          <a:p>
            <a:pPr>
              <a:buNone/>
            </a:pPr>
            <a:r>
              <a:rPr lang="en-US" sz="2000" dirty="0"/>
              <a:t>The binary operator is an operator applied between two operands. The following is the list of the binary operators:</a:t>
            </a:r>
          </a:p>
          <a:p>
            <a:pPr>
              <a:buNone/>
            </a:pPr>
            <a:endParaRPr lang="en-US" sz="2000" dirty="0">
              <a:solidFill>
                <a:srgbClr val="FF0000"/>
              </a:solidFill>
              <a:latin typeface="Times New Roman" pitchFamily="18" charset="0"/>
              <a:cs typeface="Times New Roman" pitchFamily="18" charset="0"/>
            </a:endParaRPr>
          </a:p>
          <a:p>
            <a:r>
              <a:rPr lang="en-US" sz="1800" dirty="0">
                <a:latin typeface="Times New Roman" pitchFamily="18" charset="0"/>
                <a:cs typeface="Times New Roman" pitchFamily="18" charset="0"/>
              </a:rPr>
              <a:t>Arithmetic Operators</a:t>
            </a:r>
          </a:p>
          <a:p>
            <a:r>
              <a:rPr lang="en-US" sz="1800" dirty="0">
                <a:latin typeface="Times New Roman" pitchFamily="18" charset="0"/>
                <a:cs typeface="Times New Roman" pitchFamily="18" charset="0"/>
              </a:rPr>
              <a:t>Relational Operators</a:t>
            </a:r>
          </a:p>
          <a:p>
            <a:r>
              <a:rPr lang="en-US" sz="1800" dirty="0">
                <a:latin typeface="Times New Roman" pitchFamily="18" charset="0"/>
                <a:cs typeface="Times New Roman" pitchFamily="18" charset="0"/>
              </a:rPr>
              <a:t>Shift Operators</a:t>
            </a:r>
          </a:p>
          <a:p>
            <a:r>
              <a:rPr lang="en-US" sz="1800" dirty="0">
                <a:latin typeface="Times New Roman" pitchFamily="18" charset="0"/>
                <a:cs typeface="Times New Roman" pitchFamily="18" charset="0"/>
              </a:rPr>
              <a:t>Logical Operators</a:t>
            </a:r>
          </a:p>
          <a:p>
            <a:r>
              <a:rPr lang="en-US" sz="1800" dirty="0">
                <a:latin typeface="Times New Roman" pitchFamily="18" charset="0"/>
                <a:cs typeface="Times New Roman" pitchFamily="18" charset="0"/>
              </a:rPr>
              <a:t>Bitwise Operators</a:t>
            </a:r>
          </a:p>
          <a:p>
            <a:r>
              <a:rPr lang="en-US" sz="1800" dirty="0">
                <a:latin typeface="Times New Roman" pitchFamily="18" charset="0"/>
                <a:cs typeface="Times New Roman" pitchFamily="18" charset="0"/>
              </a:rPr>
              <a:t>Conditional Operators</a:t>
            </a:r>
          </a:p>
          <a:p>
            <a:r>
              <a:rPr lang="en-US" sz="1800" dirty="0">
                <a:latin typeface="Times New Roman" pitchFamily="18" charset="0"/>
                <a:cs typeface="Times New Roman" pitchFamily="18" charset="0"/>
              </a:rPr>
              <a:t>Assignment Operator</a:t>
            </a:r>
          </a:p>
          <a:p>
            <a:r>
              <a:rPr lang="en-US" sz="1800" dirty="0">
                <a:latin typeface="Times New Roman" pitchFamily="18" charset="0"/>
                <a:cs typeface="Times New Roman" pitchFamily="18" charset="0"/>
              </a:rPr>
              <a:t>Misc Operator</a:t>
            </a:r>
          </a:p>
          <a:p>
            <a:pPr>
              <a:buNone/>
            </a:pPr>
            <a:endParaRPr lang="en-US" sz="2000" dirty="0">
              <a:solidFill>
                <a:srgbClr val="FF0000"/>
              </a:solidFill>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FF0000"/>
                </a:solidFill>
                <a:latin typeface="Times New Roman" pitchFamily="18" charset="0"/>
                <a:cs typeface="Times New Roman" pitchFamily="18" charset="0"/>
              </a:rPr>
              <a:t>Special characters in C</a:t>
            </a:r>
            <a:endParaRPr lang="en-US" sz="24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buFont typeface="Wingdings" pitchFamily="2" charset="2"/>
              <a:buChar char="Ø"/>
            </a:pPr>
            <a:r>
              <a:rPr lang="en-US" sz="3600" b="1" dirty="0">
                <a:latin typeface="Times New Roman" pitchFamily="18" charset="0"/>
                <a:cs typeface="Times New Roman" pitchFamily="18" charset="0"/>
              </a:rPr>
              <a:t>   </a:t>
            </a:r>
            <a:r>
              <a:rPr lang="en-US" sz="3300" b="1" dirty="0">
                <a:latin typeface="Times New Roman" pitchFamily="18" charset="0"/>
                <a:cs typeface="Times New Roman" pitchFamily="18" charset="0"/>
              </a:rPr>
              <a:t>Square brackets [ ]:</a:t>
            </a:r>
            <a:r>
              <a:rPr lang="en-US" sz="2900" dirty="0">
                <a:latin typeface="Times New Roman" pitchFamily="18" charset="0"/>
                <a:cs typeface="Times New Roman" pitchFamily="18" charset="0"/>
              </a:rPr>
              <a:t> </a:t>
            </a:r>
            <a:r>
              <a:rPr lang="en-US" sz="3800" dirty="0">
                <a:latin typeface="Times New Roman" pitchFamily="18" charset="0"/>
                <a:cs typeface="Times New Roman" pitchFamily="18" charset="0"/>
              </a:rPr>
              <a:t>The opening and closing brackets represent the single and multidimensional subscripts.</a:t>
            </a:r>
          </a:p>
          <a:p>
            <a:endParaRPr lang="en-US" sz="3800" dirty="0">
              <a:latin typeface="Times New Roman" pitchFamily="18" charset="0"/>
              <a:cs typeface="Times New Roman" pitchFamily="18" charset="0"/>
            </a:endParaRPr>
          </a:p>
          <a:p>
            <a:pPr>
              <a:buFont typeface="Wingdings" pitchFamily="2" charset="2"/>
              <a:buChar char="Ø"/>
            </a:pPr>
            <a:r>
              <a:rPr lang="en-US" sz="3800" dirty="0">
                <a:latin typeface="Times New Roman" pitchFamily="18" charset="0"/>
                <a:cs typeface="Times New Roman" pitchFamily="18" charset="0"/>
              </a:rPr>
              <a:t> </a:t>
            </a:r>
            <a:r>
              <a:rPr lang="en-US" sz="3300" b="1" dirty="0">
                <a:latin typeface="Times New Roman" pitchFamily="18" charset="0"/>
                <a:cs typeface="Times New Roman" pitchFamily="18" charset="0"/>
              </a:rPr>
              <a:t>Simple brackets ( ):</a:t>
            </a:r>
            <a:r>
              <a:rPr lang="en-US" sz="3800" dirty="0">
                <a:latin typeface="Times New Roman" pitchFamily="18" charset="0"/>
                <a:cs typeface="Times New Roman" pitchFamily="18" charset="0"/>
              </a:rPr>
              <a:t> It is used in function declaration and function calling. For example, </a:t>
            </a:r>
            <a:r>
              <a:rPr lang="en-US" sz="3800" dirty="0" err="1">
                <a:latin typeface="Times New Roman" pitchFamily="18" charset="0"/>
                <a:cs typeface="Times New Roman" pitchFamily="18" charset="0"/>
              </a:rPr>
              <a:t>printf</a:t>
            </a:r>
            <a:r>
              <a:rPr lang="en-US" sz="3800" dirty="0">
                <a:latin typeface="Times New Roman" pitchFamily="18" charset="0"/>
                <a:cs typeface="Times New Roman" pitchFamily="18" charset="0"/>
              </a:rPr>
              <a:t>() is a pre-defined function.</a:t>
            </a:r>
          </a:p>
          <a:p>
            <a:endParaRPr lang="en-US" sz="3800" dirty="0">
              <a:latin typeface="Times New Roman" pitchFamily="18" charset="0"/>
              <a:cs typeface="Times New Roman" pitchFamily="18" charset="0"/>
            </a:endParaRPr>
          </a:p>
          <a:p>
            <a:pPr>
              <a:buFont typeface="Wingdings" pitchFamily="2" charset="2"/>
              <a:buChar char="Ø"/>
            </a:pPr>
            <a:r>
              <a:rPr lang="en-US" sz="3300" b="1" dirty="0">
                <a:latin typeface="Times New Roman" pitchFamily="18" charset="0"/>
                <a:cs typeface="Times New Roman" pitchFamily="18" charset="0"/>
              </a:rPr>
              <a:t>Curly braces { }:</a:t>
            </a:r>
            <a:r>
              <a:rPr lang="en-US" sz="3800" dirty="0">
                <a:latin typeface="Times New Roman" pitchFamily="18" charset="0"/>
                <a:cs typeface="Times New Roman" pitchFamily="18" charset="0"/>
              </a:rPr>
              <a:t> It is used in the opening and closing of the code. It is used in the opening and closing of the loops.</a:t>
            </a:r>
          </a:p>
          <a:p>
            <a:endParaRPr lang="en-US" sz="3800" dirty="0">
              <a:latin typeface="Times New Roman" pitchFamily="18" charset="0"/>
              <a:cs typeface="Times New Roman" pitchFamily="18" charset="0"/>
            </a:endParaRPr>
          </a:p>
          <a:p>
            <a:pPr>
              <a:buFont typeface="Wingdings" pitchFamily="2" charset="2"/>
              <a:buChar char="Ø"/>
            </a:pPr>
            <a:r>
              <a:rPr lang="en-US" sz="3300" b="1" dirty="0">
                <a:latin typeface="Times New Roman" pitchFamily="18" charset="0"/>
                <a:cs typeface="Times New Roman" pitchFamily="18" charset="0"/>
              </a:rPr>
              <a:t>Comma (,):</a:t>
            </a:r>
            <a:r>
              <a:rPr lang="en-US" sz="3800" dirty="0">
                <a:latin typeface="Times New Roman" pitchFamily="18" charset="0"/>
                <a:cs typeface="Times New Roman" pitchFamily="18" charset="0"/>
              </a:rPr>
              <a:t> It is used for separating for more than one statement and for example, separating function parameters in a function call, separating the variable when printing the value of more than one variable using a single </a:t>
            </a:r>
            <a:r>
              <a:rPr lang="en-US" sz="3800" dirty="0" err="1">
                <a:latin typeface="Times New Roman" pitchFamily="18" charset="0"/>
                <a:cs typeface="Times New Roman" pitchFamily="18" charset="0"/>
              </a:rPr>
              <a:t>printf</a:t>
            </a:r>
            <a:r>
              <a:rPr lang="en-US" sz="3800" dirty="0">
                <a:latin typeface="Times New Roman" pitchFamily="18" charset="0"/>
                <a:cs typeface="Times New Roman" pitchFamily="18" charset="0"/>
              </a:rPr>
              <a:t> statement.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itchFamily="2" charset="2"/>
              <a:buChar char="Ø"/>
            </a:pPr>
            <a:r>
              <a:rPr lang="en-US" sz="2000" b="1" dirty="0">
                <a:latin typeface="Times New Roman" pitchFamily="18" charset="0"/>
                <a:cs typeface="Times New Roman" pitchFamily="18" charset="0"/>
              </a:rPr>
              <a:t>Hash/pre-processor (#):</a:t>
            </a:r>
            <a:r>
              <a:rPr lang="en-US" sz="2000" dirty="0">
                <a:latin typeface="Times New Roman" pitchFamily="18" charset="0"/>
                <a:cs typeface="Times New Roman" pitchFamily="18" charset="0"/>
              </a:rPr>
              <a:t> It is used for pre-processor directive. It basically denotes that we are using the header file.</a:t>
            </a:r>
          </a:p>
          <a:p>
            <a:endParaRPr lang="en-US" sz="2000" dirty="0">
              <a:latin typeface="Times New Roman" pitchFamily="18" charset="0"/>
              <a:cs typeface="Times New Roman" pitchFamily="18" charset="0"/>
            </a:endParaRPr>
          </a:p>
          <a:p>
            <a:pPr>
              <a:buFont typeface="Wingdings" pitchFamily="2" charset="2"/>
              <a:buChar char="Ø"/>
            </a:pPr>
            <a:r>
              <a:rPr lang="en-US" sz="2000" b="1" dirty="0">
                <a:latin typeface="Times New Roman" pitchFamily="18" charset="0"/>
                <a:cs typeface="Times New Roman" pitchFamily="18" charset="0"/>
              </a:rPr>
              <a:t>Asterisk (*):</a:t>
            </a:r>
            <a:r>
              <a:rPr lang="en-US" sz="2000" dirty="0">
                <a:latin typeface="Times New Roman" pitchFamily="18" charset="0"/>
                <a:cs typeface="Times New Roman" pitchFamily="18" charset="0"/>
              </a:rPr>
              <a:t> This symbol is used to represent pointers and also used as an operator for multiplication.</a:t>
            </a:r>
          </a:p>
          <a:p>
            <a:endParaRPr lang="en-US" sz="2000" dirty="0">
              <a:latin typeface="Times New Roman" pitchFamily="18" charset="0"/>
              <a:cs typeface="Times New Roman" pitchFamily="18" charset="0"/>
            </a:endParaRPr>
          </a:p>
          <a:p>
            <a:pPr>
              <a:buFont typeface="Wingdings" pitchFamily="2" charset="2"/>
              <a:buChar char="Ø"/>
            </a:pPr>
            <a:r>
              <a:rPr lang="en-US" sz="2000" b="1" dirty="0">
                <a:latin typeface="Times New Roman" pitchFamily="18" charset="0"/>
                <a:cs typeface="Times New Roman" pitchFamily="18" charset="0"/>
              </a:rPr>
              <a:t>       Tilde (~):</a:t>
            </a:r>
            <a:r>
              <a:rPr lang="en-US" sz="2000" dirty="0">
                <a:latin typeface="Times New Roman" pitchFamily="18" charset="0"/>
                <a:cs typeface="Times New Roman" pitchFamily="18" charset="0"/>
              </a:rPr>
              <a:t> It is used as a destructor to free memory.</a:t>
            </a:r>
          </a:p>
          <a:p>
            <a:pPr>
              <a:buNone/>
            </a:pPr>
            <a:endParaRPr lang="en-US" sz="2000" dirty="0">
              <a:latin typeface="Times New Roman" pitchFamily="18" charset="0"/>
              <a:cs typeface="Times New Roman" pitchFamily="18" charset="0"/>
            </a:endParaRPr>
          </a:p>
          <a:p>
            <a:pPr>
              <a:buFont typeface="Wingdings" pitchFamily="2" charset="2"/>
              <a:buChar char="Ø"/>
            </a:pPr>
            <a:r>
              <a:rPr lang="en-US" sz="2000" b="1" dirty="0">
                <a:latin typeface="Times New Roman" pitchFamily="18" charset="0"/>
                <a:cs typeface="Times New Roman" pitchFamily="18" charset="0"/>
              </a:rPr>
              <a:t>Period (.):</a:t>
            </a:r>
            <a:r>
              <a:rPr lang="en-US" sz="2000" dirty="0">
                <a:latin typeface="Times New Roman" pitchFamily="18" charset="0"/>
                <a:cs typeface="Times New Roman" pitchFamily="18" charset="0"/>
              </a:rPr>
              <a:t> It is used to access a member of a structure or a union</a:t>
            </a:r>
          </a:p>
          <a:p>
            <a:endParaRPr lang="en-US" sz="2000" dirty="0">
              <a:latin typeface="Times New Roman" pitchFamily="18" charset="0"/>
              <a:cs typeface="Times New Roman" pitchFamily="18" charset="0"/>
            </a:endParaRP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Operator in c is a special symbol used to perform the functions. The data items on which the operators are applied are known as operands. Operators are applied between the operands.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Depending on the number of operands, operators are classified as follows:</a:t>
            </a:r>
          </a:p>
          <a:p>
            <a:endParaRPr lang="en-US" sz="2000" dirty="0">
              <a:latin typeface="Times New Roman" pitchFamily="18" charset="0"/>
              <a:cs typeface="Times New Roman" pitchFamily="18" charset="0"/>
            </a:endParaRPr>
          </a:p>
          <a:p>
            <a:pPr>
              <a:buNone/>
            </a:pPr>
            <a:r>
              <a:rPr lang="en-US" sz="1800" b="1" dirty="0">
                <a:solidFill>
                  <a:srgbClr val="FF0000"/>
                </a:solidFill>
                <a:latin typeface="Times New Roman" pitchFamily="18" charset="0"/>
                <a:cs typeface="Times New Roman" pitchFamily="18" charset="0"/>
              </a:rPr>
              <a:t>Unary Operator</a:t>
            </a:r>
          </a:p>
          <a:p>
            <a:pPr>
              <a:buNone/>
            </a:pPr>
            <a:endParaRPr lang="en-US" sz="1800" b="1" dirty="0">
              <a:solidFill>
                <a:srgbClr val="FF0000"/>
              </a:solidFill>
              <a:latin typeface="Times New Roman" pitchFamily="18" charset="0"/>
              <a:cs typeface="Times New Roman" pitchFamily="18" charset="0"/>
            </a:endParaRPr>
          </a:p>
          <a:p>
            <a:pPr>
              <a:buNone/>
            </a:pPr>
            <a:r>
              <a:rPr lang="en-US" sz="1800" dirty="0"/>
              <a:t>A unary operator is an operator applied to the single operand. </a:t>
            </a:r>
          </a:p>
          <a:p>
            <a:pPr>
              <a:buNone/>
            </a:pPr>
            <a:r>
              <a:rPr lang="en-US" sz="1800" dirty="0"/>
              <a:t>For example: increment operator (++)</a:t>
            </a:r>
          </a:p>
          <a:p>
            <a:pPr>
              <a:buNone/>
            </a:pPr>
            <a:r>
              <a:rPr lang="en-US" sz="1800" dirty="0"/>
              <a:t>                       decrement operator (--)</a:t>
            </a:r>
          </a:p>
          <a:p>
            <a:pPr>
              <a:buNone/>
            </a:pPr>
            <a:r>
              <a:rPr lang="en-US" sz="1800" dirty="0"/>
              <a:t>                        </a:t>
            </a:r>
            <a:r>
              <a:rPr lang="en-US" sz="1800" dirty="0" err="1"/>
              <a:t>sizeof</a:t>
            </a:r>
            <a:r>
              <a:rPr lang="en-US" sz="1800" dirty="0"/>
              <a:t>, (type)*.</a:t>
            </a:r>
          </a:p>
          <a:p>
            <a:pPr>
              <a:buNone/>
            </a:pPr>
            <a:endParaRPr lang="en-US" sz="1800" dirty="0">
              <a:solidFill>
                <a:srgbClr val="FF0000"/>
              </a:solidFill>
              <a:latin typeface="Times New Roman" pitchFamily="18" charset="0"/>
              <a:cs typeface="Times New Roman" pitchFamily="18" charset="0"/>
            </a:endParaRPr>
          </a:p>
          <a:p>
            <a:pPr>
              <a:buNone/>
            </a:pPr>
            <a:endParaRPr lang="en-US" sz="1800" dirty="0">
              <a:solidFill>
                <a:srgbClr val="FF0000"/>
              </a:solidFill>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itchFamily="18" charset="0"/>
                <a:cs typeface="Times New Roman" pitchFamily="18" charset="0"/>
              </a:rPr>
              <a:t>Operator</a:t>
            </a:r>
            <a:endParaRPr lang="en-US" dirty="0"/>
          </a:p>
        </p:txBody>
      </p:sp>
      <p:sp>
        <p:nvSpPr>
          <p:cNvPr id="3" name="Content Placeholder 2"/>
          <p:cNvSpPr>
            <a:spLocks noGrp="1"/>
          </p:cNvSpPr>
          <p:nvPr>
            <p:ph idx="1"/>
          </p:nvPr>
        </p:nvSpPr>
        <p:spPr/>
        <p:txBody>
          <a:bodyPr>
            <a:normAutofit/>
          </a:bodyPr>
          <a:lstStyle/>
          <a:p>
            <a:pPr>
              <a:buNone/>
            </a:pPr>
            <a:r>
              <a:rPr lang="en-US" sz="2000" b="1" dirty="0">
                <a:solidFill>
                  <a:srgbClr val="FF0000"/>
                </a:solidFill>
                <a:latin typeface="Times New Roman" pitchFamily="18" charset="0"/>
                <a:cs typeface="Times New Roman" pitchFamily="18" charset="0"/>
              </a:rPr>
              <a:t>     Binary Operator</a:t>
            </a:r>
          </a:p>
          <a:p>
            <a:pPr>
              <a:buNone/>
            </a:pPr>
            <a:endParaRPr lang="en-US" sz="2000" b="1" dirty="0">
              <a:solidFill>
                <a:srgbClr val="FF0000"/>
              </a:solidFill>
              <a:latin typeface="Times New Roman" pitchFamily="18" charset="0"/>
              <a:cs typeface="Times New Roman" pitchFamily="18" charset="0"/>
            </a:endParaRPr>
          </a:p>
          <a:p>
            <a:pPr>
              <a:buNone/>
            </a:pPr>
            <a:r>
              <a:rPr lang="en-US" sz="2000" dirty="0"/>
              <a:t>The binary operator is an operator applied between two operands. The following is the list of the binary operators:</a:t>
            </a:r>
          </a:p>
          <a:p>
            <a:pPr>
              <a:buNone/>
            </a:pPr>
            <a:endParaRPr lang="en-US" sz="2000" dirty="0">
              <a:solidFill>
                <a:srgbClr val="FF0000"/>
              </a:solidFill>
              <a:latin typeface="Times New Roman" pitchFamily="18" charset="0"/>
              <a:cs typeface="Times New Roman" pitchFamily="18" charset="0"/>
            </a:endParaRPr>
          </a:p>
          <a:p>
            <a:r>
              <a:rPr lang="en-US" sz="1800" dirty="0">
                <a:latin typeface="Times New Roman" pitchFamily="18" charset="0"/>
                <a:cs typeface="Times New Roman" pitchFamily="18" charset="0"/>
              </a:rPr>
              <a:t>Arithmetic Operators</a:t>
            </a:r>
          </a:p>
          <a:p>
            <a:r>
              <a:rPr lang="en-US" sz="1800" dirty="0">
                <a:latin typeface="Times New Roman" pitchFamily="18" charset="0"/>
                <a:cs typeface="Times New Roman" pitchFamily="18" charset="0"/>
              </a:rPr>
              <a:t>Relational Operators</a:t>
            </a:r>
          </a:p>
          <a:p>
            <a:r>
              <a:rPr lang="en-US" sz="1800" dirty="0">
                <a:latin typeface="Times New Roman" pitchFamily="18" charset="0"/>
                <a:cs typeface="Times New Roman" pitchFamily="18" charset="0"/>
              </a:rPr>
              <a:t>Shift Operators</a:t>
            </a:r>
          </a:p>
          <a:p>
            <a:r>
              <a:rPr lang="en-US" sz="1800" dirty="0">
                <a:latin typeface="Times New Roman" pitchFamily="18" charset="0"/>
                <a:cs typeface="Times New Roman" pitchFamily="18" charset="0"/>
              </a:rPr>
              <a:t>Logical Operators</a:t>
            </a:r>
          </a:p>
          <a:p>
            <a:r>
              <a:rPr lang="en-US" sz="1800" dirty="0">
                <a:latin typeface="Times New Roman" pitchFamily="18" charset="0"/>
                <a:cs typeface="Times New Roman" pitchFamily="18" charset="0"/>
              </a:rPr>
              <a:t>Bitwise Operators</a:t>
            </a:r>
          </a:p>
          <a:p>
            <a:r>
              <a:rPr lang="en-US" sz="1800" dirty="0">
                <a:latin typeface="Times New Roman" pitchFamily="18" charset="0"/>
                <a:cs typeface="Times New Roman" pitchFamily="18" charset="0"/>
              </a:rPr>
              <a:t>Conditional Operators</a:t>
            </a:r>
          </a:p>
          <a:p>
            <a:r>
              <a:rPr lang="en-US" sz="1800" dirty="0">
                <a:latin typeface="Times New Roman" pitchFamily="18" charset="0"/>
                <a:cs typeface="Times New Roman" pitchFamily="18" charset="0"/>
              </a:rPr>
              <a:t>Assignment Operator</a:t>
            </a:r>
          </a:p>
          <a:p>
            <a:r>
              <a:rPr lang="en-US" sz="1800" dirty="0">
                <a:latin typeface="Times New Roman" pitchFamily="18" charset="0"/>
                <a:cs typeface="Times New Roman" pitchFamily="18" charset="0"/>
              </a:rPr>
              <a:t>Misc Operator</a:t>
            </a:r>
          </a:p>
          <a:p>
            <a:pPr>
              <a:buNone/>
            </a:pPr>
            <a:endParaRPr lang="en-US" sz="2000" dirty="0">
              <a:solidFill>
                <a:srgbClr val="FF0000"/>
              </a:solidFill>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itchFamily="2" charset="2"/>
              <a:buChar char="Ø"/>
            </a:pPr>
            <a:r>
              <a:rPr lang="en-US" sz="2000" dirty="0">
                <a:latin typeface="Times New Roman" pitchFamily="18" charset="0"/>
                <a:cs typeface="Times New Roman" pitchFamily="18" charset="0"/>
              </a:rPr>
              <a:t>Operators are the special symbols in the C programming language, which is used to perform various mathematical and logical operations on the given operands to return the appropriate results. </a:t>
            </a:r>
          </a:p>
          <a:p>
            <a:endParaRPr lang="en-US" sz="2000" dirty="0">
              <a:latin typeface="Times New Roman" pitchFamily="18" charset="0"/>
              <a:cs typeface="Times New Roman" pitchFamily="18" charset="0"/>
            </a:endParaRPr>
          </a:p>
          <a:p>
            <a:pPr>
              <a:buFont typeface="Wingdings" pitchFamily="2" charset="2"/>
              <a:buChar char="Ø"/>
            </a:pPr>
            <a:r>
              <a:rPr lang="en-US" sz="2000" dirty="0">
                <a:latin typeface="Times New Roman" pitchFamily="18" charset="0"/>
                <a:cs typeface="Times New Roman" pitchFamily="18" charset="0"/>
              </a:rPr>
              <a:t>There are various operators in the C programming language such as Arithmetic Operators, Relational Operators, Shift Operators, Logical Operators, Bitwise Operators, Ternary or Conditional Operators, and Assignment Operators. </a:t>
            </a:r>
          </a:p>
          <a:p>
            <a:endParaRPr lang="en-US" sz="2000" dirty="0">
              <a:latin typeface="Times New Roman" pitchFamily="18" charset="0"/>
              <a:cs typeface="Times New Roman" pitchFamily="18" charset="0"/>
            </a:endParaRPr>
          </a:p>
          <a:p>
            <a:pPr>
              <a:buFont typeface="Wingdings" pitchFamily="2" charset="2"/>
              <a:buChar char="Ø"/>
            </a:pPr>
            <a:r>
              <a:rPr lang="en-US" sz="2000" dirty="0">
                <a:latin typeface="Times New Roman" pitchFamily="18" charset="0"/>
                <a:cs typeface="Times New Roman" pitchFamily="18" charset="0"/>
              </a:rPr>
              <a:t>But here, we will understand only the Arithmetic Operator in the C programming language.</a:t>
            </a:r>
          </a:p>
          <a:p>
            <a:pPr>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latin typeface="Times New Roman" pitchFamily="18" charset="0"/>
                <a:cs typeface="Times New Roman" pitchFamily="18" charset="0"/>
              </a:rPr>
              <a:t>C Arithmetic Operators</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An arithmetic operator performs mathematical operations such as addition, subtraction, multiplication, division etc on numerical values (constants and variables).</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381000" y="1219200"/>
            <a:ext cx="8458199" cy="51054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sz="2800" b="1" dirty="0">
                <a:solidFill>
                  <a:srgbClr val="FF0000"/>
                </a:solidFill>
                <a:latin typeface="Times New Roman" pitchFamily="18" charset="0"/>
                <a:cs typeface="Times New Roman" pitchFamily="18" charset="0"/>
              </a:rPr>
              <a:t>//Working of arithmetic operators</a:t>
            </a:r>
          </a:p>
        </p:txBody>
      </p:sp>
      <p:sp>
        <p:nvSpPr>
          <p:cNvPr id="3" name="Content Placeholder 2"/>
          <p:cNvSpPr>
            <a:spLocks noGrp="1"/>
          </p:cNvSpPr>
          <p:nvPr>
            <p:ph idx="1"/>
          </p:nvPr>
        </p:nvSpPr>
        <p:spPr>
          <a:xfrm>
            <a:off x="457200" y="762000"/>
            <a:ext cx="8229600" cy="5943600"/>
          </a:xfrm>
        </p:spPr>
        <p:txBody>
          <a:bodyPr>
            <a:normAutofit/>
          </a:bodyPr>
          <a:lstStyle/>
          <a:p>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stdio.h</a:t>
            </a:r>
            <a:r>
              <a:rPr lang="en-US" sz="2000" dirty="0">
                <a:latin typeface="Times New Roman" pitchFamily="18" charset="0"/>
                <a:cs typeface="Times New Roman" pitchFamily="18" charset="0"/>
              </a:rPr>
              <a:t>&gt;</a:t>
            </a:r>
          </a:p>
          <a:p>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r>
              <a:rPr lang="en-US" sz="2000" dirty="0">
                <a:latin typeface="Times New Roman" pitchFamily="18" charset="0"/>
                <a:cs typeface="Times New Roman" pitchFamily="18" charset="0"/>
              </a:rPr>
              <a:t>{</a:t>
            </a:r>
          </a:p>
          <a:p>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 = 9,b = 4, c;</a:t>
            </a:r>
          </a:p>
          <a:p>
            <a:r>
              <a:rPr lang="pt-BR" sz="2000" dirty="0">
                <a:latin typeface="Times New Roman" pitchFamily="18" charset="0"/>
                <a:cs typeface="Times New Roman" pitchFamily="18" charset="0"/>
              </a:rPr>
              <a:t>c = a+b; </a:t>
            </a:r>
          </a:p>
          <a:p>
            <a:r>
              <a:rPr lang="pt-BR" sz="2000" dirty="0">
                <a:latin typeface="Times New Roman" pitchFamily="18" charset="0"/>
                <a:cs typeface="Times New Roman" pitchFamily="18" charset="0"/>
              </a:rPr>
              <a:t>printf("a+b = %d \n",c);</a:t>
            </a:r>
          </a:p>
          <a:p>
            <a:r>
              <a:rPr lang="pt-BR" sz="2000" dirty="0">
                <a:latin typeface="Times New Roman" pitchFamily="18" charset="0"/>
                <a:cs typeface="Times New Roman" pitchFamily="18" charset="0"/>
              </a:rPr>
              <a:t>c = a-b; </a:t>
            </a:r>
          </a:p>
          <a:p>
            <a:r>
              <a:rPr lang="pt-BR" sz="2000" dirty="0">
                <a:latin typeface="Times New Roman" pitchFamily="18" charset="0"/>
                <a:cs typeface="Times New Roman" pitchFamily="18" charset="0"/>
              </a:rPr>
              <a:t>printf("a-b = %d \n",c);</a:t>
            </a:r>
          </a:p>
          <a:p>
            <a:r>
              <a:rPr lang="pt-BR" sz="2000" dirty="0">
                <a:latin typeface="Times New Roman" pitchFamily="18" charset="0"/>
                <a:cs typeface="Times New Roman" pitchFamily="18" charset="0"/>
              </a:rPr>
              <a:t>c = a*b; </a:t>
            </a:r>
          </a:p>
          <a:p>
            <a:r>
              <a:rPr lang="pt-BR" sz="2000" dirty="0">
                <a:latin typeface="Times New Roman" pitchFamily="18" charset="0"/>
                <a:cs typeface="Times New Roman" pitchFamily="18" charset="0"/>
              </a:rPr>
              <a:t>printf("a*b = %d \n",c);</a:t>
            </a:r>
          </a:p>
          <a:p>
            <a:r>
              <a:rPr lang="pt-BR" sz="2000" dirty="0">
                <a:latin typeface="Times New Roman" pitchFamily="18" charset="0"/>
                <a:cs typeface="Times New Roman" pitchFamily="18" charset="0"/>
              </a:rPr>
              <a:t>c = a/b; </a:t>
            </a:r>
          </a:p>
          <a:p>
            <a:r>
              <a:rPr lang="pt-BR" sz="2000" dirty="0">
                <a:latin typeface="Times New Roman" pitchFamily="18" charset="0"/>
                <a:cs typeface="Times New Roman" pitchFamily="18" charset="0"/>
              </a:rPr>
              <a:t>printf("a/b = %d \n",c);</a:t>
            </a:r>
          </a:p>
          <a:p>
            <a:r>
              <a:rPr lang="en-US" sz="2000" dirty="0">
                <a:latin typeface="Times New Roman" pitchFamily="18" charset="0"/>
                <a:cs typeface="Times New Roman" pitchFamily="18" charset="0"/>
              </a:rPr>
              <a:t>c = </a:t>
            </a:r>
            <a:r>
              <a:rPr lang="en-US" sz="2000" dirty="0" err="1">
                <a:latin typeface="Times New Roman" pitchFamily="18" charset="0"/>
                <a:cs typeface="Times New Roman" pitchFamily="18" charset="0"/>
              </a:rPr>
              <a:t>a%b</a:t>
            </a:r>
            <a:r>
              <a:rPr lang="en-US" sz="2000" dirty="0">
                <a:latin typeface="Times New Roman" pitchFamily="18" charset="0"/>
                <a:cs typeface="Times New Roman" pitchFamily="18" charset="0"/>
              </a:rPr>
              <a:t>; </a:t>
            </a:r>
          </a:p>
          <a:p>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("Remainder when a divided by b = %d \n", c);</a:t>
            </a:r>
          </a:p>
          <a:p>
            <a:r>
              <a:rPr lang="en-US" sz="2000" dirty="0">
                <a:latin typeface="Times New Roman" pitchFamily="18" charset="0"/>
                <a:cs typeface="Times New Roman" pitchFamily="18" charset="0"/>
              </a:rPr>
              <a:t>return 0; </a:t>
            </a:r>
          </a:p>
          <a:p>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endParaRPr lang="pt-BR"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b="1" dirty="0"/>
              <a:t/>
            </a:r>
            <a:br>
              <a:rPr lang="en-US" b="1" dirty="0"/>
            </a:br>
            <a:r>
              <a:rPr lang="en-US" sz="2700" b="1" dirty="0">
                <a:solidFill>
                  <a:srgbClr val="FF0000"/>
                </a:solidFill>
                <a:latin typeface="Times New Roman" pitchFamily="18" charset="0"/>
                <a:cs typeface="Times New Roman" pitchFamily="18" charset="0"/>
              </a:rPr>
              <a:t>C Increment and Decrement Operators</a:t>
            </a:r>
            <a:br>
              <a:rPr lang="en-US" sz="2700" b="1" dirty="0">
                <a:solidFill>
                  <a:srgbClr val="FF0000"/>
                </a:solidFill>
                <a:latin typeface="Times New Roman" pitchFamily="18" charset="0"/>
                <a:cs typeface="Times New Roman" pitchFamily="18" charset="0"/>
              </a:rPr>
            </a:br>
            <a:endParaRPr lang="en-US" sz="27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678363"/>
          </a:xfrm>
        </p:spPr>
        <p:txBody>
          <a:bodyPr>
            <a:normAutofit/>
          </a:bodyPr>
          <a:lstStyle/>
          <a:p>
            <a:r>
              <a:rPr lang="en-US" sz="2400" dirty="0">
                <a:latin typeface="Times New Roman" pitchFamily="18" charset="0"/>
                <a:cs typeface="Times New Roman" pitchFamily="18" charset="0"/>
              </a:rPr>
              <a:t>C programming has two operators increment ++ and decrement -- to change the value of an operand (constant or variable) by 1.</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Increment ++ increases the value by 1 whereas decrement -- decreases the value by 1. These two operators are unary operators, meaning they only operate on a single operand.</a:t>
            </a:r>
          </a:p>
          <a:p>
            <a:pPr>
              <a:buNone/>
            </a:pP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Two types Increment/Decrement Operator</a:t>
            </a:r>
          </a:p>
          <a:p>
            <a:r>
              <a:rPr lang="en-US" sz="2400" dirty="0">
                <a:latin typeface="Times New Roman" pitchFamily="18" charset="0"/>
                <a:cs typeface="Times New Roman" pitchFamily="18" charset="0"/>
              </a:rPr>
              <a:t>Pre Increment/Pre Decrement.</a:t>
            </a:r>
          </a:p>
          <a:p>
            <a:r>
              <a:rPr lang="en-US" sz="2400" dirty="0">
                <a:latin typeface="Times New Roman" pitchFamily="18" charset="0"/>
                <a:cs typeface="Times New Roman" pitchFamily="18" charset="0"/>
              </a:rPr>
              <a:t>Post Increment/Post decrement.</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Times New Roman" pitchFamily="18" charset="0"/>
                <a:cs typeface="Times New Roman" pitchFamily="18" charset="0"/>
              </a:rPr>
              <a:t>Pre-increment </a:t>
            </a:r>
          </a:p>
        </p:txBody>
      </p:sp>
      <p:sp>
        <p:nvSpPr>
          <p:cNvPr id="3" name="Content Placeholder 2"/>
          <p:cNvSpPr>
            <a:spLocks noGrp="1"/>
          </p:cNvSpPr>
          <p:nvPr>
            <p:ph idx="1"/>
          </p:nvPr>
        </p:nvSpPr>
        <p:spPr/>
        <p:txBody>
          <a:bodyPr>
            <a:normAutofit/>
          </a:bodyPr>
          <a:lstStyle/>
          <a:p>
            <a:r>
              <a:rPr lang="en-US" sz="2400" b="1" dirty="0">
                <a:solidFill>
                  <a:srgbClr val="FF0000"/>
                </a:solidFill>
                <a:latin typeface="Times New Roman" pitchFamily="18" charset="0"/>
                <a:cs typeface="Times New Roman" pitchFamily="18" charset="0"/>
              </a:rPr>
              <a:t>Pre-increment operator</a:t>
            </a:r>
            <a:r>
              <a:rPr lang="en-US" sz="2400" dirty="0">
                <a:latin typeface="Times New Roman" pitchFamily="18" charset="0"/>
                <a:cs typeface="Times New Roman" pitchFamily="18" charset="0"/>
              </a:rPr>
              <a:t>: A pre-increment operator is used to increment the value of a variable before using it in a expression. In the Pre-Increment, value is first incremented and then used inside the expression.</a:t>
            </a:r>
          </a:p>
          <a:p>
            <a:endParaRPr lang="en-US" sz="2400" dirty="0">
              <a:latin typeface="Times New Roman" pitchFamily="18" charset="0"/>
              <a:cs typeface="Times New Roman" pitchFamily="18" charset="0"/>
            </a:endParaRPr>
          </a:p>
          <a:p>
            <a:pPr fontAlgn="base">
              <a:buNone/>
            </a:pPr>
            <a:r>
              <a:rPr lang="en-US" sz="2400" b="1" dirty="0"/>
              <a:t>Syntax:</a:t>
            </a:r>
            <a:r>
              <a:rPr lang="en-US" sz="2400" dirty="0"/>
              <a:t> </a:t>
            </a:r>
            <a:br>
              <a:rPr lang="en-US" sz="2400" dirty="0"/>
            </a:br>
            <a:r>
              <a:rPr lang="en-US" sz="2400" dirty="0"/>
              <a:t> </a:t>
            </a:r>
          </a:p>
          <a:p>
            <a:pPr fontAlgn="base"/>
            <a:r>
              <a:rPr lang="en-US" sz="2400" dirty="0"/>
              <a:t>a = ++x; Here, if the value of ‘x’ is 10 then value of ‘a’ will be 11 because the value of ‘x’ gets modified before using it in the expression.</a:t>
            </a:r>
          </a:p>
          <a:p>
            <a:endParaRPr lang="en-US" sz="24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62500" lnSpcReduction="20000"/>
          </a:bodyPr>
          <a:lstStyle/>
          <a:p>
            <a:pPr>
              <a:buNone/>
            </a:pPr>
            <a:r>
              <a:rPr lang="en-US" sz="3400" b="1" dirty="0">
                <a:solidFill>
                  <a:srgbClr val="FF0000"/>
                </a:solidFill>
                <a:latin typeface="Times New Roman" pitchFamily="18" charset="0"/>
                <a:cs typeface="Times New Roman" pitchFamily="18" charset="0"/>
              </a:rPr>
              <a:t>Example:</a:t>
            </a:r>
          </a:p>
          <a:p>
            <a:pPr>
              <a:buNone/>
            </a:pPr>
            <a:endParaRPr lang="en-US" dirty="0"/>
          </a:p>
          <a:p>
            <a:pPr>
              <a:buNone/>
            </a:pPr>
            <a:r>
              <a:rPr lang="en-US" dirty="0"/>
              <a:t>#include &lt;</a:t>
            </a:r>
            <a:r>
              <a:rPr lang="en-US" dirty="0" err="1"/>
              <a:t>stdio.h</a:t>
            </a:r>
            <a:r>
              <a:rPr lang="en-US" dirty="0"/>
              <a:t>&gt;  </a:t>
            </a:r>
          </a:p>
          <a:p>
            <a:pPr>
              <a:buNone/>
            </a:pPr>
            <a:r>
              <a:rPr lang="en-US" dirty="0"/>
              <a:t>#include &lt;</a:t>
            </a:r>
            <a:r>
              <a:rPr lang="en-US" dirty="0" err="1"/>
              <a:t>conio.h</a:t>
            </a:r>
            <a:r>
              <a:rPr lang="en-US" dirty="0"/>
              <a:t>&gt;  </a:t>
            </a:r>
          </a:p>
          <a:p>
            <a:pPr>
              <a:buNone/>
            </a:pPr>
            <a:r>
              <a:rPr lang="en-US" b="1" dirty="0" err="1"/>
              <a:t>int</a:t>
            </a:r>
            <a:r>
              <a:rPr lang="en-US" dirty="0"/>
              <a:t> main ()  </a:t>
            </a:r>
          </a:p>
          <a:p>
            <a:pPr>
              <a:buNone/>
            </a:pPr>
            <a:r>
              <a:rPr lang="en-US" dirty="0"/>
              <a:t>{  </a:t>
            </a:r>
          </a:p>
          <a:p>
            <a:pPr>
              <a:buNone/>
            </a:pPr>
            <a:r>
              <a:rPr lang="en-US" b="1" dirty="0" err="1"/>
              <a:t>int</a:t>
            </a:r>
            <a:r>
              <a:rPr lang="en-US" dirty="0"/>
              <a:t> a = 7;  </a:t>
            </a:r>
          </a:p>
          <a:p>
            <a:pPr>
              <a:buNone/>
            </a:pPr>
            <a:r>
              <a:rPr lang="en-US" b="1" dirty="0" err="1"/>
              <a:t>int</a:t>
            </a:r>
            <a:r>
              <a:rPr lang="en-US" dirty="0"/>
              <a:t> b = 2  </a:t>
            </a:r>
          </a:p>
          <a:p>
            <a:pPr>
              <a:buNone/>
            </a:pPr>
            <a:r>
              <a:rPr lang="en-US" dirty="0"/>
              <a:t> </a:t>
            </a:r>
            <a:r>
              <a:rPr lang="en-US" dirty="0" err="1"/>
              <a:t>printf</a:t>
            </a:r>
            <a:r>
              <a:rPr lang="en-US" dirty="0"/>
              <a:t> (" Use the pre-increment operator " );  </a:t>
            </a:r>
          </a:p>
          <a:p>
            <a:pPr>
              <a:buNone/>
            </a:pPr>
            <a:r>
              <a:rPr lang="en-US" dirty="0" err="1"/>
              <a:t>printf</a:t>
            </a:r>
            <a:r>
              <a:rPr lang="en-US" dirty="0"/>
              <a:t> (" The value of a is %d ", a);  </a:t>
            </a:r>
          </a:p>
          <a:p>
            <a:pPr>
              <a:buNone/>
            </a:pPr>
            <a:r>
              <a:rPr lang="en-US" dirty="0" err="1"/>
              <a:t>printf</a:t>
            </a:r>
            <a:r>
              <a:rPr lang="en-US" dirty="0"/>
              <a:t> (" The value of b is %d ", b);  </a:t>
            </a:r>
          </a:p>
          <a:p>
            <a:pPr>
              <a:buNone/>
            </a:pPr>
            <a:r>
              <a:rPr lang="en-US" dirty="0"/>
              <a:t>b = ++a;  </a:t>
            </a:r>
          </a:p>
          <a:p>
            <a:pPr>
              <a:buNone/>
            </a:pPr>
            <a:r>
              <a:rPr lang="en-US" dirty="0" err="1"/>
              <a:t>printf</a:t>
            </a:r>
            <a:r>
              <a:rPr lang="en-US" dirty="0"/>
              <a:t> (" After using the pre-increment operator ");  </a:t>
            </a:r>
          </a:p>
          <a:p>
            <a:pPr>
              <a:buNone/>
            </a:pPr>
            <a:r>
              <a:rPr lang="en-US" dirty="0" err="1"/>
              <a:t>printf</a:t>
            </a:r>
            <a:r>
              <a:rPr lang="en-US" dirty="0"/>
              <a:t> (" The value of a is %d ", a);  </a:t>
            </a:r>
          </a:p>
          <a:p>
            <a:pPr>
              <a:buNone/>
            </a:pPr>
            <a:r>
              <a:rPr lang="en-US" dirty="0" err="1"/>
              <a:t>printf</a:t>
            </a:r>
            <a:r>
              <a:rPr lang="en-US" dirty="0"/>
              <a:t> (" The value of b is %d ", b);  </a:t>
            </a:r>
          </a:p>
          <a:p>
            <a:pPr>
              <a:buNone/>
            </a:pPr>
            <a:r>
              <a:rPr lang="en-US" b="1" dirty="0"/>
              <a:t>return</a:t>
            </a:r>
            <a:r>
              <a:rPr lang="en-US" dirty="0"/>
              <a:t> 0;  </a:t>
            </a:r>
          </a:p>
          <a:p>
            <a:pPr>
              <a:buNone/>
            </a:pPr>
            <a:r>
              <a:rPr lang="en-US" dirty="0"/>
              <a:t>}       </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r>
              <a:rPr lang="en-US" sz="2700" b="1" dirty="0">
                <a:solidFill>
                  <a:srgbClr val="FF0000"/>
                </a:solidFill>
                <a:latin typeface="Times New Roman" pitchFamily="18" charset="0"/>
                <a:cs typeface="Times New Roman" pitchFamily="18" charset="0"/>
              </a:rPr>
              <a:t>Example 2: Increment and Decrement Operators</a:t>
            </a:r>
            <a:br>
              <a:rPr lang="en-US" sz="2700" b="1" dirty="0">
                <a:solidFill>
                  <a:srgbClr val="FF0000"/>
                </a:solidFill>
                <a:latin typeface="Times New Roman" pitchFamily="18" charset="0"/>
                <a:cs typeface="Times New Roman" pitchFamily="18" charset="0"/>
              </a:rPr>
            </a:br>
            <a:endParaRPr lang="en-US" sz="27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#include &lt;</a:t>
            </a:r>
            <a:r>
              <a:rPr lang="en-US" sz="2400" dirty="0" err="1">
                <a:latin typeface="Times New Roman" pitchFamily="18" charset="0"/>
                <a:cs typeface="Times New Roman" pitchFamily="18" charset="0"/>
              </a:rPr>
              <a:t>stdio.h</a:t>
            </a:r>
            <a:r>
              <a:rPr lang="en-US" sz="2400" dirty="0">
                <a:latin typeface="Times New Roman" pitchFamily="18" charset="0"/>
                <a:cs typeface="Times New Roman" pitchFamily="18" charset="0"/>
              </a:rPr>
              <a:t>&gt; </a:t>
            </a:r>
          </a:p>
          <a:p>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main() </a:t>
            </a:r>
          </a:p>
          <a:p>
            <a:r>
              <a:rPr lang="en-US" sz="2400" dirty="0">
                <a:latin typeface="Times New Roman" pitchFamily="18" charset="0"/>
                <a:cs typeface="Times New Roman" pitchFamily="18" charset="0"/>
              </a:rPr>
              <a:t>{ </a:t>
            </a:r>
          </a:p>
          <a:p>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a = 10, b = 100; float c = 10.5, d = 100.5; </a:t>
            </a:r>
          </a:p>
          <a:p>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("++a = %d \n", ++a); </a:t>
            </a:r>
          </a:p>
          <a:p>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("--b = %d \n", --b);</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("++c = %f \n", ++c); </a:t>
            </a:r>
          </a:p>
          <a:p>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 = %f \n", --d); </a:t>
            </a:r>
          </a:p>
          <a:p>
            <a:r>
              <a:rPr lang="en-US" sz="2400" dirty="0">
                <a:latin typeface="Times New Roman" pitchFamily="18" charset="0"/>
                <a:cs typeface="Times New Roman" pitchFamily="18" charset="0"/>
              </a:rPr>
              <a:t>return 0;</a:t>
            </a:r>
          </a:p>
          <a:p>
            <a:r>
              <a:rPr lang="en-US" sz="2400" dirty="0">
                <a:latin typeface="Times New Roman" pitchFamily="18" charset="0"/>
                <a:cs typeface="Times New Roman" pitchFamily="18" charset="0"/>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a:solidFill>
                  <a:srgbClr val="FF0000"/>
                </a:solidFill>
                <a:latin typeface="Times New Roman" pitchFamily="18" charset="0"/>
                <a:cs typeface="Times New Roman" pitchFamily="18" charset="0"/>
              </a:rPr>
              <a:t>Out-Put</a:t>
            </a:r>
          </a:p>
        </p:txBody>
      </p:sp>
      <p:sp>
        <p:nvSpPr>
          <p:cNvPr id="3" name="Content Placeholder 2"/>
          <p:cNvSpPr>
            <a:spLocks noGrp="1"/>
          </p:cNvSpPr>
          <p:nvPr>
            <p:ph idx="1"/>
          </p:nvPr>
        </p:nvSpPr>
        <p:spPr/>
        <p:txBody>
          <a:bodyPr/>
          <a:lstStyle/>
          <a:p>
            <a:r>
              <a:rPr lang="pt-BR" dirty="0"/>
              <a:t>++a = 11 </a:t>
            </a:r>
          </a:p>
          <a:p>
            <a:r>
              <a:rPr lang="pt-BR" dirty="0"/>
              <a:t>--b = 99 </a:t>
            </a:r>
          </a:p>
          <a:p>
            <a:r>
              <a:rPr lang="pt-BR" dirty="0"/>
              <a:t>++c = 11.500000</a:t>
            </a:r>
          </a:p>
          <a:p>
            <a:r>
              <a:rPr lang="pt-BR" dirty="0"/>
              <a:t> --d = 99.500000</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There are different kinds of the operators, such as arithmetic, relational, bitwise, assignment, etc., in the C programming language.</a:t>
            </a:r>
          </a:p>
          <a:p>
            <a:pPr>
              <a:buNone/>
            </a:pP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The assignment operator is used to assign the value, variable and function to another variable.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Let's discuss the various types of the assignment operators such as =, +=, -=, /=, *= and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a:solidFill>
                  <a:srgbClr val="FF0000"/>
                </a:solidFill>
                <a:latin typeface="Times New Roman" pitchFamily="18" charset="0"/>
                <a:cs typeface="Times New Roman" pitchFamily="18" charset="0"/>
              </a:rPr>
              <a:t/>
            </a:r>
            <a:br>
              <a:rPr lang="en-US" sz="2800" b="1" dirty="0">
                <a:solidFill>
                  <a:srgbClr val="FF0000"/>
                </a:solidFill>
                <a:latin typeface="Times New Roman" pitchFamily="18" charset="0"/>
                <a:cs typeface="Times New Roman" pitchFamily="18" charset="0"/>
              </a:rPr>
            </a:br>
            <a:r>
              <a:rPr lang="en-US" sz="2800" b="1" dirty="0">
                <a:solidFill>
                  <a:srgbClr val="FF0000"/>
                </a:solidFill>
                <a:latin typeface="Times New Roman" pitchFamily="18" charset="0"/>
                <a:cs typeface="Times New Roman" pitchFamily="18" charset="0"/>
              </a:rPr>
              <a:t>Relational Operator in C</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Operators are the special symbols used to perform mathematical and logical operations to the given operands.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There are various types of operators in C, such as arithmetic, logical, bitwise, relational, conditional or ternary, etc.</a:t>
            </a:r>
          </a:p>
          <a:p>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Relational Operators</a:t>
            </a:r>
            <a:r>
              <a:rPr lang="en-US" sz="2000" dirty="0">
                <a:latin typeface="Times New Roman" pitchFamily="18" charset="0"/>
                <a:cs typeface="Times New Roman" pitchFamily="18" charset="0"/>
              </a:rPr>
              <a:t> are the operators used to create a relationship and compare the values of two operands.</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For example, there are two numbers, 5 and 15, and we can get the greatest number using the greater than operator (&gt;) that returns 15 as the greatest or larger number to the 5.</a:t>
            </a:r>
          </a:p>
          <a:p>
            <a:endParaRPr lang="en-US" sz="20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457200" y="762000"/>
            <a:ext cx="8229600" cy="53340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a:solidFill>
                  <a:srgbClr val="FF0000"/>
                </a:solidFill>
                <a:latin typeface="Times New Roman" pitchFamily="18" charset="0"/>
                <a:cs typeface="Times New Roman" pitchFamily="18" charset="0"/>
              </a:rPr>
              <a:t/>
            </a:r>
            <a:br>
              <a:rPr lang="en-US" sz="2800" b="1" dirty="0">
                <a:solidFill>
                  <a:srgbClr val="FF0000"/>
                </a:solidFill>
                <a:latin typeface="Times New Roman" pitchFamily="18" charset="0"/>
                <a:cs typeface="Times New Roman" pitchFamily="18" charset="0"/>
              </a:rPr>
            </a:br>
            <a:r>
              <a:rPr lang="en-US" sz="2800" b="1" dirty="0">
                <a:solidFill>
                  <a:srgbClr val="FF0000"/>
                </a:solidFill>
                <a:latin typeface="Times New Roman" pitchFamily="18" charset="0"/>
                <a:cs typeface="Times New Roman" pitchFamily="18" charset="0"/>
              </a:rPr>
              <a:t>Types of Relational Operators</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US" dirty="0"/>
              <a:t> </a:t>
            </a:r>
            <a:r>
              <a:rPr lang="en-US" sz="2400" dirty="0">
                <a:solidFill>
                  <a:srgbClr val="FF0000"/>
                </a:solidFill>
                <a:latin typeface="Times New Roman" pitchFamily="18" charset="0"/>
                <a:cs typeface="Times New Roman" pitchFamily="18" charset="0"/>
              </a:rPr>
              <a:t>Equal To Operator (==)</a:t>
            </a:r>
          </a:p>
          <a:p>
            <a:endParaRPr lang="en-US" dirty="0"/>
          </a:p>
          <a:p>
            <a:r>
              <a:rPr lang="en-US" sz="2400" dirty="0">
                <a:latin typeface="Times New Roman" pitchFamily="18" charset="0"/>
                <a:cs typeface="Times New Roman" pitchFamily="18" charset="0"/>
              </a:rPr>
              <a:t>It is used to compare both operands and returns 1 if both are equal or the same, and 0 represents the operands that are not equal.</a:t>
            </a:r>
          </a:p>
          <a:p>
            <a:pPr>
              <a:buNone/>
            </a:pPr>
            <a:r>
              <a:rPr lang="en-US" b="1" dirty="0"/>
              <a:t> </a:t>
            </a:r>
          </a:p>
          <a:p>
            <a:pPr>
              <a:buNone/>
            </a:pPr>
            <a:r>
              <a:rPr lang="en-US" sz="2800" b="1" dirty="0">
                <a:solidFill>
                  <a:srgbClr val="00B0F0"/>
                </a:solidFill>
                <a:latin typeface="Times New Roman" pitchFamily="18" charset="0"/>
                <a:cs typeface="Times New Roman" pitchFamily="18" charset="0"/>
              </a:rPr>
              <a:t>Syntax:</a:t>
            </a:r>
            <a:endParaRPr lang="en-US" sz="2800" dirty="0">
              <a:solidFill>
                <a:srgbClr val="00B0F0"/>
              </a:solidFill>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Opr1 == Opr2  </a:t>
            </a:r>
          </a:p>
          <a:p>
            <a:pPr>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Autofit/>
          </a:bodyPr>
          <a:lstStyle/>
          <a:p>
            <a:pPr>
              <a:buNone/>
            </a:pPr>
            <a:r>
              <a:rPr lang="en-US" sz="1400" b="1" dirty="0">
                <a:latin typeface="Times New Roman" pitchFamily="18" charset="0"/>
                <a:cs typeface="Times New Roman" pitchFamily="18" charset="0"/>
              </a:rPr>
              <a:t>Example:</a:t>
            </a:r>
          </a:p>
          <a:p>
            <a:pPr>
              <a:buNone/>
            </a:pPr>
            <a:r>
              <a:rPr lang="en-US" sz="1400" b="1" dirty="0">
                <a:latin typeface="Times New Roman" pitchFamily="18" charset="0"/>
                <a:cs typeface="Times New Roman" pitchFamily="18" charset="0"/>
              </a:rPr>
              <a:t>#include &lt;</a:t>
            </a:r>
            <a:r>
              <a:rPr lang="en-US" sz="1400" b="1" dirty="0" err="1">
                <a:latin typeface="Times New Roman" pitchFamily="18" charset="0"/>
                <a:cs typeface="Times New Roman" pitchFamily="18" charset="0"/>
              </a:rPr>
              <a:t>stdio.h</a:t>
            </a:r>
            <a:r>
              <a:rPr lang="en-US" sz="1400" b="1" dirty="0">
                <a:latin typeface="Times New Roman" pitchFamily="18" charset="0"/>
                <a:cs typeface="Times New Roman" pitchFamily="18" charset="0"/>
              </a:rPr>
              <a:t>&gt;  </a:t>
            </a:r>
          </a:p>
          <a:p>
            <a:pPr>
              <a:buNone/>
            </a:pPr>
            <a:r>
              <a:rPr lang="en-US" sz="1400" b="1" dirty="0">
                <a:latin typeface="Times New Roman" pitchFamily="18" charset="0"/>
                <a:cs typeface="Times New Roman" pitchFamily="18" charset="0"/>
              </a:rPr>
              <a:t>#include &lt;</a:t>
            </a:r>
            <a:r>
              <a:rPr lang="en-US" sz="1400" b="1" dirty="0" err="1">
                <a:latin typeface="Times New Roman" pitchFamily="18" charset="0"/>
                <a:cs typeface="Times New Roman" pitchFamily="18" charset="0"/>
              </a:rPr>
              <a:t>math.h</a:t>
            </a:r>
            <a:r>
              <a:rPr lang="en-US" sz="1400" b="1" dirty="0">
                <a:latin typeface="Times New Roman" pitchFamily="18" charset="0"/>
                <a:cs typeface="Times New Roman" pitchFamily="18" charset="0"/>
              </a:rPr>
              <a:t>&gt;  </a:t>
            </a:r>
          </a:p>
          <a:p>
            <a:pPr>
              <a:buNone/>
            </a:pPr>
            <a:r>
              <a:rPr lang="en-US" sz="1400" b="1" dirty="0" err="1">
                <a:latin typeface="Times New Roman" pitchFamily="18" charset="0"/>
                <a:cs typeface="Times New Roman" pitchFamily="18" charset="0"/>
              </a:rPr>
              <a:t>int</a:t>
            </a:r>
            <a:r>
              <a:rPr lang="en-US" sz="1400" b="1" dirty="0">
                <a:latin typeface="Times New Roman" pitchFamily="18" charset="0"/>
                <a:cs typeface="Times New Roman" pitchFamily="18" charset="0"/>
              </a:rPr>
              <a:t> main ()  </a:t>
            </a:r>
          </a:p>
          <a:p>
            <a:pPr>
              <a:buNone/>
            </a:pPr>
            <a:r>
              <a:rPr lang="en-US" sz="1400" b="1" dirty="0">
                <a:latin typeface="Times New Roman" pitchFamily="18" charset="0"/>
                <a:cs typeface="Times New Roman" pitchFamily="18" charset="0"/>
              </a:rPr>
              <a:t>{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int</a:t>
            </a:r>
            <a:r>
              <a:rPr lang="en-US" sz="1400" b="1" dirty="0">
                <a:latin typeface="Times New Roman" pitchFamily="18" charset="0"/>
                <a:cs typeface="Times New Roman" pitchFamily="18" charset="0"/>
              </a:rPr>
              <a:t> a = 5;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int</a:t>
            </a:r>
            <a:r>
              <a:rPr lang="en-US" sz="1400" b="1" dirty="0">
                <a:latin typeface="Times New Roman" pitchFamily="18" charset="0"/>
                <a:cs typeface="Times New Roman" pitchFamily="18" charset="0"/>
              </a:rPr>
              <a:t> b = 10;  </a:t>
            </a:r>
          </a:p>
          <a:p>
            <a:pPr>
              <a:buNone/>
            </a:pPr>
            <a:r>
              <a:rPr lang="en-US" sz="1400" b="1" dirty="0">
                <a:latin typeface="Times New Roman" pitchFamily="18" charset="0"/>
                <a:cs typeface="Times New Roman" pitchFamily="18" charset="0"/>
              </a:rPr>
              <a:t>                                                              // Use Equal To Operator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 (" a == b : %d", (a == b));  </a:t>
            </a:r>
          </a:p>
          <a:p>
            <a:pPr>
              <a:buNone/>
            </a:pPr>
            <a:r>
              <a:rPr lang="en-US" sz="1400" b="1" dirty="0">
                <a:latin typeface="Times New Roman" pitchFamily="18" charset="0"/>
                <a:cs typeface="Times New Roman" pitchFamily="18" charset="0"/>
              </a:rPr>
              <a:t>    if (a == b)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 ("\n %d is equal to %d", a, b);  </a:t>
            </a:r>
          </a:p>
          <a:p>
            <a:pPr>
              <a:buNone/>
            </a:pPr>
            <a:r>
              <a:rPr lang="en-US" sz="1400" b="1" dirty="0">
                <a:latin typeface="Times New Roman" pitchFamily="18" charset="0"/>
                <a:cs typeface="Times New Roman" pitchFamily="18" charset="0"/>
              </a:rPr>
              <a:t>    else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 (" \n %d is not equal to %d", a, b);  </a:t>
            </a:r>
          </a:p>
          <a:p>
            <a:pPr>
              <a:buNone/>
            </a:pPr>
            <a:r>
              <a:rPr lang="en-US" sz="1400" b="1" dirty="0">
                <a:latin typeface="Times New Roman" pitchFamily="18" charset="0"/>
                <a:cs typeface="Times New Roman" pitchFamily="18" charset="0"/>
              </a:rPr>
              <a:t>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int</a:t>
            </a:r>
            <a:r>
              <a:rPr lang="en-US" sz="1400" b="1" dirty="0">
                <a:latin typeface="Times New Roman" pitchFamily="18" charset="0"/>
                <a:cs typeface="Times New Roman" pitchFamily="18" charset="0"/>
              </a:rPr>
              <a:t> x = 5;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int</a:t>
            </a:r>
            <a:r>
              <a:rPr lang="en-US" sz="1400" b="1" dirty="0">
                <a:latin typeface="Times New Roman" pitchFamily="18" charset="0"/>
                <a:cs typeface="Times New Roman" pitchFamily="18" charset="0"/>
              </a:rPr>
              <a:t> y = 5;  </a:t>
            </a:r>
          </a:p>
          <a:p>
            <a:pPr>
              <a:buNone/>
            </a:pPr>
            <a:r>
              <a:rPr lang="en-US" sz="1400" b="1" dirty="0">
                <a:latin typeface="Times New Roman" pitchFamily="18" charset="0"/>
                <a:cs typeface="Times New Roman" pitchFamily="18" charset="0"/>
              </a:rPr>
              <a:t>      </a:t>
            </a:r>
          </a:p>
          <a:p>
            <a:pPr>
              <a:buNone/>
            </a:pPr>
            <a:r>
              <a:rPr lang="en-US" sz="1400" b="1" dirty="0">
                <a:latin typeface="Times New Roman" pitchFamily="18" charset="0"/>
                <a:cs typeface="Times New Roman" pitchFamily="18" charset="0"/>
              </a:rPr>
              <a:t>                                                                          // Use Equal To Operator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 (" \n x == y : %d", (x == y));  </a:t>
            </a:r>
          </a:p>
          <a:p>
            <a:pPr>
              <a:buNone/>
            </a:pPr>
            <a:r>
              <a:rPr lang="en-US" sz="1400" b="1" dirty="0">
                <a:latin typeface="Times New Roman" pitchFamily="18" charset="0"/>
                <a:cs typeface="Times New Roman" pitchFamily="18" charset="0"/>
              </a:rPr>
              <a:t>    if (a == b)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 (" \n %d is equal to %d", x, y);  </a:t>
            </a:r>
          </a:p>
          <a:p>
            <a:pPr>
              <a:buNone/>
            </a:pPr>
            <a:r>
              <a:rPr lang="en-US" sz="1400" b="1" dirty="0">
                <a:latin typeface="Times New Roman" pitchFamily="18" charset="0"/>
                <a:cs typeface="Times New Roman" pitchFamily="18" charset="0"/>
              </a:rPr>
              <a:t>    else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 ("\n %d is not equal to %d", x, y);  </a:t>
            </a:r>
          </a:p>
          <a:p>
            <a:pPr>
              <a:buNone/>
            </a:pPr>
            <a:r>
              <a:rPr lang="en-US" sz="1400" b="1" dirty="0">
                <a:latin typeface="Times New Roman" pitchFamily="18" charset="0"/>
                <a:cs typeface="Times New Roman" pitchFamily="18" charset="0"/>
              </a:rPr>
              <a:t>    return 0;     </a:t>
            </a:r>
          </a:p>
          <a:p>
            <a:pPr>
              <a:buNone/>
            </a:pPr>
            <a:r>
              <a:rPr lang="en-US" sz="1400" b="1" dirty="0">
                <a:latin typeface="Times New Roman" pitchFamily="18" charset="0"/>
                <a:cs typeface="Times New Roman" pitchFamily="18" charset="0"/>
              </a:rPr>
              <a:t>}     </a:t>
            </a:r>
          </a:p>
          <a:p>
            <a:endParaRPr lang="en-US" sz="1400"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b="1" dirty="0" err="1">
                <a:latin typeface="Times New Roman" pitchFamily="18" charset="0"/>
                <a:cs typeface="Times New Roman" pitchFamily="18" charset="0"/>
              </a:rPr>
              <a:t>OutPut</a:t>
            </a:r>
            <a:r>
              <a:rPr lang="en-US" sz="2400" b="1" dirty="0">
                <a:latin typeface="Times New Roman" pitchFamily="18" charset="0"/>
                <a:cs typeface="Times New Roman" pitchFamily="18" charset="0"/>
              </a:rPr>
              <a:t>:</a:t>
            </a:r>
          </a:p>
          <a:p>
            <a:endParaRPr lang="en-US" dirty="0"/>
          </a:p>
          <a:p>
            <a:pPr>
              <a:buNone/>
            </a:pPr>
            <a:r>
              <a:rPr lang="en-US" sz="2400" dirty="0">
                <a:latin typeface="Times New Roman" pitchFamily="18" charset="0"/>
                <a:cs typeface="Times New Roman" pitchFamily="18" charset="0"/>
              </a:rPr>
              <a:t>a == b : 0 5 is not equal to 10 </a:t>
            </a:r>
          </a:p>
          <a:p>
            <a:endParaRPr 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x == y : 1 5 is not equal to 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200" b="1" dirty="0">
                <a:solidFill>
                  <a:srgbClr val="FF0000"/>
                </a:solidFill>
                <a:latin typeface="Times New Roman" pitchFamily="18" charset="0"/>
                <a:cs typeface="Times New Roman" pitchFamily="18" charset="0"/>
              </a:rPr>
              <a:t>Example on Relational Operator</a:t>
            </a:r>
          </a:p>
        </p:txBody>
      </p:sp>
      <p:sp>
        <p:nvSpPr>
          <p:cNvPr id="3" name="Content Placeholder 2"/>
          <p:cNvSpPr>
            <a:spLocks noGrp="1"/>
          </p:cNvSpPr>
          <p:nvPr>
            <p:ph idx="1"/>
          </p:nvPr>
        </p:nvSpPr>
        <p:spPr>
          <a:xfrm>
            <a:off x="457200" y="1066800"/>
            <a:ext cx="8229600" cy="5791200"/>
          </a:xfrm>
        </p:spPr>
        <p:txBody>
          <a:bodyPr>
            <a:normAutofit fontScale="92500" lnSpcReduction="10000"/>
          </a:bodyPr>
          <a:lstStyle/>
          <a:p>
            <a:pPr>
              <a:buNone/>
            </a:pPr>
            <a:r>
              <a:rPr lang="en-US" sz="2000" b="1" dirty="0">
                <a:latin typeface="Times New Roman" pitchFamily="18" charset="0"/>
                <a:cs typeface="Times New Roman" pitchFamily="18" charset="0"/>
              </a:rPr>
              <a:t>#include &lt;</a:t>
            </a:r>
            <a:r>
              <a:rPr lang="en-US" sz="2000" b="1" dirty="0" err="1">
                <a:latin typeface="Times New Roman" pitchFamily="18" charset="0"/>
                <a:cs typeface="Times New Roman" pitchFamily="18" charset="0"/>
              </a:rPr>
              <a:t>stdio.h</a:t>
            </a:r>
            <a:r>
              <a:rPr lang="en-US" sz="2000" b="1" dirty="0">
                <a:latin typeface="Times New Roman" pitchFamily="18" charset="0"/>
                <a:cs typeface="Times New Roman" pitchFamily="18" charset="0"/>
              </a:rPr>
              <a:t>&gt;</a:t>
            </a:r>
          </a:p>
          <a:p>
            <a:pPr>
              <a:buNone/>
            </a:pP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int</a:t>
            </a:r>
            <a:r>
              <a:rPr lang="en-US" sz="2000" b="1" dirty="0">
                <a:latin typeface="Times New Roman" pitchFamily="18" charset="0"/>
                <a:cs typeface="Times New Roman" pitchFamily="18" charset="0"/>
              </a:rPr>
              <a:t> main()</a:t>
            </a:r>
          </a:p>
          <a:p>
            <a:pPr>
              <a:buNone/>
            </a:pPr>
            <a:r>
              <a:rPr lang="en-US" sz="2000" b="1" dirty="0">
                <a:latin typeface="Times New Roman" pitchFamily="18" charset="0"/>
                <a:cs typeface="Times New Roman" pitchFamily="18" charset="0"/>
              </a:rPr>
              <a:t>{ </a:t>
            </a:r>
          </a:p>
          <a:p>
            <a:pPr>
              <a:buNone/>
            </a:pPr>
            <a:r>
              <a:rPr lang="en-US" sz="2000" b="1" dirty="0" err="1">
                <a:latin typeface="Times New Roman" pitchFamily="18" charset="0"/>
                <a:cs typeface="Times New Roman" pitchFamily="18" charset="0"/>
              </a:rPr>
              <a:t>int</a:t>
            </a:r>
            <a:r>
              <a:rPr lang="en-US" sz="2000" b="1" dirty="0">
                <a:latin typeface="Times New Roman" pitchFamily="18" charset="0"/>
                <a:cs typeface="Times New Roman" pitchFamily="18" charset="0"/>
              </a:rPr>
              <a:t> a = 5, b = 5, c = 10;</a:t>
            </a:r>
          </a:p>
          <a:p>
            <a:pPr>
              <a:buNone/>
            </a:pPr>
            <a:r>
              <a:rPr lang="pt-BR" sz="2000" b="1" dirty="0">
                <a:latin typeface="Times New Roman" pitchFamily="18" charset="0"/>
                <a:cs typeface="Times New Roman" pitchFamily="18" charset="0"/>
              </a:rPr>
              <a:t>printf("%d == %d is %d \n", a, b, a == b); </a:t>
            </a:r>
          </a:p>
          <a:p>
            <a:pPr>
              <a:buNone/>
            </a:pPr>
            <a:r>
              <a:rPr lang="pt-BR" sz="2000" b="1" dirty="0">
                <a:latin typeface="Times New Roman" pitchFamily="18" charset="0"/>
                <a:cs typeface="Times New Roman" pitchFamily="18" charset="0"/>
              </a:rPr>
              <a:t>printf("%d == %d is %d \n", a, c, a == c);</a:t>
            </a:r>
          </a:p>
          <a:p>
            <a:pPr>
              <a:buNone/>
            </a:pPr>
            <a:r>
              <a:rPr lang="pt-BR" sz="2000" b="1" dirty="0">
                <a:latin typeface="Times New Roman" pitchFamily="18" charset="0"/>
                <a:cs typeface="Times New Roman" pitchFamily="18" charset="0"/>
              </a:rPr>
              <a:t>printf("%d &gt; %d is %d \n", a, b, a &gt; b);</a:t>
            </a:r>
          </a:p>
          <a:p>
            <a:pPr>
              <a:buNone/>
            </a:pPr>
            <a:r>
              <a:rPr lang="pt-BR" sz="2000" b="1" dirty="0">
                <a:latin typeface="Times New Roman" pitchFamily="18" charset="0"/>
                <a:cs typeface="Times New Roman" pitchFamily="18" charset="0"/>
              </a:rPr>
              <a:t> printf("%d &gt; %d is %d \n", a, c, a &gt; c);</a:t>
            </a:r>
          </a:p>
          <a:p>
            <a:pPr>
              <a:buNone/>
            </a:pPr>
            <a:r>
              <a:rPr lang="pt-BR" sz="2000" b="1" dirty="0">
                <a:latin typeface="Times New Roman" pitchFamily="18" charset="0"/>
                <a:cs typeface="Times New Roman" pitchFamily="18" charset="0"/>
              </a:rPr>
              <a:t>printf("%d &lt; %d is %d \n", a, b, a &lt; b); </a:t>
            </a:r>
          </a:p>
          <a:p>
            <a:pPr>
              <a:buNone/>
            </a:pPr>
            <a:r>
              <a:rPr lang="pt-BR" sz="2000" b="1" dirty="0">
                <a:latin typeface="Times New Roman" pitchFamily="18" charset="0"/>
                <a:cs typeface="Times New Roman" pitchFamily="18" charset="0"/>
              </a:rPr>
              <a:t>printf("%d &lt; %d is %d \n", a, c, a &lt; c);</a:t>
            </a:r>
          </a:p>
          <a:p>
            <a:pPr>
              <a:buNone/>
            </a:pPr>
            <a:r>
              <a:rPr lang="pt-BR" sz="2000" b="1" dirty="0"/>
              <a:t>printf("%d != %d is %d \n", a, b, a != b); </a:t>
            </a:r>
          </a:p>
          <a:p>
            <a:pPr>
              <a:buNone/>
            </a:pPr>
            <a:r>
              <a:rPr lang="pt-BR" sz="2000" b="1" dirty="0"/>
              <a:t>printf("%d != %d is %d \n", a, c, a != c);</a:t>
            </a:r>
          </a:p>
          <a:p>
            <a:pPr>
              <a:buNone/>
            </a:pPr>
            <a:r>
              <a:rPr lang="pt-BR" sz="2000" b="1" dirty="0"/>
              <a:t>printf("%d &gt;= %d is %d \n", a, b, a &gt;= b); </a:t>
            </a:r>
          </a:p>
          <a:p>
            <a:pPr>
              <a:buNone/>
            </a:pPr>
            <a:r>
              <a:rPr lang="pt-BR" sz="2000" b="1" dirty="0"/>
              <a:t>printf("%d &gt;= %d is %d \n", a, c, a &gt;= c);</a:t>
            </a:r>
          </a:p>
          <a:p>
            <a:pPr>
              <a:buNone/>
            </a:pPr>
            <a:r>
              <a:rPr lang="pt-BR" sz="2000" b="1" dirty="0"/>
              <a:t>printf("%d &lt;= %d is %d \n", a, b, a &lt;= b); </a:t>
            </a:r>
          </a:p>
          <a:p>
            <a:pPr>
              <a:buNone/>
            </a:pPr>
            <a:r>
              <a:rPr lang="pt-BR" sz="2000" b="1" dirty="0"/>
              <a:t>printf("%d &lt;= %d is %d \n", a, c, a &lt;= c);</a:t>
            </a:r>
          </a:p>
          <a:p>
            <a:pPr>
              <a:buNone/>
            </a:pPr>
            <a:r>
              <a:rPr lang="pt-BR" sz="2000" b="1" dirty="0"/>
              <a:t> </a:t>
            </a:r>
            <a:r>
              <a:rPr lang="en-US" sz="2000" b="1" dirty="0"/>
              <a:t> return 0; </a:t>
            </a:r>
          </a:p>
          <a:p>
            <a:pPr>
              <a:buNone/>
            </a:pPr>
            <a:r>
              <a:rPr lang="en-US" sz="2000" b="1" dirty="0"/>
              <a:t>}</a:t>
            </a:r>
            <a:endParaRPr lang="pt-BR" sz="2000" b="1" dirty="0">
              <a:latin typeface="Times New Roman" pitchFamily="18" charset="0"/>
              <a:cs typeface="Times New Roman" pitchFamily="18" charset="0"/>
            </a:endParaRP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91200"/>
          </a:xfrm>
        </p:spPr>
        <p:txBody>
          <a:bodyPr>
            <a:noAutofit/>
          </a:bodyPr>
          <a:lstStyle/>
          <a:p>
            <a:r>
              <a:rPr lang="nl-NL" sz="2400" dirty="0">
                <a:latin typeface="Times New Roman" pitchFamily="18" charset="0"/>
                <a:cs typeface="Times New Roman" pitchFamily="18" charset="0"/>
              </a:rPr>
              <a:t>5 == 5 is 1 </a:t>
            </a:r>
          </a:p>
          <a:p>
            <a:r>
              <a:rPr lang="nl-NL" sz="2400" dirty="0">
                <a:latin typeface="Times New Roman" pitchFamily="18" charset="0"/>
                <a:cs typeface="Times New Roman" pitchFamily="18" charset="0"/>
              </a:rPr>
              <a:t>5 == 10 is 0</a:t>
            </a:r>
          </a:p>
          <a:p>
            <a:r>
              <a:rPr lang="nl-NL" sz="2400" dirty="0">
                <a:latin typeface="Times New Roman" pitchFamily="18" charset="0"/>
                <a:cs typeface="Times New Roman" pitchFamily="18" charset="0"/>
              </a:rPr>
              <a:t>5 &gt; 5 is 0 </a:t>
            </a:r>
          </a:p>
          <a:p>
            <a:r>
              <a:rPr lang="nl-NL" sz="2400" dirty="0">
                <a:latin typeface="Times New Roman" pitchFamily="18" charset="0"/>
                <a:cs typeface="Times New Roman" pitchFamily="18" charset="0"/>
              </a:rPr>
              <a:t>5 &gt; 10 is 0</a:t>
            </a:r>
          </a:p>
          <a:p>
            <a:r>
              <a:rPr lang="nl-NL" sz="2400" dirty="0">
                <a:latin typeface="Times New Roman" pitchFamily="18" charset="0"/>
                <a:cs typeface="Times New Roman" pitchFamily="18" charset="0"/>
              </a:rPr>
              <a:t>5 &lt; 5 is 0</a:t>
            </a:r>
          </a:p>
          <a:p>
            <a:r>
              <a:rPr lang="nl-NL" sz="2400" dirty="0">
                <a:latin typeface="Times New Roman" pitchFamily="18" charset="0"/>
                <a:cs typeface="Times New Roman" pitchFamily="18" charset="0"/>
              </a:rPr>
              <a:t> 5 &lt; 10 is 1 </a:t>
            </a:r>
          </a:p>
          <a:p>
            <a:r>
              <a:rPr lang="nl-NL" sz="2400" dirty="0"/>
              <a:t>5 != 5 is 0 </a:t>
            </a:r>
          </a:p>
          <a:p>
            <a:r>
              <a:rPr lang="nl-NL" sz="2400" dirty="0"/>
              <a:t>5 != 10 is 1</a:t>
            </a:r>
          </a:p>
          <a:p>
            <a:r>
              <a:rPr lang="nl-NL" sz="2400" dirty="0"/>
              <a:t>5 &gt;= 5 is 1</a:t>
            </a:r>
          </a:p>
          <a:p>
            <a:r>
              <a:rPr lang="nl-NL" sz="2400" dirty="0"/>
              <a:t> 5 &gt;= 10 is 0 </a:t>
            </a:r>
          </a:p>
          <a:p>
            <a:r>
              <a:rPr lang="nl-NL" sz="2400" dirty="0"/>
              <a:t>5 &lt;= 5 is 1 </a:t>
            </a:r>
          </a:p>
          <a:p>
            <a:r>
              <a:rPr lang="nl-NL" sz="2400" dirty="0"/>
              <a:t>5 &lt;= 10 is 1</a:t>
            </a:r>
            <a:endParaRPr lang="en-US" sz="2400" dirty="0">
              <a:latin typeface="Times New Roman" pitchFamily="18" charset="0"/>
              <a:cs typeface="Times New Roman" pitchFamily="18" charset="0"/>
            </a:endParaRPr>
          </a:p>
        </p:txBody>
      </p:sp>
      <p:sp>
        <p:nvSpPr>
          <p:cNvPr id="4" name="TextBox 3"/>
          <p:cNvSpPr txBox="1"/>
          <p:nvPr/>
        </p:nvSpPr>
        <p:spPr>
          <a:xfrm>
            <a:off x="609600" y="152400"/>
            <a:ext cx="1447800" cy="461665"/>
          </a:xfrm>
          <a:prstGeom prst="rect">
            <a:avLst/>
          </a:prstGeom>
          <a:noFill/>
        </p:spPr>
        <p:txBody>
          <a:bodyPr wrap="square" rtlCol="0">
            <a:spAutoFit/>
          </a:bodyPr>
          <a:lstStyle/>
          <a:p>
            <a:r>
              <a:rPr lang="en-US" sz="2400" b="1" dirty="0">
                <a:latin typeface="Times New Roman" pitchFamily="18" charset="0"/>
                <a:cs typeface="Times New Roman" pitchFamily="18" charset="0"/>
              </a:rPr>
              <a:t>Out-Put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a:latin typeface="Times New Roman" pitchFamily="18" charset="0"/>
                <a:cs typeface="Times New Roman" pitchFamily="18" charset="0"/>
              </a:rPr>
              <a:t/>
            </a:r>
            <a:br>
              <a:rPr lang="en-US" sz="2700" dirty="0">
                <a:latin typeface="Times New Roman" pitchFamily="18" charset="0"/>
                <a:cs typeface="Times New Roman" pitchFamily="18" charset="0"/>
              </a:rPr>
            </a:br>
            <a:r>
              <a:rPr lang="en-US" sz="2700" b="1" dirty="0">
                <a:solidFill>
                  <a:srgbClr val="FF0000"/>
                </a:solidFill>
                <a:latin typeface="Times New Roman" pitchFamily="18" charset="0"/>
                <a:cs typeface="Times New Roman" pitchFamily="18" charset="0"/>
              </a:rPr>
              <a:t>Not Equal To Operator (!=)</a:t>
            </a:r>
            <a:r>
              <a:rPr lang="en-US" b="1" dirty="0">
                <a:solidFill>
                  <a:srgbClr val="FF0000"/>
                </a:solidFill>
              </a:rPr>
              <a:t/>
            </a:r>
            <a:br>
              <a:rPr lang="en-US" b="1" dirty="0">
                <a:solidFill>
                  <a:srgbClr val="FF0000"/>
                </a:solidFill>
              </a:rPr>
            </a:br>
            <a:endParaRPr lang="en-US" b="1" dirty="0">
              <a:solidFill>
                <a:srgbClr val="FF0000"/>
              </a:solidFill>
            </a:endParaRP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The Not Equal To Operator is the opposite of the Equal To Operator and is represented as the (!=) operator.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The Not Equal To Operator compares two operands and returns 1 if both operands are not the same; otherwise, it returns 0.</a:t>
            </a:r>
          </a:p>
          <a:p>
            <a:endParaRPr lang="en-US" sz="2000" dirty="0">
              <a:latin typeface="Times New Roman" pitchFamily="18" charset="0"/>
              <a:cs typeface="Times New Roman" pitchFamily="18" charset="0"/>
            </a:endParaRPr>
          </a:p>
          <a:p>
            <a:pPr>
              <a:buNone/>
            </a:pPr>
            <a:r>
              <a:rPr lang="en-US" sz="2000" b="1" dirty="0">
                <a:solidFill>
                  <a:schemeClr val="accent5"/>
                </a:solidFill>
              </a:rPr>
              <a:t>Syntax:</a:t>
            </a:r>
          </a:p>
          <a:p>
            <a:pPr>
              <a:buNone/>
            </a:pPr>
            <a:endParaRPr lang="en-US" sz="2000" b="1"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Opr1 != Opr2;  </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latin typeface="Times New Roman" pitchFamily="18" charset="0"/>
                <a:cs typeface="Times New Roman" pitchFamily="18" charset="0"/>
              </a:rPr>
              <a:t>Less than Operator (&lt;)</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2000" dirty="0">
                <a:latin typeface="Times New Roman" pitchFamily="18" charset="0"/>
                <a:cs typeface="Times New Roman" pitchFamily="18" charset="0"/>
              </a:rPr>
              <a:t>It is used to check whether the value of the left operand is less than the right operand, and if the statement is true, the operator is known as the Less than Operator.</a:t>
            </a:r>
          </a:p>
          <a:p>
            <a:endParaRPr lang="en-US" dirty="0"/>
          </a:p>
          <a:p>
            <a:pPr>
              <a:buNone/>
            </a:pPr>
            <a:r>
              <a:rPr lang="en-US" sz="2000" b="1" dirty="0">
                <a:solidFill>
                  <a:schemeClr val="tx2">
                    <a:lumMod val="75000"/>
                  </a:schemeClr>
                </a:solidFill>
                <a:latin typeface="Times New Roman" pitchFamily="18" charset="0"/>
                <a:cs typeface="Times New Roman" pitchFamily="18" charset="0"/>
              </a:rPr>
              <a:t>Syntax:</a:t>
            </a:r>
            <a:endParaRPr lang="en-US" sz="2000" dirty="0">
              <a:solidFill>
                <a:schemeClr val="tx2">
                  <a:lumMod val="75000"/>
                </a:schemeClr>
              </a:solidFill>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A &lt; B;  </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705600"/>
          </a:xfrm>
        </p:spPr>
        <p:txBody>
          <a:bodyPr>
            <a:noAutofit/>
          </a:bodyPr>
          <a:lstStyle/>
          <a:p>
            <a:pPr>
              <a:buNone/>
            </a:pPr>
            <a:endParaRPr lang="en-US" sz="1600" b="1" dirty="0">
              <a:latin typeface="Times New Roman" pitchFamily="18" charset="0"/>
              <a:cs typeface="Times New Roman" pitchFamily="18" charset="0"/>
            </a:endParaRPr>
          </a:p>
          <a:p>
            <a:pPr>
              <a:buNone/>
            </a:pPr>
            <a:r>
              <a:rPr lang="en-US" sz="1600" b="1" dirty="0">
                <a:latin typeface="Times New Roman" pitchFamily="18" charset="0"/>
                <a:cs typeface="Times New Roman" pitchFamily="18" charset="0"/>
              </a:rPr>
              <a:t>Example:</a:t>
            </a:r>
          </a:p>
          <a:p>
            <a:pPr>
              <a:buNone/>
            </a:pPr>
            <a:r>
              <a:rPr lang="en-US" sz="1600" b="1" dirty="0">
                <a:latin typeface="Times New Roman" pitchFamily="18" charset="0"/>
                <a:cs typeface="Times New Roman" pitchFamily="18" charset="0"/>
              </a:rPr>
              <a:t>#include &lt;</a:t>
            </a:r>
            <a:r>
              <a:rPr lang="en-US" sz="1600" b="1" dirty="0" err="1">
                <a:latin typeface="Times New Roman" pitchFamily="18" charset="0"/>
                <a:cs typeface="Times New Roman" pitchFamily="18" charset="0"/>
              </a:rPr>
              <a:t>stdio.h</a:t>
            </a:r>
            <a:r>
              <a:rPr lang="en-US" sz="1600" b="1" dirty="0">
                <a:latin typeface="Times New Roman" pitchFamily="18" charset="0"/>
                <a:cs typeface="Times New Roman" pitchFamily="18" charset="0"/>
              </a:rPr>
              <a:t>&gt;  </a:t>
            </a:r>
          </a:p>
          <a:p>
            <a:pPr>
              <a:buNone/>
            </a:pPr>
            <a:r>
              <a:rPr lang="en-US" sz="1600" b="1" dirty="0">
                <a:latin typeface="Times New Roman" pitchFamily="18" charset="0"/>
                <a:cs typeface="Times New Roman" pitchFamily="18" charset="0"/>
              </a:rPr>
              <a:t>  </a:t>
            </a:r>
          </a:p>
          <a:p>
            <a:pPr>
              <a:buNone/>
            </a:pPr>
            <a:r>
              <a:rPr lang="en-US" sz="1600" b="1" dirty="0" err="1">
                <a:latin typeface="Times New Roman" pitchFamily="18" charset="0"/>
                <a:cs typeface="Times New Roman" pitchFamily="18" charset="0"/>
              </a:rPr>
              <a:t>int</a:t>
            </a:r>
            <a:r>
              <a:rPr lang="en-US" sz="1600" b="1" dirty="0">
                <a:latin typeface="Times New Roman" pitchFamily="18" charset="0"/>
                <a:cs typeface="Times New Roman" pitchFamily="18" charset="0"/>
              </a:rPr>
              <a:t> main ()  </a:t>
            </a:r>
          </a:p>
          <a:p>
            <a:pPr>
              <a:buNone/>
            </a:pPr>
            <a:r>
              <a:rPr lang="en-US" sz="1600" b="1" dirty="0">
                <a:latin typeface="Times New Roman" pitchFamily="18" charset="0"/>
                <a:cs typeface="Times New Roman" pitchFamily="18" charset="0"/>
              </a:rPr>
              <a:t>{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int</a:t>
            </a:r>
            <a:r>
              <a:rPr lang="en-US" sz="1600" b="1" dirty="0">
                <a:latin typeface="Times New Roman" pitchFamily="18" charset="0"/>
                <a:cs typeface="Times New Roman" pitchFamily="18" charset="0"/>
              </a:rPr>
              <a:t> num1, num2;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Enter the value of num1: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scanf</a:t>
            </a:r>
            <a:r>
              <a:rPr lang="en-US" sz="1600" b="1" dirty="0">
                <a:latin typeface="Times New Roman" pitchFamily="18" charset="0"/>
                <a:cs typeface="Times New Roman" pitchFamily="18" charset="0"/>
              </a:rPr>
              <a:t> (" %d", &amp;num1);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Enter the value of num2: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scanf</a:t>
            </a:r>
            <a:r>
              <a:rPr lang="en-US" sz="1600" b="1" dirty="0">
                <a:latin typeface="Times New Roman" pitchFamily="18" charset="0"/>
                <a:cs typeface="Times New Roman" pitchFamily="18" charset="0"/>
              </a:rPr>
              <a:t> (" %d", &amp;num2);  </a:t>
            </a:r>
          </a:p>
          <a:p>
            <a:pPr>
              <a:buNone/>
            </a:pPr>
            <a:r>
              <a:rPr lang="en-US" sz="1600" b="1" dirty="0">
                <a:latin typeface="Times New Roman" pitchFamily="18" charset="0"/>
                <a:cs typeface="Times New Roman" pitchFamily="18" charset="0"/>
              </a:rPr>
              <a:t>       // use less than operator (&lt;)   </a:t>
            </a:r>
          </a:p>
          <a:p>
            <a:pPr>
              <a:buNone/>
            </a:pPr>
            <a:r>
              <a:rPr lang="en-US" sz="1600" b="1" dirty="0">
                <a:latin typeface="Times New Roman" pitchFamily="18" charset="0"/>
                <a:cs typeface="Times New Roman" pitchFamily="18" charset="0"/>
              </a:rPr>
              <a:t>    if (num1 &lt; num2)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The value of num1 is less than num2.");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else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The value of num2 is less than num1.");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return 0;  </a:t>
            </a:r>
          </a:p>
          <a:p>
            <a:pPr>
              <a:buNone/>
            </a:pPr>
            <a:r>
              <a:rPr lang="en-US" sz="1600" b="1" dirty="0">
                <a:latin typeface="Times New Roman" pitchFamily="18" charset="0"/>
                <a:cs typeface="Times New Roman" pitchFamily="18" charset="0"/>
              </a:rPr>
              <a:t>}  </a:t>
            </a:r>
          </a:p>
          <a:p>
            <a:endParaRPr lang="en-US" sz="1600" b="1" dirty="0">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Enter the value of num1: 45</a:t>
            </a:r>
          </a:p>
          <a:p>
            <a:r>
              <a:rPr lang="en-US" sz="2400" dirty="0">
                <a:latin typeface="Times New Roman" pitchFamily="18" charset="0"/>
                <a:cs typeface="Times New Roman" pitchFamily="18" charset="0"/>
              </a:rPr>
              <a:t> Enter the value of num2: 89 </a:t>
            </a:r>
          </a:p>
          <a:p>
            <a:r>
              <a:rPr lang="en-US" sz="2400" dirty="0">
                <a:latin typeface="Times New Roman" pitchFamily="18" charset="0"/>
                <a:cs typeface="Times New Roman" pitchFamily="18" charset="0"/>
              </a:rPr>
              <a:t>The value of num1 is less than num2.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latin typeface="Times New Roman" pitchFamily="18" charset="0"/>
                <a:cs typeface="Times New Roman" pitchFamily="18" charset="0"/>
              </a:rPr>
              <a:t>Greater than Operator (&gt;)</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US" sz="2000" dirty="0">
                <a:latin typeface="Times New Roman" pitchFamily="18" charset="0"/>
                <a:cs typeface="Times New Roman" pitchFamily="18" charset="0"/>
              </a:rPr>
              <a:t>      The operator checks the value of the left operand is greater than the right operand, and if the statement is true, the operator is said to be the Greater Than Operator.</a:t>
            </a:r>
          </a:p>
          <a:p>
            <a:pPr>
              <a:buNone/>
            </a:pPr>
            <a:endParaRPr lang="en-US" sz="2000" dirty="0">
              <a:latin typeface="Times New Roman" pitchFamily="18" charset="0"/>
              <a:cs typeface="Times New Roman" pitchFamily="18" charset="0"/>
            </a:endParaRPr>
          </a:p>
          <a:p>
            <a:pPr>
              <a:buNone/>
            </a:pPr>
            <a:r>
              <a:rPr lang="en-US" sz="2000" b="1" dirty="0"/>
              <a:t>Syntax:</a:t>
            </a:r>
          </a:p>
          <a:p>
            <a:pPr>
              <a:buNone/>
            </a:pPr>
            <a:endParaRPr lang="en-US" sz="2000" b="1" dirty="0">
              <a:latin typeface="Times New Roman" pitchFamily="18" charset="0"/>
              <a:cs typeface="Times New Roman" pitchFamily="18" charset="0"/>
            </a:endParaRPr>
          </a:p>
          <a:p>
            <a:pPr>
              <a:buNone/>
            </a:pPr>
            <a:r>
              <a:rPr lang="en-US" sz="2000" dirty="0"/>
              <a:t>A &gt; B;  </a:t>
            </a:r>
          </a:p>
          <a:p>
            <a:pPr>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57200" y="0"/>
            <a:ext cx="8229600" cy="6553200"/>
          </a:xfrm>
        </p:spPr>
        <p:txBody>
          <a:bodyPr>
            <a:noAutofit/>
          </a:bodyPr>
          <a:lstStyle/>
          <a:p>
            <a:pPr>
              <a:buNone/>
            </a:pPr>
            <a:endParaRPr lang="en-US" sz="1600" b="1" dirty="0">
              <a:latin typeface="Times New Roman" pitchFamily="18" charset="0"/>
              <a:cs typeface="Times New Roman" pitchFamily="18" charset="0"/>
            </a:endParaRPr>
          </a:p>
          <a:p>
            <a:pPr>
              <a:buNone/>
            </a:pPr>
            <a:r>
              <a:rPr lang="en-US" sz="1600" b="1" dirty="0">
                <a:latin typeface="Times New Roman" pitchFamily="18" charset="0"/>
                <a:cs typeface="Times New Roman" pitchFamily="18" charset="0"/>
              </a:rPr>
              <a:t>#include &lt;</a:t>
            </a:r>
            <a:r>
              <a:rPr lang="en-US" sz="1600" b="1" dirty="0" err="1">
                <a:latin typeface="Times New Roman" pitchFamily="18" charset="0"/>
                <a:cs typeface="Times New Roman" pitchFamily="18" charset="0"/>
              </a:rPr>
              <a:t>stdio.h</a:t>
            </a:r>
            <a:r>
              <a:rPr lang="en-US" sz="1600" b="1" dirty="0">
                <a:latin typeface="Times New Roman" pitchFamily="18" charset="0"/>
                <a:cs typeface="Times New Roman" pitchFamily="18" charset="0"/>
              </a:rPr>
              <a:t>&gt;                                   </a:t>
            </a:r>
            <a:r>
              <a:rPr lang="en-US" sz="1800" b="1" dirty="0">
                <a:solidFill>
                  <a:srgbClr val="FF0000"/>
                </a:solidFill>
                <a:latin typeface="Times New Roman" pitchFamily="18" charset="0"/>
                <a:cs typeface="Times New Roman" pitchFamily="18" charset="0"/>
              </a:rPr>
              <a:t>Examples</a:t>
            </a:r>
            <a:endParaRPr lang="en-US" sz="1600" b="1" dirty="0">
              <a:solidFill>
                <a:srgbClr val="FF0000"/>
              </a:solidFill>
              <a:latin typeface="Times New Roman" pitchFamily="18" charset="0"/>
              <a:cs typeface="Times New Roman" pitchFamily="18" charset="0"/>
            </a:endParaRP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int</a:t>
            </a:r>
            <a:r>
              <a:rPr lang="en-US" sz="1600" b="1" dirty="0">
                <a:latin typeface="Times New Roman" pitchFamily="18" charset="0"/>
                <a:cs typeface="Times New Roman" pitchFamily="18" charset="0"/>
              </a:rPr>
              <a:t> main ()  </a:t>
            </a:r>
          </a:p>
          <a:p>
            <a:pPr>
              <a:buNone/>
            </a:pPr>
            <a:r>
              <a:rPr lang="en-US" sz="1600" b="1" dirty="0">
                <a:latin typeface="Times New Roman" pitchFamily="18" charset="0"/>
                <a:cs typeface="Times New Roman" pitchFamily="18" charset="0"/>
              </a:rPr>
              <a:t>{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int</a:t>
            </a:r>
            <a:r>
              <a:rPr lang="en-US" sz="1600" b="1" dirty="0">
                <a:latin typeface="Times New Roman" pitchFamily="18" charset="0"/>
                <a:cs typeface="Times New Roman" pitchFamily="18" charset="0"/>
              </a:rPr>
              <a:t> num1, num2;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Enter the value of num1: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scanf</a:t>
            </a:r>
            <a:r>
              <a:rPr lang="en-US" sz="1600" b="1" dirty="0">
                <a:latin typeface="Times New Roman" pitchFamily="18" charset="0"/>
                <a:cs typeface="Times New Roman" pitchFamily="18" charset="0"/>
              </a:rPr>
              <a:t> (" %d", &amp;num1);  </a:t>
            </a:r>
          </a:p>
          <a:p>
            <a:pPr>
              <a:buNone/>
            </a:pPr>
            <a:r>
              <a:rPr lang="en-US" sz="1600" b="1" dirty="0">
                <a:latin typeface="Times New Roman" pitchFamily="18" charset="0"/>
                <a:cs typeface="Times New Roman" pitchFamily="18" charset="0"/>
              </a:rPr>
              <a:t>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Enter the value of num2: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scanf</a:t>
            </a:r>
            <a:r>
              <a:rPr lang="en-US" sz="1600" b="1" dirty="0">
                <a:latin typeface="Times New Roman" pitchFamily="18" charset="0"/>
                <a:cs typeface="Times New Roman" pitchFamily="18" charset="0"/>
              </a:rPr>
              <a:t> (" %d", &amp;num2);  </a:t>
            </a:r>
          </a:p>
          <a:p>
            <a:pPr>
              <a:buNone/>
            </a:pPr>
            <a:r>
              <a:rPr lang="en-US" sz="1600" b="1" dirty="0">
                <a:latin typeface="Times New Roman" pitchFamily="18" charset="0"/>
                <a:cs typeface="Times New Roman" pitchFamily="18" charset="0"/>
              </a:rPr>
              <a:t>      </a:t>
            </a:r>
          </a:p>
          <a:p>
            <a:pPr>
              <a:buNone/>
            </a:pPr>
            <a:r>
              <a:rPr lang="en-US" sz="1600" b="1" dirty="0">
                <a:latin typeface="Times New Roman" pitchFamily="18" charset="0"/>
                <a:cs typeface="Times New Roman" pitchFamily="18" charset="0"/>
              </a:rPr>
              <a:t>    // use greater than operator (&gt;)   </a:t>
            </a:r>
          </a:p>
          <a:p>
            <a:pPr>
              <a:buNone/>
            </a:pPr>
            <a:r>
              <a:rPr lang="en-US" sz="1600" b="1" dirty="0">
                <a:latin typeface="Times New Roman" pitchFamily="18" charset="0"/>
                <a:cs typeface="Times New Roman" pitchFamily="18" charset="0"/>
              </a:rPr>
              <a:t>    if (num1 &gt; num2)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The value of num1 is greater than num2.");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else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The value of num2 is greater than num1.");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return 0;  </a:t>
            </a:r>
          </a:p>
          <a:p>
            <a:pPr>
              <a:buNone/>
            </a:pPr>
            <a:r>
              <a:rPr lang="en-US" sz="1600" b="1" dirty="0">
                <a:latin typeface="Times New Roman" pitchFamily="18" charset="0"/>
                <a:cs typeface="Times New Roman" pitchFamily="18" charset="0"/>
              </a:rPr>
              <a:t>}  </a:t>
            </a:r>
          </a:p>
          <a:p>
            <a:endParaRPr lang="en-US" sz="1600" dirty="0">
              <a:latin typeface="Times New Roman" pitchFamily="18" charset="0"/>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a:solidFill>
                  <a:srgbClr val="FF0000"/>
                </a:solidFill>
                <a:latin typeface="Times New Roman" pitchFamily="18" charset="0"/>
                <a:cs typeface="Times New Roman" pitchFamily="18" charset="0"/>
              </a:rPr>
              <a:t/>
            </a:r>
            <a:br>
              <a:rPr lang="en-US" sz="2800" b="1" dirty="0">
                <a:solidFill>
                  <a:srgbClr val="FF0000"/>
                </a:solidFill>
                <a:latin typeface="Times New Roman" pitchFamily="18" charset="0"/>
                <a:cs typeface="Times New Roman" pitchFamily="18" charset="0"/>
              </a:rPr>
            </a:br>
            <a:r>
              <a:rPr lang="en-US" sz="2800" b="1" dirty="0">
                <a:solidFill>
                  <a:srgbClr val="FF0000"/>
                </a:solidFill>
                <a:latin typeface="Times New Roman" pitchFamily="18" charset="0"/>
                <a:cs typeface="Times New Roman" pitchFamily="18" charset="0"/>
              </a:rPr>
              <a:t>Less than Equal To Operator (&lt;=)</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The operator checks whether the value of the left operand is less than or equal to the right operand, and if the statement is true, the operator is said to be the Less than Equal To Operator.</a:t>
            </a:r>
          </a:p>
          <a:p>
            <a:endParaRPr lang="en-US" sz="2000" dirty="0">
              <a:latin typeface="Times New Roman" pitchFamily="18" charset="0"/>
              <a:cs typeface="Times New Roman" pitchFamily="18" charset="0"/>
            </a:endParaRPr>
          </a:p>
          <a:p>
            <a:pPr>
              <a:buNone/>
            </a:pPr>
            <a:r>
              <a:rPr lang="en-US" sz="2000" b="1" dirty="0"/>
              <a:t>Syntax:</a:t>
            </a:r>
          </a:p>
          <a:p>
            <a:pPr>
              <a:buNone/>
            </a:pPr>
            <a:r>
              <a:rPr lang="en-US" sz="2000" dirty="0"/>
              <a:t>A &lt;= B;  </a:t>
            </a:r>
          </a:p>
          <a:p>
            <a:pPr>
              <a:buNone/>
            </a:pPr>
            <a:endParaRPr lang="en-US" sz="2000" dirty="0"/>
          </a:p>
          <a:p>
            <a:r>
              <a:rPr lang="en-US" sz="1800" dirty="0">
                <a:latin typeface="Times New Roman" pitchFamily="18" charset="0"/>
                <a:cs typeface="Times New Roman" pitchFamily="18" charset="0"/>
              </a:rPr>
              <a:t>Here, operand A is less than or equal to operand B. So, it is a Less than Equal to Operator.</a:t>
            </a:r>
          </a:p>
          <a:p>
            <a:r>
              <a:rPr lang="en-US" sz="1800" dirty="0">
                <a:latin typeface="Times New Roman" pitchFamily="18" charset="0"/>
                <a:cs typeface="Times New Roman" pitchFamily="18" charset="0"/>
              </a:rPr>
              <a:t>Let's create a program to use the Less than Equal to operator (&lt;=) to compare the operand value in C</a:t>
            </a:r>
          </a:p>
          <a:p>
            <a:pPr>
              <a:buNone/>
            </a:pPr>
            <a:endParaRPr lang="en-US" sz="2000" dirty="0"/>
          </a:p>
          <a:p>
            <a:pPr>
              <a:buNone/>
            </a:pPr>
            <a:endParaRPr lang="en-US" sz="2000" dirty="0">
              <a:latin typeface="Times New Roman" pitchFamily="18" charset="0"/>
              <a:cs typeface="Times New Roman"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0"/>
            <a:ext cx="8229600" cy="6858000"/>
          </a:xfrm>
        </p:spPr>
        <p:txBody>
          <a:bodyPr>
            <a:noAutofit/>
          </a:bodyPr>
          <a:lstStyle/>
          <a:p>
            <a:pPr algn="ctr">
              <a:buNone/>
            </a:pPr>
            <a:r>
              <a:rPr lang="en-US" sz="1800" b="1" dirty="0">
                <a:solidFill>
                  <a:srgbClr val="FF0000"/>
                </a:solidFill>
                <a:latin typeface="Times New Roman" pitchFamily="18" charset="0"/>
                <a:cs typeface="Times New Roman" pitchFamily="18" charset="0"/>
              </a:rPr>
              <a:t>Example:</a:t>
            </a:r>
          </a:p>
          <a:p>
            <a:pPr>
              <a:buNone/>
            </a:pPr>
            <a:r>
              <a:rPr lang="en-US" sz="1600" b="1" dirty="0">
                <a:latin typeface="Times New Roman" pitchFamily="18" charset="0"/>
                <a:cs typeface="Times New Roman" pitchFamily="18" charset="0"/>
              </a:rPr>
              <a:t>#include &lt;</a:t>
            </a:r>
            <a:r>
              <a:rPr lang="en-US" sz="1600" b="1" dirty="0" err="1">
                <a:latin typeface="Times New Roman" pitchFamily="18" charset="0"/>
                <a:cs typeface="Times New Roman" pitchFamily="18" charset="0"/>
              </a:rPr>
              <a:t>stdio.h</a:t>
            </a:r>
            <a:r>
              <a:rPr lang="en-US" sz="1600" b="1" dirty="0">
                <a:latin typeface="Times New Roman" pitchFamily="18" charset="0"/>
                <a:cs typeface="Times New Roman" pitchFamily="18" charset="0"/>
              </a:rPr>
              <a:t>&gt;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int</a:t>
            </a:r>
            <a:r>
              <a:rPr lang="en-US" sz="1600" b="1" dirty="0">
                <a:latin typeface="Times New Roman" pitchFamily="18" charset="0"/>
                <a:cs typeface="Times New Roman" pitchFamily="18" charset="0"/>
              </a:rPr>
              <a:t> main ()  </a:t>
            </a:r>
          </a:p>
          <a:p>
            <a:pPr>
              <a:buNone/>
            </a:pPr>
            <a:r>
              <a:rPr lang="en-US" sz="1600" b="1" dirty="0">
                <a:latin typeface="Times New Roman" pitchFamily="18" charset="0"/>
                <a:cs typeface="Times New Roman" pitchFamily="18" charset="0"/>
              </a:rPr>
              <a:t>{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int</a:t>
            </a:r>
            <a:r>
              <a:rPr lang="en-US" sz="1600" b="1" dirty="0">
                <a:latin typeface="Times New Roman" pitchFamily="18" charset="0"/>
                <a:cs typeface="Times New Roman" pitchFamily="18" charset="0"/>
              </a:rPr>
              <a:t> num1, num2;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Enter the value of num1: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scanf</a:t>
            </a:r>
            <a:r>
              <a:rPr lang="en-US" sz="1600" b="1" dirty="0">
                <a:latin typeface="Times New Roman" pitchFamily="18" charset="0"/>
                <a:cs typeface="Times New Roman" pitchFamily="18" charset="0"/>
              </a:rPr>
              <a:t> (" %d", &amp;num1);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Enter the value of num2: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scanf</a:t>
            </a:r>
            <a:r>
              <a:rPr lang="en-US" sz="1600" b="1" dirty="0">
                <a:latin typeface="Times New Roman" pitchFamily="18" charset="0"/>
                <a:cs typeface="Times New Roman" pitchFamily="18" charset="0"/>
              </a:rPr>
              <a:t> (" %d", &amp;num2);  </a:t>
            </a:r>
          </a:p>
          <a:p>
            <a:pPr>
              <a:buNone/>
            </a:pPr>
            <a:r>
              <a:rPr lang="en-US" sz="1600" b="1" dirty="0">
                <a:latin typeface="Times New Roman" pitchFamily="18" charset="0"/>
                <a:cs typeface="Times New Roman" pitchFamily="18" charset="0"/>
              </a:rPr>
              <a:t>    if (num1 &gt; num2)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The value of num1 is greater than num2.");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else if (num1 &gt;= num2 )  // greater than operator (&gt;=)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The value of num1 is equal to num2.");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else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a:t>
            </a:r>
            <a:r>
              <a:rPr lang="en-US" sz="1600" b="1" dirty="0" err="1">
                <a:latin typeface="Times New Roman" pitchFamily="18" charset="0"/>
                <a:cs typeface="Times New Roman" pitchFamily="18" charset="0"/>
              </a:rPr>
              <a:t>printf</a:t>
            </a:r>
            <a:r>
              <a:rPr lang="en-US" sz="1600" b="1" dirty="0">
                <a:latin typeface="Times New Roman" pitchFamily="18" charset="0"/>
                <a:cs typeface="Times New Roman" pitchFamily="18" charset="0"/>
              </a:rPr>
              <a:t> (" \n The value of num2 is greater than num1.");  </a:t>
            </a:r>
          </a:p>
          <a:p>
            <a:pPr>
              <a:buNone/>
            </a:pPr>
            <a:r>
              <a:rPr lang="en-US" sz="1600" b="1" dirty="0">
                <a:latin typeface="Times New Roman" pitchFamily="18" charset="0"/>
                <a:cs typeface="Times New Roman" pitchFamily="18" charset="0"/>
              </a:rPr>
              <a:t>    }  </a:t>
            </a:r>
          </a:p>
          <a:p>
            <a:pPr>
              <a:buNone/>
            </a:pPr>
            <a:r>
              <a:rPr lang="en-US" sz="1600" b="1" dirty="0">
                <a:latin typeface="Times New Roman" pitchFamily="18" charset="0"/>
                <a:cs typeface="Times New Roman" pitchFamily="18" charset="0"/>
              </a:rPr>
              <a:t>    return 0;  </a:t>
            </a:r>
          </a:p>
          <a:p>
            <a:pPr>
              <a:buNone/>
            </a:pPr>
            <a:r>
              <a:rPr lang="en-US" sz="1600" b="1" dirty="0">
                <a:latin typeface="Times New Roman" pitchFamily="18" charset="0"/>
                <a:cs typeface="Times New Roman" pitchFamily="18" charset="0"/>
              </a:rPr>
              <a:t>}  </a:t>
            </a:r>
          </a:p>
          <a:p>
            <a:endParaRPr lang="en-US" sz="1400" b="1"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latin typeface="Times New Roman" pitchFamily="18" charset="0"/>
                <a:cs typeface="Times New Roman" pitchFamily="18" charset="0"/>
              </a:rPr>
              <a:t>Greater than Equal To Operator (&gt;=)</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754563"/>
          </a:xfrm>
        </p:spPr>
        <p:txBody>
          <a:bodyPr>
            <a:normAutofit/>
          </a:bodyPr>
          <a:lstStyle/>
          <a:p>
            <a:r>
              <a:rPr lang="en-US" sz="2000" dirty="0">
                <a:latin typeface="Times New Roman" pitchFamily="18" charset="0"/>
                <a:cs typeface="Times New Roman" pitchFamily="18" charset="0"/>
              </a:rPr>
              <a:t>The operator checks whether the left operand's value is greater than or equal to the right operand.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If the statement is true, the operator is said to be the Greater than Equal to Operator.</a:t>
            </a:r>
          </a:p>
          <a:p>
            <a:endParaRPr lang="en-US" sz="2000" dirty="0">
              <a:latin typeface="Times New Roman" pitchFamily="18" charset="0"/>
              <a:cs typeface="Times New Roman" pitchFamily="18" charset="0"/>
            </a:endParaRPr>
          </a:p>
          <a:p>
            <a:pPr>
              <a:buNone/>
            </a:pPr>
            <a:r>
              <a:rPr lang="en-US" sz="2000" b="1" dirty="0"/>
              <a:t>  Syntax:</a:t>
            </a:r>
            <a:endParaRPr lang="en-US" sz="2000" dirty="0">
              <a:latin typeface="Times New Roman" pitchFamily="18" charset="0"/>
              <a:cs typeface="Times New Roman" pitchFamily="18" charset="0"/>
            </a:endParaRPr>
          </a:p>
          <a:p>
            <a:pPr>
              <a:buNone/>
            </a:pPr>
            <a:r>
              <a:rPr lang="en-US" sz="2000" dirty="0"/>
              <a:t>  A &gt;= B;  </a:t>
            </a:r>
          </a:p>
          <a:p>
            <a:r>
              <a:rPr lang="en-US" sz="1800" dirty="0">
                <a:latin typeface="Times New Roman" pitchFamily="18" charset="0"/>
                <a:cs typeface="Times New Roman" pitchFamily="18" charset="0"/>
              </a:rPr>
              <a:t>Here, operand A is greater than equal to the right operand B. So, it is the Greater than Equal To operator.</a:t>
            </a:r>
          </a:p>
          <a:p>
            <a:r>
              <a:rPr lang="en-US" sz="1800" dirty="0">
                <a:latin typeface="Times New Roman" pitchFamily="18" charset="0"/>
                <a:cs typeface="Times New Roman" pitchFamily="18" charset="0"/>
              </a:rPr>
              <a:t>Let's create a program to use the Greater than Equal To operator to compare the operand value in C.</a:t>
            </a:r>
          </a:p>
          <a:p>
            <a:endParaRPr lang="en-US" sz="2000"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57200" y="0"/>
            <a:ext cx="8229600" cy="6126163"/>
          </a:xfrm>
        </p:spPr>
        <p:txBody>
          <a:bodyPr>
            <a:normAutofit fontScale="25000" lnSpcReduction="20000"/>
          </a:bodyPr>
          <a:lstStyle/>
          <a:p>
            <a:pPr algn="ctr">
              <a:buNone/>
            </a:pPr>
            <a:r>
              <a:rPr lang="en-US" sz="9600" b="1" dirty="0">
                <a:solidFill>
                  <a:srgbClr val="FF0000"/>
                </a:solidFill>
                <a:latin typeface="Times New Roman" pitchFamily="18" charset="0"/>
                <a:cs typeface="Times New Roman" pitchFamily="18" charset="0"/>
              </a:rPr>
              <a:t>Example:</a:t>
            </a:r>
          </a:p>
          <a:p>
            <a:pPr>
              <a:buNone/>
            </a:pPr>
            <a:endParaRPr lang="en-US" sz="3400" b="1" dirty="0">
              <a:latin typeface="Times New Roman" pitchFamily="18" charset="0"/>
              <a:cs typeface="Times New Roman" pitchFamily="18" charset="0"/>
            </a:endParaRPr>
          </a:p>
          <a:p>
            <a:pPr>
              <a:buNone/>
            </a:pPr>
            <a:r>
              <a:rPr lang="en-US" sz="6400" b="1" dirty="0">
                <a:latin typeface="Times New Roman" pitchFamily="18" charset="0"/>
                <a:cs typeface="Times New Roman" pitchFamily="18" charset="0"/>
              </a:rPr>
              <a:t>#include &lt;</a:t>
            </a:r>
            <a:r>
              <a:rPr lang="en-US" sz="6400" b="1" dirty="0" err="1">
                <a:latin typeface="Times New Roman" pitchFamily="18" charset="0"/>
                <a:cs typeface="Times New Roman" pitchFamily="18" charset="0"/>
              </a:rPr>
              <a:t>stdio.h</a:t>
            </a:r>
            <a:r>
              <a:rPr lang="en-US" sz="6400" b="1" dirty="0">
                <a:latin typeface="Times New Roman" pitchFamily="18" charset="0"/>
                <a:cs typeface="Times New Roman" pitchFamily="18" charset="0"/>
              </a:rPr>
              <a:t>&gt;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int</a:t>
            </a:r>
            <a:r>
              <a:rPr lang="en-US" sz="6400" b="1" dirty="0">
                <a:latin typeface="Times New Roman" pitchFamily="18" charset="0"/>
                <a:cs typeface="Times New Roman" pitchFamily="18" charset="0"/>
              </a:rPr>
              <a:t> main ()  </a:t>
            </a:r>
          </a:p>
          <a:p>
            <a:pPr>
              <a:buNone/>
            </a:pPr>
            <a:r>
              <a:rPr lang="en-US" sz="6400" b="1" dirty="0">
                <a:latin typeface="Times New Roman" pitchFamily="18" charset="0"/>
                <a:cs typeface="Times New Roman" pitchFamily="18" charset="0"/>
              </a:rPr>
              <a:t>{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int</a:t>
            </a:r>
            <a:r>
              <a:rPr lang="en-US" sz="6400" b="1" dirty="0">
                <a:latin typeface="Times New Roman" pitchFamily="18" charset="0"/>
                <a:cs typeface="Times New Roman" pitchFamily="18" charset="0"/>
              </a:rPr>
              <a:t> num1, num2;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 (" Enter the value of num1: ");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scanf</a:t>
            </a:r>
            <a:r>
              <a:rPr lang="en-US" sz="6400" b="1" dirty="0">
                <a:latin typeface="Times New Roman" pitchFamily="18" charset="0"/>
                <a:cs typeface="Times New Roman" pitchFamily="18" charset="0"/>
              </a:rPr>
              <a:t> (" %d", &amp;num1);  </a:t>
            </a:r>
          </a:p>
          <a:p>
            <a:pPr>
              <a:buNone/>
            </a:pPr>
            <a:r>
              <a:rPr lang="en-US" sz="6400" b="1" dirty="0">
                <a:latin typeface="Times New Roman" pitchFamily="18" charset="0"/>
                <a:cs typeface="Times New Roman" pitchFamily="18" charset="0"/>
              </a:rPr>
              <a:t>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 (" \n Enter the value of num2: ");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scanf</a:t>
            </a:r>
            <a:r>
              <a:rPr lang="en-US" sz="6400" b="1" dirty="0">
                <a:latin typeface="Times New Roman" pitchFamily="18" charset="0"/>
                <a:cs typeface="Times New Roman" pitchFamily="18" charset="0"/>
              </a:rPr>
              <a:t> (" %d", &amp;num2);  </a:t>
            </a:r>
          </a:p>
          <a:p>
            <a:pPr>
              <a:buNone/>
            </a:pPr>
            <a:r>
              <a:rPr lang="en-US" sz="6400" b="1" dirty="0">
                <a:latin typeface="Times New Roman" pitchFamily="18" charset="0"/>
                <a:cs typeface="Times New Roman" pitchFamily="18" charset="0"/>
              </a:rPr>
              <a:t>      </a:t>
            </a:r>
          </a:p>
          <a:p>
            <a:pPr>
              <a:buNone/>
            </a:pPr>
            <a:r>
              <a:rPr lang="en-US" sz="6400" b="1" dirty="0">
                <a:latin typeface="Times New Roman" pitchFamily="18" charset="0"/>
                <a:cs typeface="Times New Roman" pitchFamily="18" charset="0"/>
              </a:rPr>
              <a:t>    if (num1 &gt; num2)  </a:t>
            </a:r>
          </a:p>
          <a:p>
            <a:pPr>
              <a:buNone/>
            </a:pPr>
            <a:r>
              <a:rPr lang="en-US" sz="6400" b="1" dirty="0">
                <a:latin typeface="Times New Roman" pitchFamily="18" charset="0"/>
                <a:cs typeface="Times New Roman" pitchFamily="18" charset="0"/>
              </a:rPr>
              <a:t>    {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 (" \n The value of num1 is greater than num2.");  </a:t>
            </a:r>
          </a:p>
          <a:p>
            <a:pPr>
              <a:buNone/>
            </a:pPr>
            <a:r>
              <a:rPr lang="en-US" sz="6400" b="1" dirty="0">
                <a:latin typeface="Times New Roman" pitchFamily="18" charset="0"/>
                <a:cs typeface="Times New Roman" pitchFamily="18" charset="0"/>
              </a:rPr>
              <a:t>    }  </a:t>
            </a:r>
          </a:p>
          <a:p>
            <a:pPr>
              <a:buNone/>
            </a:pPr>
            <a:r>
              <a:rPr lang="en-US" sz="6400" b="1" dirty="0">
                <a:latin typeface="Times New Roman" pitchFamily="18" charset="0"/>
                <a:cs typeface="Times New Roman" pitchFamily="18" charset="0"/>
              </a:rPr>
              <a:t>    else if (num1 &gt;= num2 )  // greater than operator (&gt;=)  </a:t>
            </a:r>
          </a:p>
          <a:p>
            <a:pPr>
              <a:buNone/>
            </a:pPr>
            <a:r>
              <a:rPr lang="en-US" sz="6400" b="1" dirty="0">
                <a:latin typeface="Times New Roman" pitchFamily="18" charset="0"/>
                <a:cs typeface="Times New Roman" pitchFamily="18" charset="0"/>
              </a:rPr>
              <a:t>    {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 (" \n The value of num1 is equal to num2.");  </a:t>
            </a:r>
          </a:p>
          <a:p>
            <a:pPr>
              <a:buNone/>
            </a:pPr>
            <a:r>
              <a:rPr lang="en-US" sz="6400" b="1" dirty="0">
                <a:latin typeface="Times New Roman" pitchFamily="18" charset="0"/>
                <a:cs typeface="Times New Roman" pitchFamily="18" charset="0"/>
              </a:rPr>
              <a:t>    }  </a:t>
            </a:r>
          </a:p>
          <a:p>
            <a:pPr>
              <a:buNone/>
            </a:pPr>
            <a:r>
              <a:rPr lang="en-US" sz="6400" b="1" dirty="0">
                <a:latin typeface="Times New Roman" pitchFamily="18" charset="0"/>
                <a:cs typeface="Times New Roman" pitchFamily="18" charset="0"/>
              </a:rPr>
              <a:t>    else   </a:t>
            </a:r>
          </a:p>
          <a:p>
            <a:pPr>
              <a:buNone/>
            </a:pPr>
            <a:r>
              <a:rPr lang="en-US" sz="6400" b="1" dirty="0">
                <a:latin typeface="Times New Roman" pitchFamily="18" charset="0"/>
                <a:cs typeface="Times New Roman" pitchFamily="18" charset="0"/>
              </a:rPr>
              <a:t>    {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 (" \n The value of num2 is greater than num1.");  </a:t>
            </a:r>
          </a:p>
          <a:p>
            <a:pPr>
              <a:buNone/>
            </a:pPr>
            <a:r>
              <a:rPr lang="en-US" sz="6400" b="1" dirty="0">
                <a:latin typeface="Times New Roman" pitchFamily="18" charset="0"/>
                <a:cs typeface="Times New Roman" pitchFamily="18" charset="0"/>
              </a:rPr>
              <a:t>    }  </a:t>
            </a:r>
          </a:p>
          <a:p>
            <a:pPr>
              <a:buNone/>
            </a:pPr>
            <a:r>
              <a:rPr lang="en-US" sz="6400" b="1" dirty="0">
                <a:latin typeface="Times New Roman" pitchFamily="18" charset="0"/>
                <a:cs typeface="Times New Roman" pitchFamily="18" charset="0"/>
              </a:rPr>
              <a:t>    return 0;  </a:t>
            </a:r>
          </a:p>
          <a:p>
            <a:pPr>
              <a:buNone/>
            </a:pPr>
            <a:r>
              <a:rPr lang="en-US" sz="6400" b="1" dirty="0">
                <a:latin typeface="Times New Roman" pitchFamily="18" charset="0"/>
                <a:cs typeface="Times New Roman" pitchFamily="18" charset="0"/>
              </a:rPr>
              <a:t>}  </a:t>
            </a:r>
          </a:p>
          <a:p>
            <a:endParaRPr lang="en-US" sz="6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latin typeface="Times New Roman" pitchFamily="18" charset="0"/>
                <a:cs typeface="Times New Roman" pitchFamily="18" charset="0"/>
              </a:rPr>
              <a:t>Shift Operators in C</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678363"/>
          </a:xfrm>
        </p:spPr>
        <p:txBody>
          <a:bodyPr/>
          <a:lstStyle/>
          <a:p>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This section will discuss the Bitwise shift operators in the c programming language. Bitwise shift operator is used to shift the binary bits either in the left direction right direction according to the program's requirement</a:t>
            </a:r>
            <a:r>
              <a:rPr lang="en-US" dirty="0"/>
              <a:t>.</a:t>
            </a:r>
          </a:p>
          <a:p>
            <a:pPr>
              <a:buNone/>
            </a:pPr>
            <a:endParaRPr lang="en-US" sz="2000" b="1"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Shift operators are classified into two types based on the shifting position of the bits.</a:t>
            </a:r>
          </a:p>
          <a:p>
            <a:endParaRPr lang="en-US" sz="2000" dirty="0">
              <a:latin typeface="Times New Roman" pitchFamily="18" charset="0"/>
              <a:cs typeface="Times New Roman" pitchFamily="18" charset="0"/>
            </a:endParaRPr>
          </a:p>
          <a:p>
            <a:pPr>
              <a:buFont typeface="Wingdings" pitchFamily="2" charset="2"/>
              <a:buChar char="v"/>
            </a:pPr>
            <a:r>
              <a:rPr lang="en-US" sz="2000" dirty="0">
                <a:latin typeface="Times New Roman" pitchFamily="18" charset="0"/>
                <a:cs typeface="Times New Roman" pitchFamily="18" charset="0"/>
              </a:rPr>
              <a:t>Left Shift Operator</a:t>
            </a:r>
          </a:p>
          <a:p>
            <a:pPr>
              <a:buFont typeface="Wingdings" pitchFamily="2" charset="2"/>
              <a:buChar char="v"/>
            </a:pPr>
            <a:r>
              <a:rPr lang="en-US" sz="2000" dirty="0">
                <a:latin typeface="Times New Roman" pitchFamily="18" charset="0"/>
                <a:cs typeface="Times New Roman" pitchFamily="18" charset="0"/>
              </a:rPr>
              <a:t>Right Shift Operator</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FF0000"/>
                </a:solidFill>
                <a:latin typeface="Times New Roman" pitchFamily="18" charset="0"/>
                <a:cs typeface="Times New Roman" pitchFamily="18" charset="0"/>
              </a:rPr>
              <a:t>Left Shift Operator</a:t>
            </a:r>
            <a:br>
              <a:rPr lang="en-US" sz="2400" b="1" dirty="0">
                <a:solidFill>
                  <a:srgbClr val="FF0000"/>
                </a:solidFill>
                <a:latin typeface="Times New Roman" pitchFamily="18" charset="0"/>
                <a:cs typeface="Times New Roman" pitchFamily="18" charset="0"/>
              </a:rPr>
            </a:br>
            <a:endParaRPr lang="en-US" sz="24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257800"/>
          </a:xfrm>
        </p:spPr>
        <p:txBody>
          <a:bodyPr>
            <a:normAutofit lnSpcReduction="10000"/>
          </a:bodyPr>
          <a:lstStyle/>
          <a:p>
            <a:pPr>
              <a:buFont typeface="Wingdings" pitchFamily="2" charset="2"/>
              <a:buChar char="Ø"/>
            </a:pPr>
            <a:r>
              <a:rPr lang="en-US" sz="1800" dirty="0">
                <a:latin typeface="Times New Roman" pitchFamily="18" charset="0"/>
                <a:cs typeface="Times New Roman" pitchFamily="18" charset="0"/>
              </a:rPr>
              <a:t>  The left shift operator is a type of Bitwise shift operator, which performs operations on the binary bits.</a:t>
            </a:r>
          </a:p>
          <a:p>
            <a:pPr>
              <a:buFont typeface="Wingdings" pitchFamily="2" charset="2"/>
              <a:buChar char="Ø"/>
            </a:pPr>
            <a:r>
              <a:rPr lang="en-US" sz="1800" dirty="0">
                <a:latin typeface="Times New Roman" pitchFamily="18" charset="0"/>
                <a:cs typeface="Times New Roman" pitchFamily="18" charset="0"/>
              </a:rPr>
              <a:t>    It is a binary operator that requires two operands to shift or move the position of the bits to the left side and add zeroes to the empty space created at the right side after shifting the bits.</a:t>
            </a:r>
          </a:p>
          <a:p>
            <a:pPr>
              <a:buFont typeface="Wingdings" pitchFamily="2" charset="2"/>
              <a:buChar char="Ø"/>
            </a:pPr>
            <a:endParaRPr lang="en-US" sz="1800" dirty="0">
              <a:latin typeface="Times New Roman" pitchFamily="18" charset="0"/>
              <a:cs typeface="Times New Roman" pitchFamily="18" charset="0"/>
            </a:endParaRPr>
          </a:p>
          <a:p>
            <a:pPr>
              <a:buNone/>
            </a:pPr>
            <a:r>
              <a:rPr lang="en-US" sz="1800" b="1" dirty="0"/>
              <a:t>Syntax:</a:t>
            </a:r>
          </a:p>
          <a:p>
            <a:pPr>
              <a:buNone/>
            </a:pPr>
            <a:r>
              <a:rPr lang="en-US" sz="1800" dirty="0"/>
              <a:t>var_name &lt;&lt; no_of_position  </a:t>
            </a:r>
          </a:p>
          <a:p>
            <a:pPr>
              <a:buNone/>
            </a:pPr>
            <a:r>
              <a:rPr lang="en-US" sz="2800" dirty="0"/>
              <a:t>      </a:t>
            </a:r>
          </a:p>
          <a:p>
            <a:pPr>
              <a:buNone/>
            </a:pPr>
            <a:r>
              <a:rPr lang="en-US" sz="2800" dirty="0"/>
              <a:t>    *</a:t>
            </a:r>
            <a:r>
              <a:rPr lang="en-US" sz="1800" dirty="0"/>
              <a:t>In the above syntax, var_name represents the integer variable name on which the left shift (&lt;&lt;) operation is to be performed to shift the binary bits at the left side. And the no_of_position variable represents the number of bits to be placed or shifted at the left side.</a:t>
            </a:r>
          </a:p>
          <a:p>
            <a:pPr>
              <a:buNone/>
            </a:pPr>
            <a:r>
              <a:rPr lang="en-US" sz="1800" dirty="0"/>
              <a:t>    </a:t>
            </a:r>
          </a:p>
          <a:p>
            <a:pPr>
              <a:buNone/>
            </a:pPr>
            <a:r>
              <a:rPr lang="en-US" sz="2400" dirty="0"/>
              <a:t>       *  </a:t>
            </a:r>
            <a:r>
              <a:rPr lang="en-US" sz="1800" dirty="0"/>
              <a:t>In other words, the left shift operator shifts the binary bits of the first operand on the left side by the defined number of bits to the second operand.</a:t>
            </a:r>
          </a:p>
          <a:p>
            <a:pPr>
              <a:buNone/>
            </a:pPr>
            <a:endParaRPr lang="en-US" sz="18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buNone/>
            </a:pPr>
            <a:r>
              <a:rPr lang="en-US" sz="2000" b="1" dirty="0">
                <a:latin typeface="Times New Roman" pitchFamily="18" charset="0"/>
                <a:cs typeface="Times New Roman" pitchFamily="18" charset="0"/>
              </a:rPr>
              <a:t>Example:</a:t>
            </a:r>
          </a:p>
          <a:p>
            <a:pPr>
              <a:buNone/>
            </a:pPr>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stdio.h</a:t>
            </a:r>
            <a:r>
              <a:rPr lang="en-US" sz="2000" dirty="0">
                <a:latin typeface="Times New Roman" pitchFamily="18" charset="0"/>
                <a:cs typeface="Times New Roman" pitchFamily="18" charset="0"/>
              </a:rPr>
              <a:t>&gt;  </a:t>
            </a:r>
          </a:p>
          <a:p>
            <a:pPr>
              <a:buNone/>
            </a:pPr>
            <a:r>
              <a:rPr lang="en-US" sz="2000" b="1"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  </a:t>
            </a:r>
          </a:p>
          <a:p>
            <a:pPr>
              <a:buNone/>
            </a:pPr>
            <a:r>
              <a:rPr lang="en-US" sz="2000" dirty="0">
                <a:latin typeface="Times New Roman" pitchFamily="18" charset="0"/>
                <a:cs typeface="Times New Roman" pitchFamily="18" charset="0"/>
              </a:rPr>
              <a:t>{  </a:t>
            </a:r>
          </a:p>
          <a:p>
            <a:pPr>
              <a:buNone/>
            </a:pPr>
            <a:r>
              <a:rPr lang="en-US" sz="2000" b="1" dirty="0" err="1">
                <a:latin typeface="Times New Roman" pitchFamily="18" charset="0"/>
                <a:cs typeface="Times New Roman" pitchFamily="18" charset="0"/>
              </a:rPr>
              <a:t>int</a:t>
            </a:r>
            <a:r>
              <a:rPr lang="en-US" sz="2000" dirty="0">
                <a:latin typeface="Times New Roman" pitchFamily="18" charset="0"/>
                <a:cs typeface="Times New Roman" pitchFamily="18" charset="0"/>
              </a:rPr>
              <a:t> num;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 (" Enter a positive number: ");  </a:t>
            </a:r>
          </a:p>
          <a:p>
            <a:pPr>
              <a:buNone/>
            </a:pPr>
            <a:r>
              <a:rPr lang="en-US" sz="2000" dirty="0" err="1">
                <a:latin typeface="Times New Roman" pitchFamily="18" charset="0"/>
                <a:cs typeface="Times New Roman" pitchFamily="18" charset="0"/>
              </a:rPr>
              <a:t>scanf</a:t>
            </a:r>
            <a:r>
              <a:rPr lang="en-US" sz="2000" dirty="0">
                <a:latin typeface="Times New Roman" pitchFamily="18" charset="0"/>
                <a:cs typeface="Times New Roman" pitchFamily="18" charset="0"/>
              </a:rPr>
              <a:t> (" %d", &amp;num);  </a:t>
            </a:r>
          </a:p>
          <a:p>
            <a:pPr>
              <a:buNone/>
            </a:pPr>
            <a:r>
              <a:rPr lang="en-US" sz="2000" dirty="0">
                <a:latin typeface="Times New Roman" pitchFamily="18" charset="0"/>
                <a:cs typeface="Times New Roman" pitchFamily="18" charset="0"/>
              </a:rPr>
              <a:t>num = (num &lt;&lt; 2); // It shifts two bits at the left side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 (" \n After shifting the binary bits to the left side. ");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 (" \n The new value of the variable num = %d", num);  </a:t>
            </a:r>
          </a:p>
          <a:p>
            <a:pPr>
              <a:buNone/>
            </a:pPr>
            <a:r>
              <a:rPr lang="en-US" sz="2000" b="1" dirty="0">
                <a:latin typeface="Times New Roman" pitchFamily="18" charset="0"/>
                <a:cs typeface="Times New Roman" pitchFamily="18" charset="0"/>
              </a:rPr>
              <a:t>return</a:t>
            </a:r>
            <a:r>
              <a:rPr lang="en-US" sz="2000" dirty="0">
                <a:latin typeface="Times New Roman" pitchFamily="18" charset="0"/>
                <a:cs typeface="Times New Roman" pitchFamily="18" charset="0"/>
              </a:rPr>
              <a:t> 0;  </a:t>
            </a:r>
          </a:p>
          <a:p>
            <a:pPr>
              <a:buNone/>
            </a:pPr>
            <a:r>
              <a:rPr lang="en-US" sz="2000" dirty="0">
                <a:latin typeface="Times New Roman" pitchFamily="18" charset="0"/>
                <a:cs typeface="Times New Roman" pitchFamily="18" charset="0"/>
              </a:rPr>
              <a:t>}  </a:t>
            </a:r>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Out-Put:</a:t>
            </a:r>
          </a:p>
          <a:p>
            <a:pPr>
              <a:buNone/>
            </a:pPr>
            <a:r>
              <a:rPr lang="en-US" sz="2000" dirty="0">
                <a:latin typeface="Times New Roman" pitchFamily="18" charset="0"/>
                <a:cs typeface="Times New Roman" pitchFamily="18" charset="0"/>
              </a:rPr>
              <a:t>Enter a positive number: 25 </a:t>
            </a:r>
          </a:p>
          <a:p>
            <a:pPr>
              <a:buNone/>
            </a:pPr>
            <a:r>
              <a:rPr lang="en-US" sz="2000" dirty="0">
                <a:latin typeface="Times New Roman" pitchFamily="18" charset="0"/>
                <a:cs typeface="Times New Roman" pitchFamily="18" charset="0"/>
              </a:rPr>
              <a:t>After shifting the binary bits to the left side. </a:t>
            </a:r>
          </a:p>
          <a:p>
            <a:pPr>
              <a:buNone/>
            </a:pPr>
            <a:r>
              <a:rPr lang="en-US" sz="2000" dirty="0">
                <a:latin typeface="Times New Roman" pitchFamily="18" charset="0"/>
                <a:cs typeface="Times New Roman" pitchFamily="18" charset="0"/>
              </a:rPr>
              <a:t>The new value of the variable num = 100</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FF0000"/>
                </a:solidFill>
                <a:latin typeface="Times New Roman" pitchFamily="18" charset="0"/>
                <a:cs typeface="Times New Roman" pitchFamily="18" charset="0"/>
              </a:rPr>
              <a:t>Right shift operator</a:t>
            </a:r>
            <a:br>
              <a:rPr lang="en-US" sz="2400" b="1" dirty="0">
                <a:solidFill>
                  <a:srgbClr val="FF0000"/>
                </a:solidFill>
                <a:latin typeface="Times New Roman" pitchFamily="18" charset="0"/>
                <a:cs typeface="Times New Roman" pitchFamily="18" charset="0"/>
              </a:rPr>
            </a:br>
            <a:endParaRPr lang="en-US" sz="24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lstStyle/>
          <a:p>
            <a:pPr>
              <a:buFont typeface="Wingdings" pitchFamily="2" charset="2"/>
              <a:buChar char="Ø"/>
            </a:pPr>
            <a:r>
              <a:rPr lang="en-US" sz="2000" dirty="0">
                <a:latin typeface="Times New Roman" pitchFamily="18" charset="0"/>
                <a:cs typeface="Times New Roman" pitchFamily="18" charset="0"/>
              </a:rPr>
              <a:t>The right shift operator is a type of bitwise shift operator used to move the bits at the right side, and it is represented as the double (&gt;&gt;) arrow symbol. </a:t>
            </a:r>
          </a:p>
          <a:p>
            <a:pPr>
              <a:buFont typeface="Wingdings" pitchFamily="2" charset="2"/>
              <a:buChar char="Ø"/>
            </a:pPr>
            <a:r>
              <a:rPr lang="en-US" sz="2000" dirty="0">
                <a:latin typeface="Times New Roman" pitchFamily="18" charset="0"/>
                <a:cs typeface="Times New Roman" pitchFamily="18" charset="0"/>
              </a:rPr>
              <a:t>Like the Left shift operator, the Right shift operator also requires two operands to shift the bits at the right side and then insert the zeroes at the empty space created at the left side after shifting the bits</a:t>
            </a:r>
            <a:r>
              <a:rPr lang="en-US" dirty="0"/>
              <a:t>.</a:t>
            </a:r>
          </a:p>
          <a:p>
            <a:pPr>
              <a:buNone/>
            </a:pPr>
            <a:r>
              <a:rPr lang="en-US" sz="2000" b="1" dirty="0">
                <a:latin typeface="Times New Roman" pitchFamily="18" charset="0"/>
                <a:cs typeface="Times New Roman" pitchFamily="18" charset="0"/>
              </a:rPr>
              <a:t>Syntax:</a:t>
            </a:r>
          </a:p>
          <a:p>
            <a:pPr>
              <a:buNone/>
            </a:pPr>
            <a:r>
              <a:rPr lang="en-US" sz="2000" dirty="0">
                <a:latin typeface="Times New Roman" pitchFamily="18" charset="0"/>
                <a:cs typeface="Times New Roman" pitchFamily="18" charset="0"/>
              </a:rPr>
              <a:t>var_name &gt;&gt; no_of_position  </a:t>
            </a:r>
          </a:p>
          <a:p>
            <a:pPr>
              <a:buNone/>
            </a:pPr>
            <a:r>
              <a:rPr lang="en-US" sz="1800" dirty="0">
                <a:latin typeface="Times New Roman" pitchFamily="18" charset="0"/>
                <a:cs typeface="Times New Roman" pitchFamily="18" charset="0"/>
              </a:rPr>
              <a:t>    * In the above syntax, var_name represents the integer variable on which the right shift (&gt;&gt;) operation is to be performed to shift the binary bits at the right side. And the no_of_position variable represents the number of bits to be placed or shifted to the right side. </a:t>
            </a:r>
          </a:p>
          <a:p>
            <a:pPr>
              <a:buNone/>
            </a:pPr>
            <a:r>
              <a:rPr lang="en-US" sz="1800" dirty="0">
                <a:latin typeface="Times New Roman" pitchFamily="18" charset="0"/>
                <a:cs typeface="Times New Roman" pitchFamily="18" charset="0"/>
              </a:rPr>
              <a:t>     In other words, the right shift operator shifts the binary bits of the first operand at the right side by defining the total number of bits to the second operand.*</a:t>
            </a:r>
            <a:endParaRPr lang="en-US" sz="1800" b="1"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Autofit/>
          </a:bodyPr>
          <a:lstStyle/>
          <a:p>
            <a:pPr>
              <a:buNone/>
            </a:pPr>
            <a:r>
              <a:rPr lang="en-US" sz="2000" b="1" dirty="0">
                <a:latin typeface="Times New Roman" pitchFamily="18" charset="0"/>
                <a:cs typeface="Times New Roman" pitchFamily="18" charset="0"/>
              </a:rPr>
              <a:t>Example:</a:t>
            </a:r>
          </a:p>
          <a:p>
            <a:pPr>
              <a:buNone/>
            </a:pPr>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stdio.h</a:t>
            </a:r>
            <a:r>
              <a:rPr lang="en-US" sz="2000" dirty="0">
                <a:latin typeface="Times New Roman" pitchFamily="18" charset="0"/>
                <a:cs typeface="Times New Roman" pitchFamily="18" charset="0"/>
              </a:rPr>
              <a:t>&gt;  </a:t>
            </a:r>
          </a:p>
          <a:p>
            <a:pPr>
              <a:buNone/>
            </a:pPr>
            <a:r>
              <a:rPr lang="en-US" sz="2000" b="1"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  </a:t>
            </a:r>
          </a:p>
          <a:p>
            <a:pPr>
              <a:buNone/>
            </a:pPr>
            <a:r>
              <a:rPr lang="en-US" sz="2000" dirty="0">
                <a:latin typeface="Times New Roman" pitchFamily="18" charset="0"/>
                <a:cs typeface="Times New Roman" pitchFamily="18" charset="0"/>
              </a:rPr>
              <a:t>{  </a:t>
            </a:r>
          </a:p>
          <a:p>
            <a:pPr>
              <a:buNone/>
            </a:pPr>
            <a:r>
              <a:rPr lang="en-US" sz="2000" dirty="0">
                <a:latin typeface="Times New Roman" pitchFamily="18" charset="0"/>
                <a:cs typeface="Times New Roman" pitchFamily="18" charset="0"/>
              </a:rPr>
              <a:t>// declare local variable  </a:t>
            </a:r>
          </a:p>
          <a:p>
            <a:pPr>
              <a:buNone/>
            </a:pPr>
            <a:r>
              <a:rPr lang="en-US" sz="2000" b="1" dirty="0" err="1">
                <a:latin typeface="Times New Roman" pitchFamily="18" charset="0"/>
                <a:cs typeface="Times New Roman" pitchFamily="18" charset="0"/>
              </a:rPr>
              <a:t>int</a:t>
            </a:r>
            <a:r>
              <a:rPr lang="en-US" sz="2000" dirty="0">
                <a:latin typeface="Times New Roman" pitchFamily="18" charset="0"/>
                <a:cs typeface="Times New Roman" pitchFamily="18" charset="0"/>
              </a:rPr>
              <a:t> num;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 (" Enter a positive number: ");  </a:t>
            </a:r>
          </a:p>
          <a:p>
            <a:pPr>
              <a:buNone/>
            </a:pPr>
            <a:r>
              <a:rPr lang="en-US" sz="2000" dirty="0" err="1">
                <a:latin typeface="Times New Roman" pitchFamily="18" charset="0"/>
                <a:cs typeface="Times New Roman" pitchFamily="18" charset="0"/>
              </a:rPr>
              <a:t>scanf</a:t>
            </a:r>
            <a:r>
              <a:rPr lang="en-US" sz="2000" dirty="0">
                <a:latin typeface="Times New Roman" pitchFamily="18" charset="0"/>
                <a:cs typeface="Times New Roman" pitchFamily="18" charset="0"/>
              </a:rPr>
              <a:t> (" %d", &amp;num);  </a:t>
            </a:r>
          </a:p>
          <a:p>
            <a:pPr>
              <a:buNone/>
            </a:pPr>
            <a:r>
              <a:rPr lang="en-US" sz="2000" dirty="0">
                <a:latin typeface="Times New Roman" pitchFamily="18" charset="0"/>
                <a:cs typeface="Times New Roman" pitchFamily="18" charset="0"/>
              </a:rPr>
              <a:t>// use right shift operator to shift the bits  </a:t>
            </a:r>
          </a:p>
          <a:p>
            <a:pPr>
              <a:buNone/>
            </a:pPr>
            <a:r>
              <a:rPr lang="en-US" sz="2000" dirty="0">
                <a:latin typeface="Times New Roman" pitchFamily="18" charset="0"/>
                <a:cs typeface="Times New Roman" pitchFamily="18" charset="0"/>
              </a:rPr>
              <a:t>num = (num &gt;&gt; 2); // It shifts two bits at the right side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 (" \n After shifting the binary bits to the right side. ");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 (" \n The new value of the variable num = %d", num);  </a:t>
            </a:r>
          </a:p>
          <a:p>
            <a:pPr>
              <a:buNone/>
            </a:pPr>
            <a:r>
              <a:rPr lang="en-US" sz="2000" b="1" dirty="0">
                <a:latin typeface="Times New Roman" pitchFamily="18" charset="0"/>
                <a:cs typeface="Times New Roman" pitchFamily="18" charset="0"/>
              </a:rPr>
              <a:t>return</a:t>
            </a:r>
            <a:r>
              <a:rPr lang="en-US" sz="2000" dirty="0">
                <a:latin typeface="Times New Roman" pitchFamily="18" charset="0"/>
                <a:cs typeface="Times New Roman" pitchFamily="18" charset="0"/>
              </a:rPr>
              <a:t> 0;  </a:t>
            </a:r>
          </a:p>
          <a:p>
            <a:pPr>
              <a:buNone/>
            </a:pPr>
            <a:r>
              <a:rPr lang="en-US" sz="2000" dirty="0">
                <a:latin typeface="Times New Roman" pitchFamily="18" charset="0"/>
                <a:cs typeface="Times New Roman" pitchFamily="18" charset="0"/>
              </a:rPr>
              <a:t>}  </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678363"/>
          </a:xfrm>
        </p:spPr>
        <p:txBody>
          <a:bodyPr>
            <a:normAutofit/>
          </a:bodyPr>
          <a:lstStyle/>
          <a:p>
            <a:pPr>
              <a:buNone/>
            </a:pPr>
            <a:r>
              <a:rPr lang="en-US" sz="2000" b="1" dirty="0">
                <a:latin typeface="Times New Roman" pitchFamily="18" charset="0"/>
                <a:cs typeface="Times New Roman" pitchFamily="18" charset="0"/>
              </a:rPr>
              <a:t>Out _ put: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Enter a positive number: 25 </a:t>
            </a:r>
          </a:p>
          <a:p>
            <a:r>
              <a:rPr lang="en-US" sz="2000" dirty="0">
                <a:latin typeface="Times New Roman" pitchFamily="18" charset="0"/>
                <a:cs typeface="Times New Roman" pitchFamily="18" charset="0"/>
              </a:rPr>
              <a:t>After shifting the binary bits to the right side. </a:t>
            </a:r>
          </a:p>
          <a:p>
            <a:r>
              <a:rPr lang="en-US" sz="2000" dirty="0">
                <a:latin typeface="Times New Roman" pitchFamily="18" charset="0"/>
                <a:cs typeface="Times New Roman" pitchFamily="18" charset="0"/>
              </a:rPr>
              <a:t>The new value of the variable num = 6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FF0000"/>
                </a:solidFill>
                <a:latin typeface="Times New Roman" pitchFamily="18" charset="0"/>
                <a:cs typeface="Times New Roman" pitchFamily="18" charset="0"/>
              </a:rPr>
              <a:t>Logical Operator</a:t>
            </a:r>
          </a:p>
        </p:txBody>
      </p:sp>
      <p:sp>
        <p:nvSpPr>
          <p:cNvPr id="3" name="Content Placeholder 2"/>
          <p:cNvSpPr>
            <a:spLocks noGrp="1"/>
          </p:cNvSpPr>
          <p:nvPr>
            <p:ph idx="1"/>
          </p:nvPr>
        </p:nvSpPr>
        <p:spPr/>
        <p:txBody>
          <a:bodyPr>
            <a:normAutofit/>
          </a:bodyPr>
          <a:lstStyle/>
          <a:p>
            <a:r>
              <a:rPr lang="en-US" sz="1800" dirty="0">
                <a:latin typeface="Times New Roman" pitchFamily="18" charset="0"/>
                <a:cs typeface="Times New Roman" pitchFamily="18" charset="0"/>
              </a:rPr>
              <a:t>Logical operators are used to evaluate two or more conditions. In General, Logical operators are used to combine relational expressions, but they are not limited to just relational expression you can use any kind of expression even constants. </a:t>
            </a:r>
          </a:p>
          <a:p>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If the result of the logical operator is true then 1 is returned otherwise 0 is returned.</a:t>
            </a:r>
          </a:p>
          <a:p>
            <a:pPr>
              <a:buNone/>
            </a:pPr>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p:txBody>
      </p:sp>
      <p:pic>
        <p:nvPicPr>
          <p:cNvPr id="5" name="Picture 2"/>
          <p:cNvPicPr>
            <a:picLocks noChangeAspect="1" noChangeArrowheads="1"/>
          </p:cNvPicPr>
          <p:nvPr/>
        </p:nvPicPr>
        <p:blipFill>
          <a:blip r:embed="rId2"/>
          <a:srcRect/>
          <a:stretch>
            <a:fillRect/>
          </a:stretch>
        </p:blipFill>
        <p:spPr bwMode="auto">
          <a:xfrm>
            <a:off x="838200" y="3505200"/>
            <a:ext cx="6248400" cy="289560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r>
              <a:rPr lang="en-US" sz="1800" dirty="0">
                <a:latin typeface="Times New Roman" pitchFamily="18" charset="0"/>
                <a:cs typeface="Times New Roman" pitchFamily="18" charset="0"/>
              </a:rPr>
              <a:t>The AND ( &amp;&amp; ) and OR ( || ) are binary operator while NOT ( ! ) is a unary operator.</a:t>
            </a:r>
          </a:p>
          <a:p>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Before we start explaining &amp;&amp; operator, keep in mind that - In C, all non-zero values are considered as true ( 1 ) while 0 is considered as false.</a:t>
            </a:r>
          </a:p>
          <a:p>
            <a:endParaRPr lang="en-US" sz="1800" dirty="0">
              <a:latin typeface="Times New Roman" pitchFamily="18" charset="0"/>
              <a:cs typeface="Times New Roman" pitchFamily="18" charset="0"/>
            </a:endParaRPr>
          </a:p>
          <a:p>
            <a:pPr>
              <a:buNone/>
            </a:pPr>
            <a:r>
              <a:rPr lang="en-US" sz="1800" b="1" dirty="0">
                <a:solidFill>
                  <a:srgbClr val="FF0000"/>
                </a:solidFill>
                <a:latin typeface="Times New Roman" pitchFamily="18" charset="0"/>
                <a:cs typeface="Times New Roman" pitchFamily="18" charset="0"/>
              </a:rPr>
              <a:t>AND (&amp;&amp;) operator :</a:t>
            </a:r>
          </a:p>
          <a:p>
            <a:pPr>
              <a:buNone/>
            </a:pPr>
            <a:endParaRPr lang="en-US" sz="1800" dirty="0">
              <a:latin typeface="Times New Roman" pitchFamily="18" charset="0"/>
              <a:cs typeface="Times New Roman" pitchFamily="18" charset="0"/>
            </a:endParaRPr>
          </a:p>
          <a:p>
            <a:pPr>
              <a:buFont typeface="Wingdings" pitchFamily="2" charset="2"/>
              <a:buChar char="v"/>
            </a:pPr>
            <a:r>
              <a:rPr lang="en-US" sz="1800" dirty="0"/>
              <a:t>This operator gives the net result of true (</a:t>
            </a:r>
            <a:r>
              <a:rPr lang="en-US" sz="1800" dirty="0" err="1"/>
              <a:t>i.e</a:t>
            </a:r>
            <a:r>
              <a:rPr lang="en-US" sz="1800" dirty="0"/>
              <a:t> 1) if both operands are true, otherwise false (</a:t>
            </a:r>
            <a:r>
              <a:rPr lang="en-US" sz="1800" dirty="0" err="1"/>
              <a:t>i.e</a:t>
            </a:r>
            <a:r>
              <a:rPr lang="en-US" sz="1800" dirty="0"/>
              <a:t> 0).</a:t>
            </a:r>
          </a:p>
          <a:p>
            <a:pPr>
              <a:buFont typeface="Wingdings" pitchFamily="2" charset="2"/>
              <a:buChar char="v"/>
            </a:pPr>
            <a:endParaRPr lang="en-US" sz="1800" dirty="0">
              <a:latin typeface="Times New Roman" pitchFamily="18" charset="0"/>
              <a:cs typeface="Times New Roman" pitchFamily="18" charset="0"/>
            </a:endParaRPr>
          </a:p>
          <a:p>
            <a:pPr>
              <a:buNone/>
            </a:pPr>
            <a:r>
              <a:rPr lang="en-US" sz="1800" b="1" dirty="0">
                <a:latin typeface="Times New Roman" pitchFamily="18" charset="0"/>
                <a:cs typeface="Times New Roman" pitchFamily="18" charset="0"/>
              </a:rPr>
              <a:t>True Table:</a:t>
            </a:r>
          </a:p>
        </p:txBody>
      </p:sp>
      <p:pic>
        <p:nvPicPr>
          <p:cNvPr id="6" name="Picture 5"/>
          <p:cNvPicPr>
            <a:picLocks noChangeAspect="1" noChangeArrowheads="1"/>
          </p:cNvPicPr>
          <p:nvPr/>
        </p:nvPicPr>
        <p:blipFill>
          <a:blip r:embed="rId2"/>
          <a:srcRect/>
          <a:stretch>
            <a:fillRect/>
          </a:stretch>
        </p:blipFill>
        <p:spPr bwMode="auto">
          <a:xfrm>
            <a:off x="533400" y="4343400"/>
            <a:ext cx="7010400" cy="1981200"/>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latin typeface="Times New Roman" pitchFamily="18" charset="0"/>
                <a:cs typeface="Times New Roman" pitchFamily="18" charset="0"/>
              </a:rPr>
              <a:t>Example:</a:t>
            </a:r>
          </a:p>
        </p:txBody>
      </p:sp>
      <p:sp>
        <p:nvSpPr>
          <p:cNvPr id="3" name="Content Placeholder 2"/>
          <p:cNvSpPr>
            <a:spLocks noGrp="1"/>
          </p:cNvSpPr>
          <p:nvPr>
            <p:ph idx="1"/>
          </p:nvPr>
        </p:nvSpPr>
        <p:spPr/>
        <p:txBody>
          <a:bodyPr>
            <a:normAutofit/>
          </a:bodyPr>
          <a:lstStyle/>
          <a:p>
            <a:pPr>
              <a:buNone/>
            </a:pPr>
            <a:r>
              <a:rPr lang="en-US" sz="1800" dirty="0" err="1">
                <a:latin typeface="Times New Roman" pitchFamily="18" charset="0"/>
                <a:cs typeface="Times New Roman" pitchFamily="18" charset="0"/>
              </a:rPr>
              <a:t>int</a:t>
            </a:r>
            <a:r>
              <a:rPr lang="en-US" sz="1800" dirty="0">
                <a:latin typeface="Times New Roman" pitchFamily="18" charset="0"/>
                <a:cs typeface="Times New Roman" pitchFamily="18" charset="0"/>
              </a:rPr>
              <a:t>  a = 12, b = 3;</a:t>
            </a:r>
          </a:p>
          <a:p>
            <a:pPr>
              <a:buNone/>
            </a:pPr>
            <a:endParaRPr lang="en-US" sz="1800" dirty="0"/>
          </a:p>
          <a:p>
            <a:pPr>
              <a:buNone/>
            </a:pPr>
            <a:r>
              <a:rPr lang="en-US" sz="1800" dirty="0"/>
              <a:t>Suppose we have the following logical expression:</a:t>
            </a:r>
          </a:p>
          <a:p>
            <a:endParaRPr lang="en-US" sz="1800" dirty="0"/>
          </a:p>
          <a:p>
            <a:r>
              <a:rPr lang="en-US" sz="1800" dirty="0"/>
              <a:t>(a==12) &amp;&amp; (b&lt;5)</a:t>
            </a:r>
          </a:p>
          <a:p>
            <a:pPr>
              <a:buNone/>
            </a:pPr>
            <a:endParaRPr lang="en-US" sz="1800" dirty="0">
              <a:latin typeface="Times New Roman" pitchFamily="18" charset="0"/>
              <a:cs typeface="Times New Roman" pitchFamily="18" charset="0"/>
            </a:endParaRPr>
          </a:p>
          <a:p>
            <a:pPr>
              <a:buNone/>
            </a:pPr>
            <a:endParaRPr lang="en-US" sz="1800" dirty="0"/>
          </a:p>
          <a:p>
            <a:pPr>
              <a:buNone/>
            </a:pPr>
            <a:endParaRPr lang="en-US" sz="1800" dirty="0"/>
          </a:p>
          <a:p>
            <a:pPr>
              <a:buNone/>
            </a:pPr>
            <a:r>
              <a:rPr lang="en-US" sz="1800" dirty="0"/>
              <a:t>In the above expression both the conditions (a == 12 and b &lt; 5) are true, therefore the whole expression is true. As a result, the value of the whole logical expression is 1.</a:t>
            </a:r>
          </a:p>
          <a:p>
            <a:pPr>
              <a:buNone/>
            </a:pPr>
            <a:endParaRPr lang="en-US" sz="1800" dirty="0">
              <a:latin typeface="Times New Roman" pitchFamily="18" charset="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a:latin typeface="Times New Roman" pitchFamily="18" charset="0"/>
                <a:cs typeface="Times New Roman" pitchFamily="18" charset="0"/>
              </a:rPr>
              <a:t>Example:</a:t>
            </a:r>
          </a:p>
        </p:txBody>
      </p:sp>
      <p:sp>
        <p:nvSpPr>
          <p:cNvPr id="3" name="Content Placeholder 2"/>
          <p:cNvSpPr>
            <a:spLocks noGrp="1"/>
          </p:cNvSpPr>
          <p:nvPr>
            <p:ph idx="1"/>
          </p:nvPr>
        </p:nvSpPr>
        <p:spPr/>
        <p:txBody>
          <a:bodyPr>
            <a:normAutofit/>
          </a:bodyPr>
          <a:lstStyle/>
          <a:p>
            <a:pPr>
              <a:buNone/>
            </a:pPr>
            <a:r>
              <a:rPr lang="en-US" sz="2000" dirty="0">
                <a:latin typeface="Times New Roman" pitchFamily="18" charset="0"/>
                <a:cs typeface="Times New Roman" pitchFamily="18" charset="0"/>
              </a:rPr>
              <a:t>#include</a:t>
            </a:r>
            <a:r>
              <a:rPr lang="en-US" sz="2000" i="1" dirty="0">
                <a:latin typeface="Times New Roman" pitchFamily="18" charset="0"/>
                <a:cs typeface="Times New Roman" pitchFamily="18" charset="0"/>
              </a:rPr>
              <a:t>&lt;</a:t>
            </a:r>
            <a:r>
              <a:rPr lang="en-US" sz="2000" i="1" dirty="0" err="1">
                <a:latin typeface="Times New Roman" pitchFamily="18" charset="0"/>
                <a:cs typeface="Times New Roman" pitchFamily="18" charset="0"/>
              </a:rPr>
              <a:t>stdio.h</a:t>
            </a:r>
            <a:r>
              <a:rPr lang="en-US" sz="2000" i="1" dirty="0">
                <a:latin typeface="Times New Roman" pitchFamily="18" charset="0"/>
                <a:cs typeface="Times New Roman" pitchFamily="18" charset="0"/>
              </a:rPr>
              <a:t>&gt;</a:t>
            </a:r>
          </a:p>
          <a:p>
            <a:pPr>
              <a:buNone/>
            </a:pP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pPr>
              <a:buNone/>
            </a:pPr>
            <a:r>
              <a:rPr lang="en-US" sz="2000" dirty="0">
                <a:latin typeface="Times New Roman" pitchFamily="18" charset="0"/>
                <a:cs typeface="Times New Roman" pitchFamily="18" charset="0"/>
              </a:rPr>
              <a:t>{ </a:t>
            </a:r>
          </a:p>
          <a:p>
            <a:pPr>
              <a:buNone/>
            </a:pP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 = 12, result;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("Initial value of a = %d</a:t>
            </a:r>
            <a:r>
              <a:rPr lang="en-US" sz="2000" b="1" dirty="0">
                <a:latin typeface="Times New Roman" pitchFamily="18" charset="0"/>
                <a:cs typeface="Times New Roman" pitchFamily="18" charset="0"/>
              </a:rPr>
              <a:t>\n</a:t>
            </a:r>
            <a:r>
              <a:rPr lang="en-US" sz="2000" dirty="0">
                <a:latin typeface="Times New Roman" pitchFamily="18" charset="0"/>
                <a:cs typeface="Times New Roman" pitchFamily="18" charset="0"/>
              </a:rPr>
              <a:t>", a);</a:t>
            </a:r>
          </a:p>
          <a:p>
            <a:pPr>
              <a:buNone/>
            </a:pPr>
            <a:r>
              <a:rPr lang="en-US" sz="2000" dirty="0">
                <a:latin typeface="Times New Roman" pitchFamily="18" charset="0"/>
                <a:cs typeface="Times New Roman" pitchFamily="18" charset="0"/>
              </a:rPr>
              <a:t>result = (a==11) &amp;&amp; (a++);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("Final value of a = %d</a:t>
            </a:r>
            <a:r>
              <a:rPr lang="en-US" sz="2000" b="1" dirty="0">
                <a:latin typeface="Times New Roman" pitchFamily="18" charset="0"/>
                <a:cs typeface="Times New Roman" pitchFamily="18" charset="0"/>
              </a:rPr>
              <a:t>\n</a:t>
            </a:r>
            <a:r>
              <a:rPr lang="en-US" sz="2000" dirty="0">
                <a:latin typeface="Times New Roman" pitchFamily="18" charset="0"/>
                <a:cs typeface="Times New Roman" pitchFamily="18" charset="0"/>
              </a:rPr>
              <a:t>", a); </a:t>
            </a:r>
          </a:p>
          <a:p>
            <a:pPr>
              <a:buNone/>
            </a:pP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("Result of logical expression = %d</a:t>
            </a:r>
            <a:r>
              <a:rPr lang="en-US" sz="2000" b="1" dirty="0">
                <a:latin typeface="Times New Roman" pitchFamily="18" charset="0"/>
                <a:cs typeface="Times New Roman" pitchFamily="18" charset="0"/>
              </a:rPr>
              <a:t>\n</a:t>
            </a:r>
            <a:r>
              <a:rPr lang="en-US" sz="2000" dirty="0">
                <a:latin typeface="Times New Roman" pitchFamily="18" charset="0"/>
                <a:cs typeface="Times New Roman" pitchFamily="18" charset="0"/>
              </a:rPr>
              <a:t>", result);</a:t>
            </a:r>
          </a:p>
          <a:p>
            <a:pPr>
              <a:buNone/>
            </a:pPr>
            <a:r>
              <a:rPr lang="en-US" sz="2000" b="1" dirty="0"/>
              <a:t>return</a:t>
            </a:r>
            <a:r>
              <a:rPr lang="en-US" sz="2000" dirty="0"/>
              <a:t> 0;</a:t>
            </a:r>
          </a:p>
          <a:p>
            <a:pPr>
              <a:buNone/>
            </a:pPr>
            <a:r>
              <a:rPr lang="en-US" sz="2000" dirty="0"/>
              <a:t> }</a:t>
            </a:r>
          </a:p>
          <a:p>
            <a:pPr>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r>
              <a:rPr lang="en-US" sz="3600" dirty="0">
                <a:solidFill>
                  <a:srgbClr val="FF0000"/>
                </a:solidFill>
                <a:latin typeface="Times New Roman" pitchFamily="18" charset="0"/>
                <a:cs typeface="Times New Roman" pitchFamily="18" charset="0"/>
              </a:rPr>
              <a:t>Logical Operators in C</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Logical operators are part of binary operators. These operators are specifically used when we are going to combine two or more requirements together. </a:t>
            </a:r>
          </a:p>
          <a:p>
            <a:pPr>
              <a:buFont typeface="Wingdings" pitchFamily="2" charset="2"/>
              <a:buChar char="Ø"/>
            </a:pPr>
            <a:r>
              <a:rPr lang="en-US" sz="2400" dirty="0">
                <a:latin typeface="Times New Roman" pitchFamily="18" charset="0"/>
                <a:cs typeface="Times New Roman" pitchFamily="18" charset="0"/>
              </a:rPr>
              <a:t>These can be used in many conditional and relational expressions. </a:t>
            </a:r>
          </a:p>
          <a:p>
            <a:pPr>
              <a:buFont typeface="Wingdings" pitchFamily="2" charset="2"/>
              <a:buChar char="Ø"/>
            </a:pPr>
            <a:r>
              <a:rPr lang="en-US" sz="2400" dirty="0">
                <a:latin typeface="Times New Roman" pitchFamily="18" charset="0"/>
                <a:cs typeface="Times New Roman" pitchFamily="18" charset="0"/>
              </a:rPr>
              <a:t>On evaluating these conditions, these are the Boolean expressions which give an output of either 1/0 for True/False respectively. </a:t>
            </a: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381000" y="762000"/>
            <a:ext cx="8534400" cy="586740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sz="3600" b="1" dirty="0">
                <a:solidFill>
                  <a:srgbClr val="FF0000"/>
                </a:solidFill>
                <a:latin typeface="Times New Roman" pitchFamily="18" charset="0"/>
                <a:cs typeface="Times New Roman" pitchFamily="18" charset="0"/>
              </a:rPr>
              <a:t/>
            </a:r>
            <a:br>
              <a:rPr lang="en-US" sz="3600" b="1" dirty="0">
                <a:solidFill>
                  <a:srgbClr val="FF0000"/>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C examples of Logical OR (||) operator</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#include &lt;</a:t>
            </a:r>
            <a:r>
              <a:rPr lang="en-US" sz="2400" dirty="0" err="1">
                <a:latin typeface="Times New Roman" pitchFamily="18" charset="0"/>
                <a:cs typeface="Times New Roman" pitchFamily="18" charset="0"/>
              </a:rPr>
              <a:t>stdio.h</a:t>
            </a:r>
            <a:r>
              <a:rPr lang="en-US" sz="2400" dirty="0">
                <a:latin typeface="Times New Roman" pitchFamily="18" charset="0"/>
                <a:cs typeface="Times New Roman" pitchFamily="18" charset="0"/>
              </a:rPr>
              <a:t>&gt;</a:t>
            </a:r>
          </a:p>
          <a:p>
            <a:pPr>
              <a:buNone/>
            </a:pPr>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main() </a:t>
            </a:r>
          </a:p>
          <a:p>
            <a:pPr>
              <a:buNone/>
            </a:pPr>
            <a:r>
              <a:rPr lang="en-US" sz="2400" dirty="0">
                <a:latin typeface="Times New Roman" pitchFamily="18" charset="0"/>
                <a:cs typeface="Times New Roman" pitchFamily="18" charset="0"/>
              </a:rPr>
              <a:t>{ </a:t>
            </a:r>
          </a:p>
          <a:p>
            <a:pPr>
              <a:buNone/>
            </a:pPr>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num =10;                   //printing result with OR (||) operator </a:t>
            </a:r>
          </a:p>
          <a:p>
            <a:pPr>
              <a:buNone/>
            </a:pP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("%d\n",(num==10 || num&gt;=5));</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("%d\n",(num&gt;=5 || num&lt;=50)); </a:t>
            </a:r>
          </a:p>
          <a:p>
            <a:pPr>
              <a:buNone/>
            </a:pP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("%d\n",(num!=10 || num&gt;=5));</a:t>
            </a:r>
          </a:p>
          <a:p>
            <a:pPr>
              <a:buNone/>
            </a:pP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("%d\n",(num&gt;=20 || num!=10)); </a:t>
            </a:r>
          </a:p>
          <a:p>
            <a:pPr>
              <a:buNone/>
            </a:pPr>
            <a:r>
              <a:rPr lang="en-US" sz="2400" b="1" dirty="0">
                <a:latin typeface="Times New Roman" pitchFamily="18" charset="0"/>
                <a:cs typeface="Times New Roman" pitchFamily="18" charset="0"/>
              </a:rPr>
              <a:t>return</a:t>
            </a:r>
            <a:r>
              <a:rPr lang="en-US" sz="2400" dirty="0">
                <a:latin typeface="Times New Roman" pitchFamily="18" charset="0"/>
                <a:cs typeface="Times New Roman" pitchFamily="18" charset="0"/>
              </a:rPr>
              <a:t> 0;</a:t>
            </a:r>
          </a:p>
          <a:p>
            <a:pPr>
              <a:buNone/>
            </a:pPr>
            <a:r>
              <a:rPr lang="en-US" sz="2400" dirty="0">
                <a:latin typeface="Times New Roman" pitchFamily="18" charset="0"/>
                <a:cs typeface="Times New Roman" pitchFamily="18" charset="0"/>
              </a:rPr>
              <a: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latin typeface="Times New Roman" pitchFamily="18" charset="0"/>
                <a:cs typeface="Times New Roman" pitchFamily="18" charset="0"/>
              </a:rPr>
              <a:t>Meaning Description of Relational Operator</a:t>
            </a:r>
          </a:p>
        </p:txBody>
      </p:sp>
      <p:pic>
        <p:nvPicPr>
          <p:cNvPr id="1026" name="Picture 2"/>
          <p:cNvPicPr>
            <a:picLocks noGrp="1" noChangeAspect="1" noChangeArrowheads="1"/>
          </p:cNvPicPr>
          <p:nvPr>
            <p:ph idx="1"/>
          </p:nvPr>
        </p:nvPicPr>
        <p:blipFill>
          <a:blip r:embed="rId2"/>
          <a:srcRect/>
          <a:stretch>
            <a:fillRect/>
          </a:stretch>
        </p:blipFill>
        <p:spPr bwMode="auto">
          <a:xfrm>
            <a:off x="609600" y="1447800"/>
            <a:ext cx="8153400" cy="4953000"/>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variable</a:t>
            </a:r>
          </a:p>
        </p:txBody>
      </p:sp>
      <p:sp>
        <p:nvSpPr>
          <p:cNvPr id="3" name="Content Placeholder 2"/>
          <p:cNvSpPr>
            <a:spLocks noGrp="1"/>
          </p:cNvSpPr>
          <p:nvPr>
            <p:ph idx="1"/>
          </p:nvPr>
        </p:nvSpPr>
        <p:spPr>
          <a:xfrm>
            <a:off x="457200" y="1447800"/>
            <a:ext cx="8229600" cy="4678363"/>
          </a:xfrm>
        </p:spPr>
        <p:txBody>
          <a:bodyPr>
            <a:normAutofit fontScale="92500" lnSpcReduction="20000"/>
          </a:bodyPr>
          <a:lstStyle/>
          <a:p>
            <a:r>
              <a:rPr lang="en-US" sz="2400" dirty="0">
                <a:latin typeface="Times New Roman" pitchFamily="18" charset="0"/>
                <a:cs typeface="Times New Roman" pitchFamily="18" charset="0"/>
              </a:rPr>
              <a:t>A </a:t>
            </a:r>
            <a:r>
              <a:rPr lang="en-US" sz="2400" b="1" dirty="0">
                <a:latin typeface="Times New Roman" pitchFamily="18" charset="0"/>
                <a:cs typeface="Times New Roman" pitchFamily="18" charset="0"/>
              </a:rPr>
              <a:t>variable</a:t>
            </a:r>
            <a:r>
              <a:rPr lang="en-US" sz="2400" dirty="0">
                <a:latin typeface="Times New Roman" pitchFamily="18" charset="0"/>
                <a:cs typeface="Times New Roman" pitchFamily="18" charset="0"/>
              </a:rPr>
              <a:t> is a name of the memory location. It is used to store data. Its value can be changed, and it can be reused many times.</a:t>
            </a:r>
          </a:p>
          <a:p>
            <a:r>
              <a:rPr lang="en-US" sz="2400" dirty="0">
                <a:latin typeface="Times New Roman" pitchFamily="18" charset="0"/>
                <a:cs typeface="Times New Roman" pitchFamily="18" charset="0"/>
              </a:rPr>
              <a:t>It is a way to represent memory location through symbol so that it can be easily identified.</a:t>
            </a:r>
          </a:p>
          <a:p>
            <a:r>
              <a:rPr lang="en-US" sz="2400" dirty="0">
                <a:latin typeface="Times New Roman" pitchFamily="18" charset="0"/>
                <a:cs typeface="Times New Roman" pitchFamily="18" charset="0"/>
              </a:rPr>
              <a:t>Let's see the syntax to declare a variable:</a:t>
            </a:r>
          </a:p>
          <a:p>
            <a:endParaRPr lang="en-US" sz="2400" dirty="0">
              <a:latin typeface="Times New Roman" pitchFamily="18" charset="0"/>
              <a:cs typeface="Times New Roman" pitchFamily="18" charset="0"/>
            </a:endParaRPr>
          </a:p>
          <a:p>
            <a:pPr>
              <a:buNone/>
            </a:pPr>
            <a:r>
              <a:rPr lang="en-US" sz="2400" dirty="0"/>
              <a:t>type variable _ list;  </a:t>
            </a:r>
          </a:p>
          <a:p>
            <a:pPr>
              <a:buNone/>
            </a:pPr>
            <a:endParaRPr lang="en-US" sz="2400" b="1" dirty="0"/>
          </a:p>
          <a:p>
            <a:pPr>
              <a:buNone/>
            </a:pPr>
            <a:r>
              <a:rPr lang="en-US" sz="2400" b="1" dirty="0">
                <a:solidFill>
                  <a:srgbClr val="FF0000"/>
                </a:solidFill>
              </a:rPr>
              <a:t>Syntax</a:t>
            </a:r>
          </a:p>
          <a:p>
            <a:endParaRPr lang="en-US" sz="2400" dirty="0"/>
          </a:p>
          <a:p>
            <a:r>
              <a:rPr lang="en-US" sz="2400" dirty="0" err="1"/>
              <a:t>Datatype</a:t>
            </a:r>
            <a:r>
              <a:rPr lang="en-US" sz="2400" dirty="0"/>
              <a:t> </a:t>
            </a:r>
            <a:r>
              <a:rPr lang="en-US" sz="2400" dirty="0" err="1"/>
              <a:t>variable_name</a:t>
            </a:r>
            <a:r>
              <a:rPr lang="en-US" sz="2400" dirty="0"/>
              <a:t>;  </a:t>
            </a:r>
          </a:p>
          <a:p>
            <a:pPr>
              <a:buNone/>
            </a:pPr>
            <a:r>
              <a:rPr lang="en-US" sz="2400" dirty="0"/>
              <a:t>     </a:t>
            </a:r>
          </a:p>
          <a:p>
            <a:pPr>
              <a:buNone/>
            </a:pPr>
            <a:r>
              <a:rPr lang="en-US" sz="2400" dirty="0"/>
              <a:t>      </a:t>
            </a:r>
            <a:r>
              <a:rPr lang="en-US" sz="2400" dirty="0" err="1"/>
              <a:t>int</a:t>
            </a:r>
            <a:r>
              <a:rPr lang="en-US" sz="2400" dirty="0"/>
              <a:t> a;</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FF0000"/>
                </a:solidFill>
                <a:latin typeface="Times New Roman" pitchFamily="18" charset="0"/>
                <a:cs typeface="Times New Roman" pitchFamily="18" charset="0"/>
              </a:rPr>
              <a:t>To Declare any variable in C language you need to follow rules and regulation of C Language</a:t>
            </a:r>
          </a:p>
        </p:txBody>
      </p:sp>
      <p:sp>
        <p:nvSpPr>
          <p:cNvPr id="3" name="Content Placeholder 2"/>
          <p:cNvSpPr>
            <a:spLocks noGrp="1"/>
          </p:cNvSpPr>
          <p:nvPr>
            <p:ph idx="1"/>
          </p:nvPr>
        </p:nvSpPr>
        <p:spPr>
          <a:xfrm>
            <a:off x="457200" y="1600200"/>
            <a:ext cx="8229600" cy="4876800"/>
          </a:xfrm>
        </p:spPr>
        <p:txBody>
          <a:bodyPr>
            <a:noAutofit/>
          </a:bodyPr>
          <a:lstStyle/>
          <a:p>
            <a:r>
              <a:rPr lang="en-US" sz="2400" dirty="0">
                <a:latin typeface="Times New Roman" pitchFamily="18" charset="0"/>
                <a:cs typeface="Times New Roman" pitchFamily="18" charset="0"/>
              </a:rPr>
              <a:t>Every variable name should start with alphabets or underscore (_).</a:t>
            </a:r>
          </a:p>
          <a:p>
            <a:r>
              <a:rPr lang="en-US" sz="2400" dirty="0">
                <a:latin typeface="Times New Roman" pitchFamily="18" charset="0"/>
                <a:cs typeface="Times New Roman" pitchFamily="18" charset="0"/>
              </a:rPr>
              <a:t>No spaces are allowed in variable declaration.</a:t>
            </a:r>
          </a:p>
          <a:p>
            <a:r>
              <a:rPr lang="en-US" sz="2400" dirty="0">
                <a:latin typeface="Times New Roman" pitchFamily="18" charset="0"/>
                <a:cs typeface="Times New Roman" pitchFamily="18" charset="0"/>
              </a:rPr>
              <a:t>Except underscore (_) no other special symbol are allowed in the middle of the variable declaration (not allowed -&gt; roll-no, allowed -&gt; </a:t>
            </a:r>
            <a:r>
              <a:rPr lang="en-US" sz="2400" dirty="0" err="1">
                <a:latin typeface="Times New Roman" pitchFamily="18" charset="0"/>
                <a:cs typeface="Times New Roman" pitchFamily="18" charset="0"/>
              </a:rPr>
              <a:t>roll_no</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Maximum length of variable is 8 characters depend on compiler and operation system.</a:t>
            </a:r>
          </a:p>
          <a:p>
            <a:r>
              <a:rPr lang="en-US" sz="2400" dirty="0">
                <a:latin typeface="Times New Roman" pitchFamily="18" charset="0"/>
                <a:cs typeface="Times New Roman" pitchFamily="18" charset="0"/>
              </a:rPr>
              <a:t>Every variable name always should exist in the left hand side of assignment operator (invalid -&gt; 10=a; valid -&gt; a=10;).</a:t>
            </a:r>
          </a:p>
          <a:p>
            <a:r>
              <a:rPr lang="en-US" sz="2400" dirty="0">
                <a:latin typeface="Times New Roman" pitchFamily="18" charset="0"/>
                <a:cs typeface="Times New Roman" pitchFamily="18" charset="0"/>
              </a:rPr>
              <a:t>No keyword should access variable name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for &lt;- invalid because for is keyword).</a:t>
            </a:r>
          </a:p>
          <a:p>
            <a:endParaRPr lang="en-US" sz="2400" dirty="0">
              <a:latin typeface="Times New Roman" pitchFamily="18" charset="0"/>
              <a:cs typeface="Times New Roman"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b="1" dirty="0">
                <a:solidFill>
                  <a:srgbClr val="FF0000"/>
                </a:solidFill>
              </a:rPr>
              <a:t>Garbage value</a:t>
            </a:r>
          </a:p>
          <a:p>
            <a:pPr>
              <a:buNone/>
            </a:pP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Garbage value</a:t>
            </a:r>
            <a:r>
              <a:rPr lang="en-US" dirty="0"/>
              <a:t> </a:t>
            </a:r>
            <a:r>
              <a:rPr lang="en-US" sz="2400" dirty="0">
                <a:latin typeface="Times New Roman" pitchFamily="18" charset="0"/>
                <a:cs typeface="Times New Roman" pitchFamily="18" charset="0"/>
              </a:rPr>
              <a:t>can be any value given by system and that is no way related to correct programs. This is a disadvantage of C programming language and in C programming it can overcome using variable initialization.</a:t>
            </a: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dirty="0"/>
          </a:p>
        </p:txBody>
      </p:sp>
      <p:pic>
        <p:nvPicPr>
          <p:cNvPr id="5" name="Picture 2"/>
          <p:cNvPicPr>
            <a:picLocks noChangeAspect="1" noChangeArrowheads="1"/>
          </p:cNvPicPr>
          <p:nvPr/>
        </p:nvPicPr>
        <p:blipFill>
          <a:blip r:embed="rId2"/>
          <a:srcRect/>
          <a:stretch>
            <a:fillRect/>
          </a:stretch>
        </p:blipFill>
        <p:spPr bwMode="auto">
          <a:xfrm>
            <a:off x="1447800" y="3200400"/>
            <a:ext cx="5257800" cy="274320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normAutofit/>
          </a:bodyPr>
          <a:lstStyle/>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If no input values are assigned by the user than system will gives a default value called garbage value.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a:solidFill>
                  <a:srgbClr val="FF0000"/>
                </a:solidFill>
                <a:latin typeface="Times New Roman" pitchFamily="18" charset="0"/>
                <a:cs typeface="Times New Roman" pitchFamily="18" charset="0"/>
              </a:rPr>
              <a:t/>
            </a:r>
            <a:br>
              <a:rPr lang="en-US" sz="3200" b="1" dirty="0">
                <a:solidFill>
                  <a:srgbClr val="FF0000"/>
                </a:solidFill>
                <a:latin typeface="Times New Roman" pitchFamily="18" charset="0"/>
                <a:cs typeface="Times New Roman" pitchFamily="18" charset="0"/>
              </a:rPr>
            </a:br>
            <a:r>
              <a:rPr lang="en-US" sz="3200" b="1" dirty="0">
                <a:solidFill>
                  <a:srgbClr val="FF0000"/>
                </a:solidFill>
                <a:latin typeface="Times New Roman" pitchFamily="18" charset="0"/>
                <a:cs typeface="Times New Roman" pitchFamily="18" charset="0"/>
              </a:rPr>
              <a:t>Types of Variables in C</a:t>
            </a:r>
            <a:br>
              <a:rPr lang="en-US" sz="3200" b="1" dirty="0">
                <a:solidFill>
                  <a:srgbClr val="FF0000"/>
                </a:solidFill>
                <a:latin typeface="Times New Roman" pitchFamily="18" charset="0"/>
                <a:cs typeface="Times New Roman" pitchFamily="18" charset="0"/>
              </a:rPr>
            </a:b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a:t>Local variable</a:t>
            </a:r>
          </a:p>
          <a:p>
            <a:r>
              <a:rPr lang="en-US" dirty="0"/>
              <a:t>global variable</a:t>
            </a:r>
          </a:p>
          <a:p>
            <a:r>
              <a:rPr lang="en-US" dirty="0"/>
              <a:t>static variable</a:t>
            </a:r>
          </a:p>
          <a:p>
            <a:r>
              <a:rPr lang="en-US" dirty="0"/>
              <a:t>automatic variable</a:t>
            </a:r>
          </a:p>
          <a:p>
            <a:r>
              <a:rPr lang="en-US" dirty="0"/>
              <a:t>external variable</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sz="3600" dirty="0">
                <a:solidFill>
                  <a:srgbClr val="FF0000"/>
                </a:solidFill>
                <a:latin typeface="Times New Roman" pitchFamily="18" charset="0"/>
                <a:cs typeface="Times New Roman" pitchFamily="18" charset="0"/>
              </a:rPr>
              <a:t>Local Variable</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US" dirty="0"/>
          </a:p>
          <a:p>
            <a:r>
              <a:rPr lang="en-US" sz="2400" dirty="0">
                <a:latin typeface="Times New Roman" pitchFamily="18" charset="0"/>
                <a:cs typeface="Times New Roman" pitchFamily="18" charset="0"/>
              </a:rPr>
              <a:t>A variable that is declared inside the function or block is called a local variable.</a:t>
            </a:r>
          </a:p>
          <a:p>
            <a:endParaRPr lang="en-US" dirty="0"/>
          </a:p>
          <a:p>
            <a:pPr>
              <a:buNone/>
            </a:pPr>
            <a:r>
              <a:rPr lang="en-US" b="1" dirty="0"/>
              <a:t>void</a:t>
            </a:r>
            <a:r>
              <a:rPr lang="en-US" dirty="0"/>
              <a:t> function1()</a:t>
            </a:r>
          </a:p>
          <a:p>
            <a:pPr>
              <a:buNone/>
            </a:pPr>
            <a:r>
              <a:rPr lang="en-US" dirty="0"/>
              <a:t>{  </a:t>
            </a:r>
          </a:p>
          <a:p>
            <a:pPr>
              <a:buNone/>
            </a:pPr>
            <a:r>
              <a:rPr lang="en-US" b="1" dirty="0" err="1"/>
              <a:t>int</a:t>
            </a:r>
            <a:r>
              <a:rPr lang="en-US" dirty="0"/>
              <a:t> x=10;   //local variable  </a:t>
            </a:r>
          </a:p>
          <a:p>
            <a:pPr>
              <a:buNone/>
            </a:pPr>
            <a:r>
              <a:rPr lang="en-US" dirty="0"/>
              <a:t>}  </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Example:</a:t>
            </a:r>
          </a:p>
        </p:txBody>
      </p:sp>
      <p:sp>
        <p:nvSpPr>
          <p:cNvPr id="3" name="Content Placeholder 2"/>
          <p:cNvSpPr>
            <a:spLocks noGrp="1"/>
          </p:cNvSpPr>
          <p:nvPr>
            <p:ph idx="1"/>
          </p:nvPr>
        </p:nvSpPr>
        <p:spPr/>
        <p:txBody>
          <a:bodyPr>
            <a:normAutofit/>
          </a:bodyPr>
          <a:lstStyle/>
          <a:p>
            <a:pPr>
              <a:buNone/>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area()    </a:t>
            </a:r>
          </a:p>
          <a:p>
            <a:pPr>
              <a:buNone/>
            </a:pPr>
            <a:r>
              <a:rPr lang="en-US" sz="2400" dirty="0">
                <a:latin typeface="Times New Roman" pitchFamily="18" charset="0"/>
                <a:cs typeface="Times New Roman" pitchFamily="18" charset="0"/>
              </a:rPr>
              <a:t> {         </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length=10; //local variable       </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breadth = 5; //local variable        </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rectarea</a:t>
            </a:r>
            <a:r>
              <a:rPr lang="en-US" sz="2400" dirty="0">
                <a:latin typeface="Times New Roman" pitchFamily="18" charset="0"/>
                <a:cs typeface="Times New Roman" pitchFamily="18" charset="0"/>
              </a:rPr>
              <a:t> = length*breadth; //local variable         </a:t>
            </a:r>
          </a:p>
          <a:p>
            <a:pPr>
              <a:buNone/>
            </a:pPr>
            <a:r>
              <a:rPr lang="en-US" sz="2400" dirty="0">
                <a:latin typeface="Times New Roman" pitchFamily="18" charset="0"/>
                <a:cs typeface="Times New Roman" pitchFamily="18" charset="0"/>
              </a:rPr>
              <a:t>    return </a:t>
            </a:r>
            <a:r>
              <a:rPr lang="en-US" sz="2400" dirty="0" err="1">
                <a:latin typeface="Times New Roman" pitchFamily="18" charset="0"/>
                <a:cs typeface="Times New Roman" pitchFamily="18" charset="0"/>
              </a:rPr>
              <a:t>rectarea</a:t>
            </a:r>
            <a:r>
              <a:rPr lang="en-US" sz="2400" dirty="0">
                <a:latin typeface="Times New Roman" pitchFamily="18" charset="0"/>
                <a:cs typeface="Times New Roman" pitchFamily="18" charset="0"/>
              </a:rPr>
              <a:t>;       </a:t>
            </a:r>
          </a:p>
          <a:p>
            <a:pPr>
              <a:buNone/>
            </a:pP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FF0000"/>
                </a:solidFill>
                <a:latin typeface="Times New Roman" pitchFamily="18" charset="0"/>
                <a:cs typeface="Times New Roman" pitchFamily="18" charset="0"/>
              </a:rPr>
              <a:t/>
            </a:r>
            <a:br>
              <a:rPr lang="en-US" sz="3100" b="1" dirty="0">
                <a:solidFill>
                  <a:srgbClr val="FF0000"/>
                </a:solidFill>
                <a:latin typeface="Times New Roman" pitchFamily="18" charset="0"/>
                <a:cs typeface="Times New Roman" pitchFamily="18" charset="0"/>
              </a:rPr>
            </a:br>
            <a:r>
              <a:rPr lang="en-US" sz="3100" b="1" dirty="0">
                <a:solidFill>
                  <a:srgbClr val="FF0000"/>
                </a:solidFill>
                <a:latin typeface="Times New Roman" pitchFamily="18" charset="0"/>
                <a:cs typeface="Times New Roman" pitchFamily="18" charset="0"/>
              </a:rPr>
              <a:t>Global Variable</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A variable that is declared outside the function or block is called a global variable. Any function can change the value of the global variable. It is available to all the functions</a:t>
            </a:r>
            <a:r>
              <a:rPr lang="en-US" sz="2800" dirty="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value=20; //global variable  </a:t>
            </a:r>
          </a:p>
          <a:p>
            <a:pPr>
              <a:buNone/>
            </a:pPr>
            <a:r>
              <a:rPr lang="en-US" sz="2400" b="1" dirty="0">
                <a:latin typeface="Times New Roman" pitchFamily="18" charset="0"/>
                <a:cs typeface="Times New Roman" pitchFamily="18" charset="0"/>
              </a:rPr>
              <a:t>   void</a:t>
            </a:r>
            <a:r>
              <a:rPr lang="en-US" sz="2400" dirty="0">
                <a:latin typeface="Times New Roman" pitchFamily="18" charset="0"/>
                <a:cs typeface="Times New Roman" pitchFamily="18" charset="0"/>
              </a:rPr>
              <a:t> function1()</a:t>
            </a:r>
          </a:p>
          <a:p>
            <a:pPr>
              <a:buNone/>
            </a:pPr>
            <a:r>
              <a:rPr lang="en-US" sz="2400" dirty="0">
                <a:latin typeface="Times New Roman" pitchFamily="18" charset="0"/>
                <a:cs typeface="Times New Roman" pitchFamily="18" charset="0"/>
              </a:rPr>
              <a:t>{  </a:t>
            </a:r>
          </a:p>
          <a:p>
            <a:pPr>
              <a:buNone/>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x=10; //local variable  </a:t>
            </a:r>
          </a:p>
          <a:p>
            <a:pPr>
              <a:buNone/>
            </a:pPr>
            <a:r>
              <a:rPr lang="en-US" sz="2400" dirty="0">
                <a:latin typeface="Times New Roman" pitchFamily="18" charset="0"/>
                <a:cs typeface="Times New Roman" pitchFamily="18" charset="0"/>
              </a:rPr>
              <a:t>}  </a:t>
            </a: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Example:</a:t>
            </a:r>
          </a:p>
        </p:txBody>
      </p:sp>
      <p:sp>
        <p:nvSpPr>
          <p:cNvPr id="3" name="Content Placeholder 2"/>
          <p:cNvSpPr>
            <a:spLocks noGrp="1"/>
          </p:cNvSpPr>
          <p:nvPr>
            <p:ph idx="1"/>
          </p:nvPr>
        </p:nvSpPr>
        <p:spPr/>
        <p:txBody>
          <a:bodyPr>
            <a:normAutofit lnSpcReduction="10000"/>
          </a:bodyPr>
          <a:lstStyle/>
          <a:p>
            <a:pPr>
              <a:buNone/>
            </a:pPr>
            <a:r>
              <a:rPr lang="en-US" sz="2400" dirty="0"/>
              <a:t>#include &lt;</a:t>
            </a:r>
            <a:r>
              <a:rPr lang="en-US" sz="2400" dirty="0" err="1"/>
              <a:t>stdio.h</a:t>
            </a:r>
            <a:r>
              <a:rPr lang="en-US" sz="2400" dirty="0"/>
              <a:t>&gt;; </a:t>
            </a:r>
          </a:p>
          <a:p>
            <a:pPr>
              <a:buNone/>
            </a:pPr>
            <a:r>
              <a:rPr lang="en-US" sz="2400" dirty="0" err="1"/>
              <a:t>int</a:t>
            </a:r>
            <a:r>
              <a:rPr lang="en-US" sz="2400" dirty="0"/>
              <a:t> sum = 10; /* declaring and initializing a Global variable */ </a:t>
            </a:r>
          </a:p>
          <a:p>
            <a:pPr>
              <a:buNone/>
            </a:pPr>
            <a:r>
              <a:rPr lang="en-US" sz="2400" dirty="0" err="1"/>
              <a:t>int</a:t>
            </a:r>
            <a:r>
              <a:rPr lang="en-US" sz="2400" dirty="0"/>
              <a:t> main() </a:t>
            </a:r>
          </a:p>
          <a:p>
            <a:pPr>
              <a:buNone/>
            </a:pPr>
            <a:r>
              <a:rPr lang="en-US" sz="2400" dirty="0"/>
              <a:t>{ </a:t>
            </a:r>
          </a:p>
          <a:p>
            <a:pPr>
              <a:buNone/>
            </a:pPr>
            <a:r>
              <a:rPr lang="en-US" sz="2400" dirty="0"/>
              <a:t>{ </a:t>
            </a:r>
          </a:p>
          <a:p>
            <a:pPr>
              <a:buNone/>
            </a:pPr>
            <a:r>
              <a:rPr lang="en-US" sz="2400" dirty="0"/>
              <a:t>  </a:t>
            </a:r>
            <a:r>
              <a:rPr lang="en-US" sz="2400" dirty="0" err="1"/>
              <a:t>int</a:t>
            </a:r>
            <a:r>
              <a:rPr lang="en-US" sz="2400" dirty="0"/>
              <a:t> sum = 100; /* Declaring and initializing a Local variable with   the same name */ </a:t>
            </a:r>
          </a:p>
          <a:p>
            <a:pPr>
              <a:buNone/>
            </a:pPr>
            <a:r>
              <a:rPr lang="en-US" sz="2400" dirty="0"/>
              <a:t> </a:t>
            </a:r>
            <a:r>
              <a:rPr lang="en-US" sz="2400" dirty="0" err="1"/>
              <a:t>printf</a:t>
            </a:r>
            <a:r>
              <a:rPr lang="en-US" sz="2400" dirty="0"/>
              <a:t>(" SUM = %</a:t>
            </a:r>
            <a:r>
              <a:rPr lang="en-US" sz="2400" dirty="0" err="1"/>
              <a:t>dn</a:t>
            </a:r>
            <a:r>
              <a:rPr lang="en-US" sz="2400" dirty="0"/>
              <a:t>", sum);</a:t>
            </a:r>
          </a:p>
          <a:p>
            <a:pPr>
              <a:buNone/>
            </a:pPr>
            <a:r>
              <a:rPr lang="en-US" sz="2400" dirty="0"/>
              <a:t> } </a:t>
            </a:r>
          </a:p>
          <a:p>
            <a:pPr>
              <a:buNone/>
            </a:pPr>
            <a:r>
              <a:rPr lang="en-US" sz="2400" dirty="0"/>
              <a:t> return 0; </a:t>
            </a:r>
          </a:p>
          <a:p>
            <a:pPr>
              <a:buNone/>
            </a:pPr>
            <a:r>
              <a:rPr lang="en-US" sz="2400" dirty="0"/>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
            </a:r>
            <a:br>
              <a:rPr lang="en-US" dirty="0"/>
            </a:br>
            <a:r>
              <a:rPr lang="en-US" dirty="0"/>
              <a:t/>
            </a:r>
            <a:br>
              <a:rPr lang="en-US" dirty="0"/>
            </a:br>
            <a:r>
              <a:rPr lang="en-US" sz="3600" b="1" dirty="0">
                <a:solidFill>
                  <a:srgbClr val="FF0000"/>
                </a:solidFill>
                <a:latin typeface="Times New Roman" pitchFamily="18" charset="0"/>
                <a:cs typeface="Times New Roman" pitchFamily="18" charset="0"/>
              </a:rPr>
              <a:t>Static Variable</a:t>
            </a:r>
            <a:br>
              <a:rPr lang="en-US" sz="3600" b="1" dirty="0">
                <a:solidFill>
                  <a:srgbClr val="FF0000"/>
                </a:solidFill>
                <a:latin typeface="Times New Roman" pitchFamily="18" charset="0"/>
                <a:cs typeface="Times New Roman" pitchFamily="18" charset="0"/>
              </a:rPr>
            </a:b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Static variables are initialized only once. The compiler persists with the variable till the end of the program. </a:t>
            </a:r>
          </a:p>
          <a:p>
            <a:r>
              <a:rPr lang="en-US" sz="2400" dirty="0">
                <a:latin typeface="Times New Roman" pitchFamily="18" charset="0"/>
                <a:cs typeface="Times New Roman" pitchFamily="18" charset="0"/>
              </a:rPr>
              <a:t>  Static variables can be defined inside or outside the function. </a:t>
            </a:r>
          </a:p>
          <a:p>
            <a:r>
              <a:rPr lang="en-US" sz="2400" dirty="0">
                <a:latin typeface="Times New Roman" pitchFamily="18" charset="0"/>
                <a:cs typeface="Times New Roman" pitchFamily="18" charset="0"/>
              </a:rPr>
              <a:t>They are local to the block. </a:t>
            </a:r>
          </a:p>
          <a:p>
            <a:r>
              <a:rPr lang="en-US" sz="2400" dirty="0">
                <a:latin typeface="Times New Roman" pitchFamily="18" charset="0"/>
                <a:cs typeface="Times New Roman" pitchFamily="18" charset="0"/>
              </a:rPr>
              <a:t>The default value of static variables is zero. </a:t>
            </a:r>
          </a:p>
          <a:p>
            <a:r>
              <a:rPr lang="en-US" sz="2400" dirty="0">
                <a:latin typeface="Times New Roman" pitchFamily="18" charset="0"/>
                <a:cs typeface="Times New Roman" pitchFamily="18" charset="0"/>
              </a:rPr>
              <a:t>The static variables are alive till the execution of the program</a:t>
            </a:r>
            <a:r>
              <a:rPr lang="en-US" sz="2800" dirty="0">
                <a:latin typeface="Times New Roman" pitchFamily="18" charset="0"/>
                <a:cs typeface="Times New Roman" pitchFamily="18" charset="0"/>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solidFill>
                  <a:srgbClr val="FF0000"/>
                </a:solidFill>
                <a:latin typeface="Times New Roman" pitchFamily="18" charset="0"/>
                <a:cs typeface="Times New Roman" pitchFamily="18" charset="0"/>
              </a:rPr>
              <a:t>Syntax</a:t>
            </a:r>
            <a:r>
              <a:rPr lang="en-US" sz="2800" dirty="0">
                <a:latin typeface="Times New Roman" pitchFamily="18" charset="0"/>
                <a:cs typeface="Times New Roman" pitchFamily="18" charset="0"/>
              </a:rPr>
              <a:t>: static </a:t>
            </a:r>
            <a:r>
              <a:rPr lang="en-US" sz="2800" dirty="0" err="1">
                <a:latin typeface="Times New Roman" pitchFamily="18" charset="0"/>
                <a:cs typeface="Times New Roman" pitchFamily="18" charset="0"/>
              </a:rPr>
              <a:t>datatype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variable_name</a:t>
            </a:r>
            <a:r>
              <a:rPr lang="en-US" sz="2800" dirty="0">
                <a:latin typeface="Times New Roman" pitchFamily="18" charset="0"/>
                <a:cs typeface="Times New Roman" pitchFamily="18" charset="0"/>
              </a:rPr>
              <a:t> = value;</a:t>
            </a:r>
          </a:p>
          <a:p>
            <a:endParaRPr lang="en-US" sz="2800" dirty="0">
              <a:latin typeface="Times New Roman" pitchFamily="18" charset="0"/>
              <a:cs typeface="Times New Roman" pitchFamily="18" charset="0"/>
            </a:endParaRPr>
          </a:p>
          <a:p>
            <a:pPr>
              <a:buNone/>
            </a:pPr>
            <a:r>
              <a:rPr lang="en-US" sz="2800" dirty="0"/>
              <a:t>Here,</a:t>
            </a:r>
          </a:p>
          <a:p>
            <a:r>
              <a:rPr lang="en-US" sz="2400" b="1" dirty="0" err="1">
                <a:latin typeface="Times New Roman" pitchFamily="18" charset="0"/>
                <a:cs typeface="Times New Roman" pitchFamily="18" charset="0"/>
              </a:rPr>
              <a:t>datatype</a:t>
            </a:r>
            <a:r>
              <a:rPr lang="en-US" sz="2400" dirty="0">
                <a:latin typeface="Times New Roman" pitchFamily="18" charset="0"/>
                <a:cs typeface="Times New Roman" pitchFamily="18" charset="0"/>
              </a:rPr>
              <a:t> − The </a:t>
            </a:r>
            <a:r>
              <a:rPr lang="en-US" sz="2400" dirty="0" err="1">
                <a:latin typeface="Times New Roman" pitchFamily="18" charset="0"/>
                <a:cs typeface="Times New Roman" pitchFamily="18" charset="0"/>
              </a:rPr>
              <a:t>datatype</a:t>
            </a:r>
            <a:r>
              <a:rPr lang="en-US" sz="2400" dirty="0">
                <a:latin typeface="Times New Roman" pitchFamily="18" charset="0"/>
                <a:cs typeface="Times New Roman" pitchFamily="18" charset="0"/>
              </a:rPr>
              <a:t> of variable like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char, float etc.</a:t>
            </a:r>
          </a:p>
          <a:p>
            <a:r>
              <a:rPr lang="en-US" sz="2400" b="1" dirty="0" err="1">
                <a:latin typeface="Times New Roman" pitchFamily="18" charset="0"/>
                <a:cs typeface="Times New Roman" pitchFamily="18" charset="0"/>
              </a:rPr>
              <a:t>variable_name</a:t>
            </a:r>
            <a:r>
              <a:rPr lang="en-US" sz="2400" dirty="0">
                <a:latin typeface="Times New Roman" pitchFamily="18" charset="0"/>
                <a:cs typeface="Times New Roman" pitchFamily="18" charset="0"/>
              </a:rPr>
              <a:t> − This is the name of variable given by user.</a:t>
            </a:r>
          </a:p>
          <a:p>
            <a:r>
              <a:rPr lang="en-US" sz="2400" b="1" dirty="0">
                <a:latin typeface="Times New Roman" pitchFamily="18" charset="0"/>
                <a:cs typeface="Times New Roman" pitchFamily="18" charset="0"/>
              </a:rPr>
              <a:t>value</a:t>
            </a:r>
            <a:r>
              <a:rPr lang="en-US" sz="2400" dirty="0">
                <a:latin typeface="Times New Roman" pitchFamily="18" charset="0"/>
                <a:cs typeface="Times New Roman" pitchFamily="18" charset="0"/>
              </a:rPr>
              <a:t> − Any value to initialize the variable. By default, it is zero.</a:t>
            </a:r>
          </a:p>
          <a:p>
            <a:endParaRPr lang="en-US" sz="2800" dirty="0">
              <a:latin typeface="Times New Roman" pitchFamily="18" charset="0"/>
              <a:cs typeface="Times New Roman"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solidFill>
                  <a:srgbClr val="FF0000"/>
                </a:solidFill>
                <a:latin typeface="Times New Roman" pitchFamily="18" charset="0"/>
                <a:cs typeface="Times New Roman" pitchFamily="18" charset="0"/>
              </a:rPr>
              <a:t>Multiple variables can be initialized in a single statement by single value</a:t>
            </a:r>
            <a:br>
              <a:rPr lang="en-US" sz="2400" dirty="0">
                <a:solidFill>
                  <a:srgbClr val="FF0000"/>
                </a:solidFill>
                <a:latin typeface="Times New Roman" pitchFamily="18" charset="0"/>
                <a:cs typeface="Times New Roman" pitchFamily="18" charset="0"/>
              </a:rPr>
            </a:br>
            <a:endParaRPr lang="en-US" sz="24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4830763"/>
          </a:xfrm>
        </p:spPr>
        <p:txBody>
          <a:bodyPr>
            <a:normAutofit fontScale="92500" lnSpcReduction="10000"/>
          </a:bodyPr>
          <a:lstStyle/>
          <a:p>
            <a:pPr>
              <a:buNone/>
            </a:pPr>
            <a:r>
              <a:rPr lang="en-US" dirty="0"/>
              <a:t>a=b=c=d=e=10;</a:t>
            </a:r>
          </a:p>
          <a:p>
            <a:pPr>
              <a:buNone/>
            </a:pPr>
            <a:r>
              <a:rPr lang="en-US" sz="2400" dirty="0">
                <a:latin typeface="Times New Roman" pitchFamily="18" charset="0"/>
                <a:cs typeface="Times New Roman" pitchFamily="18" charset="0"/>
              </a:rPr>
              <a:t>*C program to demonstrate Declaration and initialization*</a:t>
            </a:r>
          </a:p>
          <a:p>
            <a:pPr>
              <a:buNone/>
            </a:pPr>
            <a:r>
              <a:rPr lang="en-US" sz="2400" dirty="0"/>
              <a:t>#include </a:t>
            </a:r>
            <a:r>
              <a:rPr lang="en-US" sz="2400" b="1" dirty="0"/>
              <a:t>void</a:t>
            </a:r>
            <a:r>
              <a:rPr lang="en-US" sz="2400" dirty="0"/>
              <a:t> main() </a:t>
            </a:r>
          </a:p>
          <a:p>
            <a:pPr>
              <a:buNone/>
            </a:pPr>
            <a:r>
              <a:rPr lang="en-US" sz="2400" dirty="0"/>
              <a:t>{</a:t>
            </a:r>
          </a:p>
          <a:p>
            <a:pPr>
              <a:buNone/>
            </a:pPr>
            <a:r>
              <a:rPr lang="en-US" sz="2400" dirty="0"/>
              <a:t> </a:t>
            </a:r>
            <a:r>
              <a:rPr lang="en-US" sz="2400" b="1" dirty="0" err="1"/>
              <a:t>int</a:t>
            </a:r>
            <a:r>
              <a:rPr lang="en-US" sz="2400" dirty="0"/>
              <a:t> a, b, c, d, e; // Declaration of variable a=b=c=d=e=10; // initialization of variable </a:t>
            </a:r>
          </a:p>
          <a:p>
            <a:pPr>
              <a:buNone/>
            </a:pPr>
            <a:r>
              <a:rPr lang="en-US" sz="2400" dirty="0" err="1"/>
              <a:t>printf</a:t>
            </a:r>
            <a:r>
              <a:rPr lang="en-US" sz="2400" dirty="0"/>
              <a:t>("%d \</a:t>
            </a:r>
            <a:r>
              <a:rPr lang="en-US" sz="2400" dirty="0" err="1"/>
              <a:t>n",a</a:t>
            </a:r>
            <a:r>
              <a:rPr lang="en-US" sz="2400" dirty="0"/>
              <a:t>);</a:t>
            </a:r>
          </a:p>
          <a:p>
            <a:pPr>
              <a:buNone/>
            </a:pPr>
            <a:r>
              <a:rPr lang="en-US" sz="2400" dirty="0"/>
              <a:t> </a:t>
            </a:r>
            <a:r>
              <a:rPr lang="en-US" sz="2400" dirty="0" err="1"/>
              <a:t>printf</a:t>
            </a:r>
            <a:r>
              <a:rPr lang="en-US" sz="2400" dirty="0"/>
              <a:t>("%d \</a:t>
            </a:r>
            <a:r>
              <a:rPr lang="en-US" sz="2400" dirty="0" err="1"/>
              <a:t>n",b</a:t>
            </a:r>
            <a:r>
              <a:rPr lang="en-US" sz="2400" dirty="0"/>
              <a:t>); </a:t>
            </a:r>
          </a:p>
          <a:p>
            <a:pPr>
              <a:buNone/>
            </a:pPr>
            <a:r>
              <a:rPr lang="en-US" sz="2400" dirty="0" err="1"/>
              <a:t>printf</a:t>
            </a:r>
            <a:r>
              <a:rPr lang="en-US" sz="2400" dirty="0"/>
              <a:t>("%d \</a:t>
            </a:r>
            <a:r>
              <a:rPr lang="en-US" sz="2400" dirty="0" err="1"/>
              <a:t>n",c</a:t>
            </a:r>
            <a:r>
              <a:rPr lang="en-US" sz="2400" dirty="0"/>
              <a:t>); </a:t>
            </a:r>
          </a:p>
          <a:p>
            <a:pPr>
              <a:buNone/>
            </a:pPr>
            <a:r>
              <a:rPr lang="en-US" sz="2400" dirty="0" err="1"/>
              <a:t>printf</a:t>
            </a:r>
            <a:r>
              <a:rPr lang="en-US" sz="2400" dirty="0"/>
              <a:t>("%d \</a:t>
            </a:r>
            <a:r>
              <a:rPr lang="en-US" sz="2400" dirty="0" err="1"/>
              <a:t>n",d</a:t>
            </a:r>
            <a:r>
              <a:rPr lang="en-US" sz="2400" dirty="0"/>
              <a:t>); </a:t>
            </a:r>
          </a:p>
          <a:p>
            <a:pPr>
              <a:buNone/>
            </a:pPr>
            <a:r>
              <a:rPr lang="en-US" sz="2400" dirty="0" err="1"/>
              <a:t>printf</a:t>
            </a:r>
            <a:r>
              <a:rPr lang="en-US" sz="2400" dirty="0"/>
              <a:t>("%d \</a:t>
            </a:r>
            <a:r>
              <a:rPr lang="en-US" sz="2400" dirty="0" err="1"/>
              <a:t>n",e</a:t>
            </a:r>
            <a:r>
              <a:rPr lang="en-US" sz="2400" dirty="0"/>
              <a:t>); </a:t>
            </a:r>
          </a:p>
          <a:p>
            <a:pPr>
              <a:buNone/>
            </a:pPr>
            <a:r>
              <a:rPr lang="en-US" sz="2400" dirty="0"/>
              <a:t>}</a:t>
            </a:r>
            <a:endParaRPr lang="en-US" sz="2400" dirty="0">
              <a:latin typeface="Times New Roman" pitchFamily="18" charset="0"/>
              <a:cs typeface="Times New Roman"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:Define Data Type:</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A data-type in C programming is a set of values and is determined to act on those values. C provides various types of data-types which allow the programmer to select the appropriate type for the variable to set its value.</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 data type specifies the type of data that a variable can store such as integer, floating, character, etc.</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solidFill>
                  <a:srgbClr val="FF0000"/>
                </a:solidFill>
                <a:latin typeface="Times New Roman" pitchFamily="18" charset="0"/>
                <a:cs typeface="Times New Roman" pitchFamily="18" charset="0"/>
              </a:rPr>
              <a:t/>
            </a:r>
            <a:br>
              <a:rPr lang="en-US" sz="3600" dirty="0">
                <a:solidFill>
                  <a:srgbClr val="FF0000"/>
                </a:solidFill>
                <a:latin typeface="Times New Roman" pitchFamily="18" charset="0"/>
                <a:cs typeface="Times New Roman" pitchFamily="18" charset="0"/>
              </a:rPr>
            </a:br>
            <a:r>
              <a:rPr lang="en-US" sz="3600" dirty="0">
                <a:solidFill>
                  <a:srgbClr val="FF0000"/>
                </a:solidFill>
                <a:latin typeface="Times New Roman" pitchFamily="18" charset="0"/>
                <a:cs typeface="Times New Roman" pitchFamily="18" charset="0"/>
              </a:rPr>
              <a:t>C  Data Types are used to:</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Identify the type of a variable when it declared.</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Identify the type of the return value of a function.</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Identify the type of a parameter expected by a function.</a:t>
            </a:r>
          </a:p>
          <a:p>
            <a:endParaRPr lang="en-US" sz="2400" dirty="0">
              <a:latin typeface="Times New Roman" pitchFamily="18" charset="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609600" y="1600200"/>
            <a:ext cx="8305799" cy="4953000"/>
          </a:xfrm>
          <a:prstGeom prst="rect">
            <a:avLst/>
          </a:prstGeom>
          <a:noFill/>
          <a:ln w="9525">
            <a:noFill/>
            <a:miter lim="800000"/>
            <a:headEnd/>
            <a:tailEnd/>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04800" y="609600"/>
            <a:ext cx="8458200" cy="5715000"/>
          </a:xfrm>
          <a:prstGeom prst="rect">
            <a:avLst/>
          </a:prstGeom>
          <a:noFill/>
          <a:ln w="9525">
            <a:noFill/>
            <a:miter lim="800000"/>
            <a:headEnd/>
            <a:tailEnd/>
          </a:ln>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Data Type size, Storage and range</a:t>
            </a:r>
          </a:p>
        </p:txBody>
      </p:sp>
      <p:pic>
        <p:nvPicPr>
          <p:cNvPr id="3074" name="Picture 2"/>
          <p:cNvPicPr>
            <a:picLocks noGrp="1" noChangeAspect="1" noChangeArrowheads="1"/>
          </p:cNvPicPr>
          <p:nvPr>
            <p:ph idx="1"/>
          </p:nvPr>
        </p:nvPicPr>
        <p:blipFill>
          <a:blip r:embed="rId2"/>
          <a:srcRect/>
          <a:stretch>
            <a:fillRect/>
          </a:stretch>
        </p:blipFill>
        <p:spPr bwMode="auto">
          <a:xfrm>
            <a:off x="457200" y="1447800"/>
            <a:ext cx="8534400" cy="5029200"/>
          </a:xfrm>
          <a:prstGeom prst="rect">
            <a:avLst/>
          </a:prstGeom>
          <a:noFill/>
          <a:ln w="9525">
            <a:noFill/>
            <a:miter lim="800000"/>
            <a:headEnd/>
            <a:tailEnd/>
          </a:ln>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a:bodyPr>
          <a:lstStyle/>
          <a:p>
            <a:pPr algn="l"/>
            <a:r>
              <a:rPr lang="en-US" sz="2400" b="1" dirty="0">
                <a:solidFill>
                  <a:srgbClr val="FF0000"/>
                </a:solidFill>
                <a:latin typeface="Times New Roman" pitchFamily="18" charset="0"/>
                <a:cs typeface="Times New Roman" pitchFamily="18" charset="0"/>
              </a:rPr>
              <a:t>Integer </a:t>
            </a:r>
            <a:r>
              <a:rPr lang="en-US" sz="2400" b="1" dirty="0" err="1">
                <a:solidFill>
                  <a:srgbClr val="FF0000"/>
                </a:solidFill>
                <a:latin typeface="Times New Roman" pitchFamily="18" charset="0"/>
                <a:cs typeface="Times New Roman" pitchFamily="18" charset="0"/>
              </a:rPr>
              <a:t>Data_Type</a:t>
            </a:r>
            <a:endParaRPr lang="en-US" sz="24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638800"/>
          </a:xfrm>
        </p:spPr>
        <p:txBody>
          <a:bodyPr>
            <a:normAutofit fontScale="70000" lnSpcReduction="20000"/>
          </a:bodyPr>
          <a:lstStyle/>
          <a:p>
            <a:pPr fontAlgn="base">
              <a:buFont typeface="Wingdings" pitchFamily="2" charset="2"/>
              <a:buChar char="Ø"/>
            </a:pPr>
            <a:r>
              <a:rPr lang="en-US" sz="3400" dirty="0">
                <a:latin typeface="Times New Roman" pitchFamily="18" charset="0"/>
                <a:cs typeface="Times New Roman" pitchFamily="18" charset="0"/>
              </a:rPr>
              <a:t>Integer data type allows a variable to store numeric values.</a:t>
            </a:r>
          </a:p>
          <a:p>
            <a:pPr fontAlgn="base">
              <a:buFont typeface="Wingdings" pitchFamily="2" charset="2"/>
              <a:buChar char="Ø"/>
            </a:pPr>
            <a:r>
              <a:rPr lang="en-US" sz="3400" dirty="0">
                <a:latin typeface="Times New Roman" pitchFamily="18" charset="0"/>
                <a:cs typeface="Times New Roman" pitchFamily="18" charset="0"/>
              </a:rPr>
              <a:t>“</a:t>
            </a: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keyword is used to refer integer data type.</a:t>
            </a:r>
          </a:p>
          <a:p>
            <a:pPr fontAlgn="base">
              <a:buFont typeface="Wingdings" pitchFamily="2" charset="2"/>
              <a:buChar char="Ø"/>
            </a:pPr>
            <a:r>
              <a:rPr lang="en-US" sz="3400" dirty="0">
                <a:latin typeface="Times New Roman" pitchFamily="18" charset="0"/>
                <a:cs typeface="Times New Roman" pitchFamily="18" charset="0"/>
              </a:rPr>
              <a:t>The storage size of </a:t>
            </a: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data type is 2 or 4 or 8 byte.</a:t>
            </a:r>
          </a:p>
          <a:p>
            <a:pPr fontAlgn="base">
              <a:buFont typeface="Wingdings" pitchFamily="2" charset="2"/>
              <a:buChar char="Ø"/>
            </a:pPr>
            <a:r>
              <a:rPr lang="en-US" sz="3400" dirty="0">
                <a:latin typeface="Times New Roman" pitchFamily="18" charset="0"/>
                <a:cs typeface="Times New Roman" pitchFamily="18" charset="0"/>
              </a:rPr>
              <a:t>It varies depend upon the processor in the CPU that we use.  If we are using 16 bit processor, 2 byte  (16 bit) of memory will be allocated for </a:t>
            </a: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data type.</a:t>
            </a:r>
          </a:p>
          <a:p>
            <a:pPr fontAlgn="base">
              <a:buFont typeface="Wingdings" pitchFamily="2" charset="2"/>
              <a:buChar char="Ø"/>
            </a:pPr>
            <a:r>
              <a:rPr lang="en-US" sz="3400" dirty="0">
                <a:latin typeface="Times New Roman" pitchFamily="18" charset="0"/>
                <a:cs typeface="Times New Roman" pitchFamily="18" charset="0"/>
              </a:rPr>
              <a:t>Like wise, 4 byte (32 bit) of memory for 32 bit processor and 8 byte (64 bit) of memory for 64 bit processor is allocated for </a:t>
            </a: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datatype</a:t>
            </a:r>
            <a:r>
              <a:rPr lang="en-US" sz="3400" dirty="0">
                <a:latin typeface="Times New Roman" pitchFamily="18" charset="0"/>
                <a:cs typeface="Times New Roman" pitchFamily="18" charset="0"/>
              </a:rPr>
              <a:t>.</a:t>
            </a:r>
          </a:p>
          <a:p>
            <a:pPr fontAlgn="base">
              <a:buFont typeface="Wingdings" pitchFamily="2" charset="2"/>
              <a:buChar char="Ø"/>
            </a:pP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(2 byte) can store values from -32,768 to +32,767</a:t>
            </a:r>
          </a:p>
          <a:p>
            <a:pPr fontAlgn="base">
              <a:buFont typeface="Wingdings" pitchFamily="2" charset="2"/>
              <a:buChar char="Ø"/>
            </a:pP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(4 byte) can store values from -2,147,483,648 to +2,147,483,647.</a:t>
            </a:r>
          </a:p>
          <a:p>
            <a:pPr fontAlgn="base">
              <a:buFont typeface="Wingdings" pitchFamily="2" charset="2"/>
              <a:buChar char="Ø"/>
            </a:pPr>
            <a:r>
              <a:rPr lang="en-US" sz="3400" dirty="0">
                <a:latin typeface="Times New Roman" pitchFamily="18" charset="0"/>
                <a:cs typeface="Times New Roman" pitchFamily="18" charset="0"/>
              </a:rPr>
              <a:t>If you want to use the integer value that crosses the above limit, you can go for “long </a:t>
            </a: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and “long </a:t>
            </a:r>
            <a:r>
              <a:rPr lang="en-US" sz="3400" dirty="0" err="1">
                <a:latin typeface="Times New Roman" pitchFamily="18" charset="0"/>
                <a:cs typeface="Times New Roman" pitchFamily="18" charset="0"/>
              </a:rPr>
              <a:t>long</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int</a:t>
            </a:r>
            <a:r>
              <a:rPr lang="en-US" sz="3400" dirty="0">
                <a:latin typeface="Times New Roman" pitchFamily="18" charset="0"/>
                <a:cs typeface="Times New Roman" pitchFamily="18" charset="0"/>
              </a:rPr>
              <a:t>” for which the limits are very high.</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Float Data type:</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In C, </a:t>
            </a:r>
            <a:r>
              <a:rPr lang="en-US" sz="2400" b="1" dirty="0">
                <a:latin typeface="Times New Roman" pitchFamily="18" charset="0"/>
                <a:cs typeface="Times New Roman" pitchFamily="18" charset="0"/>
              </a:rPr>
              <a:t>float</a:t>
            </a:r>
            <a:r>
              <a:rPr lang="en-US" sz="2400" dirty="0">
                <a:latin typeface="Times New Roman" pitchFamily="18" charset="0"/>
                <a:cs typeface="Times New Roman" pitchFamily="18" charset="0"/>
              </a:rPr>
              <a:t> data type occupies </a:t>
            </a:r>
            <a:r>
              <a:rPr lang="en-US" sz="2400" b="1" dirty="0">
                <a:latin typeface="Times New Roman" pitchFamily="18" charset="0"/>
                <a:cs typeface="Times New Roman" pitchFamily="18" charset="0"/>
              </a:rPr>
              <a:t>4 bytes </a:t>
            </a:r>
            <a:r>
              <a:rPr lang="en-US" sz="2400" dirty="0">
                <a:latin typeface="Times New Roman" pitchFamily="18" charset="0"/>
                <a:cs typeface="Times New Roman" pitchFamily="18" charset="0"/>
              </a:rPr>
              <a:t>(</a:t>
            </a:r>
            <a:r>
              <a:rPr lang="en-US" sz="2400" b="1" dirty="0">
                <a:latin typeface="Times New Roman" pitchFamily="18" charset="0"/>
                <a:cs typeface="Times New Roman" pitchFamily="18" charset="0"/>
              </a:rPr>
              <a:t>32 bits</a:t>
            </a:r>
            <a:r>
              <a:rPr lang="en-US" sz="2400" dirty="0">
                <a:latin typeface="Times New Roman" pitchFamily="18" charset="0"/>
                <a:cs typeface="Times New Roman" pitchFamily="18" charset="0"/>
              </a:rPr>
              <a:t>) of memory to store real numbers that have at least one digit after the decimal point. A </a:t>
            </a:r>
            <a:r>
              <a:rPr lang="en-US" sz="2400" b="1" dirty="0">
                <a:latin typeface="Times New Roman" pitchFamily="18" charset="0"/>
                <a:cs typeface="Times New Roman" pitchFamily="18" charset="0"/>
              </a:rPr>
              <a:t>float </a:t>
            </a:r>
            <a:r>
              <a:rPr lang="en-US" sz="2400" dirty="0">
                <a:latin typeface="Times New Roman" pitchFamily="18" charset="0"/>
                <a:cs typeface="Times New Roman" pitchFamily="18" charset="0"/>
              </a:rPr>
              <a:t>data type can hold any value between </a:t>
            </a:r>
            <a:r>
              <a:rPr lang="en-US" sz="2400" b="1" dirty="0">
                <a:latin typeface="Times New Roman" pitchFamily="18" charset="0"/>
                <a:cs typeface="Times New Roman" pitchFamily="18" charset="0"/>
              </a:rPr>
              <a:t>3.4E-38 </a:t>
            </a:r>
            <a:r>
              <a:rPr lang="en-US" sz="2400" dirty="0">
                <a:latin typeface="Times New Roman" pitchFamily="18" charset="0"/>
                <a:cs typeface="Times New Roman" pitchFamily="18" charset="0"/>
              </a:rPr>
              <a:t>to </a:t>
            </a:r>
            <a:r>
              <a:rPr lang="en-US" sz="2400" b="1" dirty="0">
                <a:latin typeface="Times New Roman" pitchFamily="18" charset="0"/>
                <a:cs typeface="Times New Roman" pitchFamily="18" charset="0"/>
              </a:rPr>
              <a:t>3.4E+38.</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floating-point variable has a </a:t>
            </a:r>
            <a:r>
              <a:rPr lang="en-US" sz="2400" b="1" dirty="0">
                <a:latin typeface="Times New Roman" pitchFamily="18" charset="0"/>
                <a:cs typeface="Times New Roman" pitchFamily="18" charset="0"/>
              </a:rPr>
              <a:t>precision </a:t>
            </a:r>
            <a:r>
              <a:rPr lang="en-US" sz="2400" dirty="0">
                <a:latin typeface="Times New Roman" pitchFamily="18" charset="0"/>
                <a:cs typeface="Times New Roman" pitchFamily="18" charset="0"/>
              </a:rPr>
              <a:t>of </a:t>
            </a:r>
            <a:r>
              <a:rPr lang="en-US" sz="2400" b="1" dirty="0">
                <a:latin typeface="Times New Roman" pitchFamily="18" charset="0"/>
                <a:cs typeface="Times New Roman" pitchFamily="18" charset="0"/>
              </a:rPr>
              <a:t>6 digits</a:t>
            </a:r>
            <a:r>
              <a:rPr lang="en-US" sz="2400" dirty="0">
                <a:latin typeface="Times New Roman" pitchFamily="18" charset="0"/>
                <a:cs typeface="Times New Roman" pitchFamily="18" charset="0"/>
              </a:rPr>
              <a:t> i.e., it uses 6 digits after the decimal point. Consider the following example that uses a </a:t>
            </a:r>
            <a:r>
              <a:rPr lang="en-US" sz="2400" b="1" dirty="0">
                <a:latin typeface="Times New Roman" pitchFamily="18" charset="0"/>
                <a:cs typeface="Times New Roman" pitchFamily="18" charset="0"/>
              </a:rPr>
              <a:t>float</a:t>
            </a:r>
            <a:r>
              <a:rPr lang="en-US" sz="2400" dirty="0">
                <a:latin typeface="Times New Roman" pitchFamily="18" charset="0"/>
                <a:cs typeface="Times New Roman" pitchFamily="18" charset="0"/>
              </a:rPr>
              <a:t> data type:</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pPr fontAlgn="base">
              <a:buNone/>
            </a:pPr>
            <a:r>
              <a:rPr lang="en-US" sz="2800" b="1" dirty="0">
                <a:solidFill>
                  <a:srgbClr val="FF0000"/>
                </a:solidFill>
                <a:latin typeface="Times New Roman" pitchFamily="18" charset="0"/>
                <a:cs typeface="Times New Roman" pitchFamily="18" charset="0"/>
              </a:rPr>
              <a:t>Floating point data type consists of 2 types. They are,</a:t>
            </a:r>
          </a:p>
          <a:p>
            <a:pPr fontAlgn="base"/>
            <a:r>
              <a:rPr lang="en-US" sz="2800" dirty="0">
                <a:latin typeface="Times New Roman" pitchFamily="18" charset="0"/>
                <a:cs typeface="Times New Roman" pitchFamily="18" charset="0"/>
              </a:rPr>
              <a:t>float</a:t>
            </a:r>
          </a:p>
          <a:p>
            <a:pPr fontAlgn="base"/>
            <a:r>
              <a:rPr lang="en-US" sz="2800" dirty="0">
                <a:latin typeface="Times New Roman" pitchFamily="18" charset="0"/>
                <a:cs typeface="Times New Roman" pitchFamily="18" charset="0"/>
              </a:rPr>
              <a:t>double</a:t>
            </a:r>
          </a:p>
          <a:p>
            <a:pPr fontAlgn="base">
              <a:buNone/>
            </a:pPr>
            <a:r>
              <a:rPr lang="en-US" sz="3100" b="1" cap="all" dirty="0">
                <a:solidFill>
                  <a:srgbClr val="FF0000"/>
                </a:solidFill>
                <a:latin typeface="Times New Roman" pitchFamily="18" charset="0"/>
                <a:cs typeface="Times New Roman" pitchFamily="18" charset="0"/>
              </a:rPr>
              <a:t>1. </a:t>
            </a:r>
            <a:r>
              <a:rPr lang="en-US" sz="2400" b="1" cap="all" dirty="0">
                <a:solidFill>
                  <a:srgbClr val="FF0000"/>
                </a:solidFill>
                <a:latin typeface="Times New Roman" pitchFamily="18" charset="0"/>
                <a:cs typeface="Times New Roman" pitchFamily="18" charset="0"/>
              </a:rPr>
              <a:t>FLOAT:</a:t>
            </a:r>
          </a:p>
          <a:p>
            <a:pPr fontAlgn="base"/>
            <a:r>
              <a:rPr lang="en-US" sz="2800" dirty="0">
                <a:latin typeface="Times New Roman" pitchFamily="18" charset="0"/>
                <a:cs typeface="Times New Roman" pitchFamily="18" charset="0"/>
              </a:rPr>
              <a:t>Float data type allows a variable to store decimal values.</a:t>
            </a:r>
          </a:p>
          <a:p>
            <a:pPr fontAlgn="base"/>
            <a:r>
              <a:rPr lang="en-US" sz="2800" dirty="0">
                <a:latin typeface="Times New Roman" pitchFamily="18" charset="0"/>
                <a:cs typeface="Times New Roman" pitchFamily="18" charset="0"/>
              </a:rPr>
              <a:t>Storage size of float data type is 4. This also varies depend upon the processor in the CPU as “</a:t>
            </a:r>
            <a:r>
              <a:rPr lang="en-US" sz="2800" dirty="0" err="1">
                <a:latin typeface="Times New Roman" pitchFamily="18" charset="0"/>
                <a:cs typeface="Times New Roman" pitchFamily="18" charset="0"/>
              </a:rPr>
              <a:t>int</a:t>
            </a:r>
            <a:r>
              <a:rPr lang="en-US" sz="2800" dirty="0">
                <a:latin typeface="Times New Roman" pitchFamily="18" charset="0"/>
                <a:cs typeface="Times New Roman" pitchFamily="18" charset="0"/>
              </a:rPr>
              <a:t>” data type.</a:t>
            </a:r>
          </a:p>
          <a:p>
            <a:pPr fontAlgn="base"/>
            <a:r>
              <a:rPr lang="en-US" sz="2800" dirty="0">
                <a:latin typeface="Times New Roman" pitchFamily="18" charset="0"/>
                <a:cs typeface="Times New Roman" pitchFamily="18" charset="0"/>
              </a:rPr>
              <a:t>We can use up-to 6 digits after decimal using float data type.</a:t>
            </a:r>
          </a:p>
          <a:p>
            <a:pPr fontAlgn="base"/>
            <a:r>
              <a:rPr lang="en-US" sz="2800" dirty="0">
                <a:latin typeface="Times New Roman" pitchFamily="18" charset="0"/>
                <a:cs typeface="Times New Roman" pitchFamily="18" charset="0"/>
              </a:rPr>
              <a:t>For example, 10.456789 can be stored in a variable using float data type.</a:t>
            </a:r>
          </a:p>
          <a:p>
            <a:pPr fontAlgn="base">
              <a:buNone/>
            </a:pPr>
            <a:r>
              <a:rPr lang="en-US" sz="3100" b="1" cap="all" dirty="0">
                <a:solidFill>
                  <a:srgbClr val="FF0000"/>
                </a:solidFill>
                <a:latin typeface="Times New Roman" pitchFamily="18" charset="0"/>
                <a:cs typeface="Times New Roman" pitchFamily="18" charset="0"/>
              </a:rPr>
              <a:t>2. </a:t>
            </a:r>
            <a:r>
              <a:rPr lang="en-US" sz="2400" b="1" cap="all" dirty="0">
                <a:solidFill>
                  <a:srgbClr val="FF0000"/>
                </a:solidFill>
                <a:latin typeface="Times New Roman" pitchFamily="18" charset="0"/>
                <a:cs typeface="Times New Roman" pitchFamily="18" charset="0"/>
              </a:rPr>
              <a:t>DOUBLE:</a:t>
            </a:r>
          </a:p>
          <a:p>
            <a:pPr fontAlgn="base"/>
            <a:r>
              <a:rPr lang="en-US" sz="2800" dirty="0">
                <a:latin typeface="Times New Roman" pitchFamily="18" charset="0"/>
                <a:cs typeface="Times New Roman" pitchFamily="18" charset="0"/>
              </a:rPr>
              <a:t>Double data type is also same as float data type which allows up-to 10 digits after decimal.</a:t>
            </a:r>
          </a:p>
          <a:p>
            <a:pPr fontAlgn="base"/>
            <a:r>
              <a:rPr lang="en-US" sz="2800" dirty="0">
                <a:latin typeface="Times New Roman" pitchFamily="18" charset="0"/>
                <a:cs typeface="Times New Roman" pitchFamily="18" charset="0"/>
              </a:rPr>
              <a:t>The range for double </a:t>
            </a:r>
            <a:r>
              <a:rPr lang="en-US" sz="2800" dirty="0" err="1">
                <a:latin typeface="Times New Roman" pitchFamily="18" charset="0"/>
                <a:cs typeface="Times New Roman" pitchFamily="18" charset="0"/>
              </a:rPr>
              <a:t>datatype</a:t>
            </a:r>
            <a:r>
              <a:rPr lang="en-US" sz="2800" dirty="0">
                <a:latin typeface="Times New Roman" pitchFamily="18" charset="0"/>
                <a:cs typeface="Times New Roman" pitchFamily="18" charset="0"/>
              </a:rPr>
              <a:t> is from 1E–37 to 1E+37</a:t>
            </a:r>
            <a:r>
              <a:rPr lang="en-US" sz="3100" dirty="0">
                <a:latin typeface="Times New Roman" pitchFamily="18" charset="0"/>
                <a:cs typeface="Times New Roman" pitchFamily="18" charset="0"/>
              </a:rPr>
              <a:t>.</a:t>
            </a: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Char Data-Type</a:t>
            </a:r>
          </a:p>
        </p:txBody>
      </p:sp>
      <p:sp>
        <p:nvSpPr>
          <p:cNvPr id="3" name="Content Placeholder 2"/>
          <p:cNvSpPr>
            <a:spLocks noGrp="1"/>
          </p:cNvSpPr>
          <p:nvPr>
            <p:ph idx="1"/>
          </p:nvPr>
        </p:nvSpPr>
        <p:spPr>
          <a:xfrm>
            <a:off x="457200" y="1524000"/>
            <a:ext cx="8229600" cy="5105400"/>
          </a:xfrm>
        </p:spPr>
        <p:txBody>
          <a:bodyPr>
            <a:noAutofit/>
          </a:bodyPr>
          <a:lstStyle/>
          <a:p>
            <a:pPr fontAlgn="base"/>
            <a:endParaRPr lang="en-US" sz="2000" dirty="0">
              <a:latin typeface="Times New Roman" pitchFamily="18" charset="0"/>
              <a:cs typeface="Times New Roman" pitchFamily="18" charset="0"/>
            </a:endParaRPr>
          </a:p>
          <a:p>
            <a:pPr fontAlgn="base"/>
            <a:r>
              <a:rPr lang="en-US" sz="2000" dirty="0">
                <a:latin typeface="Times New Roman" pitchFamily="18" charset="0"/>
                <a:cs typeface="Times New Roman" pitchFamily="18" charset="0"/>
              </a:rPr>
              <a:t>Character data type allows a variable to store only one character.</a:t>
            </a:r>
          </a:p>
          <a:p>
            <a:pPr fontAlgn="base"/>
            <a:r>
              <a:rPr lang="en-US" sz="2000" dirty="0">
                <a:latin typeface="Times New Roman" pitchFamily="18" charset="0"/>
                <a:cs typeface="Times New Roman" pitchFamily="18" charset="0"/>
              </a:rPr>
              <a:t>Storage size of character data type is 1. We can store only one character using character data type.</a:t>
            </a:r>
          </a:p>
          <a:p>
            <a:pPr fontAlgn="base"/>
            <a:r>
              <a:rPr lang="en-US" sz="2000" dirty="0">
                <a:latin typeface="Times New Roman" pitchFamily="18" charset="0"/>
                <a:cs typeface="Times New Roman" pitchFamily="18" charset="0"/>
              </a:rPr>
              <a:t>“char” keyword is used to refer character data type.</a:t>
            </a:r>
          </a:p>
          <a:p>
            <a:pPr fontAlgn="base"/>
            <a:r>
              <a:rPr lang="en-US" sz="2000" dirty="0">
                <a:latin typeface="Times New Roman" pitchFamily="18" charset="0"/>
                <a:cs typeface="Times New Roman" pitchFamily="18" charset="0"/>
              </a:rPr>
              <a:t>For example, ‘A’ can be stored using char data type. You can’t store more than one character using char data type.</a:t>
            </a:r>
          </a:p>
          <a:p>
            <a:pPr fontAlgn="base"/>
            <a:r>
              <a:rPr lang="en-US" sz="2000" dirty="0">
                <a:latin typeface="Times New Roman" pitchFamily="18" charset="0"/>
                <a:cs typeface="Times New Roman" pitchFamily="18" charset="0"/>
              </a:rPr>
              <a:t>Please refer </a:t>
            </a:r>
            <a:r>
              <a:rPr lang="en-US" sz="2000" dirty="0">
                <a:latin typeface="Times New Roman" pitchFamily="18" charset="0"/>
                <a:cs typeface="Times New Roman" pitchFamily="18" charset="0"/>
                <a:hlinkClick r:id="rId2" tooltip="C – String"/>
              </a:rPr>
              <a:t>C – Strings</a:t>
            </a:r>
            <a:r>
              <a:rPr lang="en-US" sz="2000" dirty="0">
                <a:latin typeface="Times New Roman" pitchFamily="18" charset="0"/>
                <a:cs typeface="Times New Roman" pitchFamily="18" charset="0"/>
              </a:rPr>
              <a:t> topic to know how to store more than one characters in a variable.</a:t>
            </a:r>
          </a:p>
          <a:p>
            <a:pPr>
              <a:buNone/>
            </a:pPr>
            <a:r>
              <a:rPr lang="en-US" sz="2800" dirty="0"/>
              <a:t> </a:t>
            </a:r>
            <a:r>
              <a:rPr lang="en-US" sz="2800" dirty="0">
                <a:solidFill>
                  <a:srgbClr val="FF0000"/>
                </a:solidFill>
              </a:rPr>
              <a:t>Syntax: </a:t>
            </a:r>
            <a:r>
              <a:rPr lang="en-US" sz="2400" dirty="0">
                <a:latin typeface="Times New Roman" pitchFamily="18" charset="0"/>
                <a:cs typeface="Times New Roman" pitchFamily="18" charset="0"/>
              </a:rPr>
              <a:t>data type variable name=‘value’</a:t>
            </a:r>
          </a:p>
          <a:p>
            <a:pPr>
              <a:buNone/>
            </a:pPr>
            <a:r>
              <a:rPr lang="en-US" sz="2400" dirty="0">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Ex:</a:t>
            </a:r>
            <a:r>
              <a:rPr lang="en-US" sz="2400" dirty="0">
                <a:latin typeface="Times New Roman" pitchFamily="18" charset="0"/>
                <a:cs typeface="Times New Roman" pitchFamily="18" charset="0"/>
              </a:rPr>
              <a:t>   char test = 'h';</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rPr>
              <a:t>Data Types with </a:t>
            </a:r>
            <a:r>
              <a:rPr lang="en-US" sz="3200" dirty="0" err="1">
                <a:solidFill>
                  <a:srgbClr val="FF0000"/>
                </a:solidFill>
              </a:rPr>
              <a:t>Specifier</a:t>
            </a:r>
            <a:endParaRPr lang="en-US" sz="3200" dirty="0">
              <a:solidFill>
                <a:srgbClr val="FF0000"/>
              </a:solidFill>
            </a:endParaRPr>
          </a:p>
        </p:txBody>
      </p:sp>
      <p:pic>
        <p:nvPicPr>
          <p:cNvPr id="1026" name="Picture 2"/>
          <p:cNvPicPr>
            <a:picLocks noGrp="1" noChangeAspect="1" noChangeArrowheads="1"/>
          </p:cNvPicPr>
          <p:nvPr>
            <p:ph idx="1"/>
          </p:nvPr>
        </p:nvPicPr>
        <p:blipFill>
          <a:blip r:embed="rId3"/>
          <a:srcRect/>
          <a:stretch>
            <a:fillRect/>
          </a:stretch>
        </p:blipFill>
        <p:spPr bwMode="auto">
          <a:xfrm>
            <a:off x="776" y="1447800"/>
            <a:ext cx="9143224" cy="5410200"/>
          </a:xfrm>
          <a:prstGeom prst="rect">
            <a:avLst/>
          </a:prstGeom>
          <a:noFill/>
          <a:ln w="9525">
            <a:noFill/>
            <a:miter lim="800000"/>
            <a:headEnd/>
            <a:tailEnd/>
          </a:ln>
          <a:effec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304800" y="685800"/>
            <a:ext cx="8610600" cy="5791200"/>
          </a:xfrm>
          <a:prstGeom prst="rect">
            <a:avLst/>
          </a:prstGeom>
          <a:noFill/>
          <a:ln w="9525">
            <a:noFill/>
            <a:miter lim="800000"/>
            <a:headEnd/>
            <a:tailEnd/>
          </a:ln>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latin typeface="Times New Roman" pitchFamily="18" charset="0"/>
                <a:cs typeface="Times New Roman" pitchFamily="18" charset="0"/>
              </a:rPr>
              <a:t>Formatted input/output functions</a:t>
            </a:r>
            <a:endParaRPr lang="en-US" sz="3600"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Formatted console input/output functions are used to take one or more inputs from the user at console and it also allows us to display one or multiple values in the output to the user at the console.</a:t>
            </a:r>
          </a:p>
          <a:p>
            <a:endParaRPr lang="en-US" sz="2400" dirty="0"/>
          </a:p>
          <a:p>
            <a:r>
              <a:rPr lang="en-US" sz="2400" dirty="0"/>
              <a:t>While calling any of the </a:t>
            </a:r>
            <a:r>
              <a:rPr lang="en-US" sz="2400" b="1" dirty="0"/>
              <a:t>formatted</a:t>
            </a:r>
            <a:r>
              <a:rPr lang="en-US" sz="2400" dirty="0"/>
              <a:t> console input/output functions, we must use a specific </a:t>
            </a:r>
            <a:r>
              <a:rPr lang="en-US" sz="2400" b="1" dirty="0"/>
              <a:t>format </a:t>
            </a:r>
            <a:r>
              <a:rPr lang="en-US" sz="2400" b="1" dirty="0" err="1"/>
              <a:t>specifiers</a:t>
            </a:r>
            <a:r>
              <a:rPr lang="en-US" sz="2400" dirty="0"/>
              <a:t> in them, which allow us to read or display any value of a specific primitive data type.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sz="3600" dirty="0">
                <a:solidFill>
                  <a:srgbClr val="FF0000"/>
                </a:solidFill>
                <a:latin typeface="Times New Roman" pitchFamily="18" charset="0"/>
                <a:cs typeface="Times New Roman" pitchFamily="18" charset="0"/>
              </a:rPr>
              <a:t>Some of the most important formatted console input/output functions are -</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a:srcRect/>
          <a:stretch>
            <a:fillRect/>
          </a:stretch>
        </p:blipFill>
        <p:spPr bwMode="auto">
          <a:xfrm>
            <a:off x="533400" y="1735930"/>
            <a:ext cx="8382000" cy="4893469"/>
          </a:xfrm>
          <a:prstGeom prst="rect">
            <a:avLst/>
          </a:prstGeom>
          <a:noFill/>
          <a:ln w="9525">
            <a:noFill/>
            <a:miter lim="800000"/>
            <a:headEnd/>
            <a:tailEnd/>
          </a:ln>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
            </a:r>
            <a:br>
              <a:rPr lang="en-US" dirty="0"/>
            </a:br>
            <a:r>
              <a:rPr lang="en-US" sz="3600" dirty="0">
                <a:solidFill>
                  <a:srgbClr val="FF0000"/>
                </a:solidFill>
                <a:latin typeface="Times New Roman" pitchFamily="18" charset="0"/>
                <a:cs typeface="Times New Roman" pitchFamily="18" charset="0"/>
              </a:rPr>
              <a:t>Let's see what are these </a:t>
            </a:r>
            <a:r>
              <a:rPr lang="en-US" sz="3600" b="1" dirty="0">
                <a:solidFill>
                  <a:srgbClr val="FF0000"/>
                </a:solidFill>
                <a:latin typeface="Times New Roman" pitchFamily="18" charset="0"/>
                <a:cs typeface="Times New Roman" pitchFamily="18" charset="0"/>
              </a:rPr>
              <a:t>format </a:t>
            </a:r>
            <a:r>
              <a:rPr lang="en-US" sz="3600" b="1" dirty="0" err="1">
                <a:solidFill>
                  <a:srgbClr val="FF0000"/>
                </a:solidFill>
                <a:latin typeface="Times New Roman" pitchFamily="18" charset="0"/>
                <a:cs typeface="Times New Roman" pitchFamily="18" charset="0"/>
              </a:rPr>
              <a:t>specifiers</a:t>
            </a:r>
            <a:r>
              <a:rPr lang="en-US" sz="3600" dirty="0">
                <a:solidFill>
                  <a:srgbClr val="FF0000"/>
                </a:solidFill>
                <a:latin typeface="Times New Roman" pitchFamily="18" charset="0"/>
                <a:cs typeface="Times New Roman" pitchFamily="18" charset="0"/>
              </a:rPr>
              <a:t>.</a:t>
            </a:r>
            <a:r>
              <a:rPr lang="en-US" dirty="0"/>
              <a:t/>
            </a:r>
            <a:br>
              <a:rPr lang="en-US" dirty="0"/>
            </a:br>
            <a:r>
              <a:rPr lang="en-US" dirty="0"/>
              <a:t/>
            </a:r>
            <a:br>
              <a:rPr lang="en-US" dirty="0"/>
            </a:b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066800" y="1524000"/>
            <a:ext cx="7239000" cy="4800600"/>
          </a:xfrm>
          <a:prstGeom prst="rect">
            <a:avLst/>
          </a:prstGeom>
          <a:noFill/>
          <a:ln w="9525">
            <a:noFill/>
            <a:miter lim="800000"/>
            <a:headEnd/>
            <a:tailEnd/>
          </a:ln>
          <a:effec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609600" y="1754980"/>
            <a:ext cx="8153400" cy="4722019"/>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457200" y="228600"/>
            <a:ext cx="8305800" cy="6248400"/>
          </a:xfrm>
          <a:prstGeom prst="rect">
            <a:avLst/>
          </a:prstGeom>
          <a:noFill/>
          <a:ln w="9525">
            <a:noFill/>
            <a:miter lim="800000"/>
            <a:headEnd/>
            <a:tailEnd/>
          </a:ln>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r>
              <a:rPr lang="en-US" sz="3600" dirty="0">
                <a:solidFill>
                  <a:srgbClr val="FF0000"/>
                </a:solidFill>
                <a:latin typeface="Times New Roman" pitchFamily="18" charset="0"/>
                <a:cs typeface="Times New Roman" pitchFamily="18" charset="0"/>
              </a:rPr>
              <a:t>Unformatted input / Output functions</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Unformatted input and output functions read a single input sent by the user and permits to display the value as the output at the console</a:t>
            </a:r>
            <a:r>
              <a:rPr lang="en-US" dirty="0"/>
              <a:t>. </a:t>
            </a:r>
          </a:p>
          <a:p>
            <a:endParaRPr lang="en-US" dirty="0"/>
          </a:p>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r>
              <a:rPr lang="en-US" sz="3600" dirty="0">
                <a:solidFill>
                  <a:srgbClr val="FF0000"/>
                </a:solidFill>
                <a:latin typeface="Times New Roman" pitchFamily="18" charset="0"/>
                <a:cs typeface="Times New Roman" pitchFamily="18" charset="0"/>
              </a:rPr>
              <a:t>Difference between Formatted and Unformatted Functions</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2400" dirty="0">
                <a:latin typeface="Times New Roman" pitchFamily="18" charset="0"/>
                <a:cs typeface="Times New Roman" pitchFamily="18" charset="0"/>
              </a:rPr>
              <a:t>Formatted I/O functions allow to supply input or display output in user desired format.</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Unformatted I/O functions are the most basic form of input and output and they do not allow to supply input or display output in user desired format.</a:t>
            </a:r>
          </a:p>
          <a:p>
            <a:pPr>
              <a:buNone/>
            </a:pPr>
            <a:endParaRPr lang="en-US" sz="2400" dirty="0">
              <a:latin typeface="Times New Roman" pitchFamily="18" charset="0"/>
              <a:cs typeface="Times New Roman" pitchFamily="18" charset="0"/>
            </a:endParaRPr>
          </a:p>
          <a:p>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 and </a:t>
            </a:r>
            <a:r>
              <a:rPr lang="en-US" sz="2400" dirty="0" err="1">
                <a:latin typeface="Times New Roman" pitchFamily="18" charset="0"/>
                <a:cs typeface="Times New Roman" pitchFamily="18" charset="0"/>
              </a:rPr>
              <a:t>scanf</a:t>
            </a:r>
            <a:r>
              <a:rPr lang="en-US" sz="2400" dirty="0">
                <a:latin typeface="Times New Roman" pitchFamily="18" charset="0"/>
                <a:cs typeface="Times New Roman" pitchFamily="18" charset="0"/>
              </a:rPr>
              <a:t>() are examples for formatted input and output functions.</a:t>
            </a:r>
          </a:p>
          <a:p>
            <a:pPr>
              <a:buNone/>
            </a:pPr>
            <a:endParaRPr lang="en-US" sz="2400" dirty="0">
              <a:latin typeface="Times New Roman" pitchFamily="18" charset="0"/>
              <a:cs typeface="Times New Roman" pitchFamily="18" charset="0"/>
            </a:endParaRPr>
          </a:p>
          <a:p>
            <a:r>
              <a:rPr lang="en-US" sz="2400" dirty="0" err="1">
                <a:latin typeface="Times New Roman" pitchFamily="18" charset="0"/>
                <a:cs typeface="Times New Roman" pitchFamily="18" charset="0"/>
              </a:rPr>
              <a:t>getch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getche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getchar</a:t>
            </a:r>
            <a:r>
              <a:rPr lang="en-US" sz="2400" dirty="0">
                <a:latin typeface="Times New Roman" pitchFamily="18" charset="0"/>
                <a:cs typeface="Times New Roman" pitchFamily="18" charset="0"/>
              </a:rPr>
              <a:t>(), gets(), puts(), </a:t>
            </a:r>
            <a:r>
              <a:rPr lang="en-US" sz="2400" dirty="0" err="1">
                <a:latin typeface="Times New Roman" pitchFamily="18" charset="0"/>
                <a:cs typeface="Times New Roman" pitchFamily="18" charset="0"/>
              </a:rPr>
              <a:t>putchar</a:t>
            </a:r>
            <a:r>
              <a:rPr lang="en-US" sz="2400" dirty="0">
                <a:latin typeface="Times New Roman" pitchFamily="18" charset="0"/>
                <a:cs typeface="Times New Roman" pitchFamily="18" charset="0"/>
              </a:rPr>
              <a:t>() etc. are examples of unformatted input output functions.</a:t>
            </a:r>
          </a:p>
          <a:p>
            <a:endParaRPr lang="en-US" sz="2400" dirty="0">
              <a:latin typeface="Times New Roman" pitchFamily="18" charset="0"/>
              <a:cs typeface="Times New Roman"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lstStyle/>
          <a:p>
            <a:r>
              <a:rPr lang="en-US" sz="2800" dirty="0">
                <a:latin typeface="Times New Roman" pitchFamily="18" charset="0"/>
                <a:cs typeface="Times New Roman" pitchFamily="18" charset="0"/>
              </a:rPr>
              <a:t>Formatted input and output functions contain format </a:t>
            </a:r>
            <a:r>
              <a:rPr lang="en-US" sz="2800" dirty="0" err="1">
                <a:latin typeface="Times New Roman" pitchFamily="18" charset="0"/>
                <a:cs typeface="Times New Roman" pitchFamily="18" charset="0"/>
              </a:rPr>
              <a:t>specifier</a:t>
            </a:r>
            <a:r>
              <a:rPr lang="en-US" sz="2800" dirty="0">
                <a:latin typeface="Times New Roman" pitchFamily="18" charset="0"/>
                <a:cs typeface="Times New Roman" pitchFamily="18" charset="0"/>
              </a:rPr>
              <a:t> in their syntax.</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Unformatted input and output functions do not contain format </a:t>
            </a:r>
            <a:r>
              <a:rPr lang="en-US" sz="2800" dirty="0" err="1">
                <a:latin typeface="Times New Roman" pitchFamily="18" charset="0"/>
                <a:cs typeface="Times New Roman" pitchFamily="18" charset="0"/>
              </a:rPr>
              <a:t>specifier</a:t>
            </a:r>
            <a:r>
              <a:rPr lang="en-US" sz="2800" dirty="0">
                <a:latin typeface="Times New Roman" pitchFamily="18" charset="0"/>
                <a:cs typeface="Times New Roman" pitchFamily="18" charset="0"/>
              </a:rPr>
              <a:t> in their syntax</a:t>
            </a:r>
            <a:r>
              <a:rPr lang="en-US" dirty="0"/>
              <a:t>.</a:t>
            </a:r>
          </a:p>
          <a:p>
            <a:endParaRPr lang="en-US" dirty="0"/>
          </a:p>
          <a:p>
            <a:r>
              <a:rPr lang="en-US" sz="2800" dirty="0">
                <a:latin typeface="Times New Roman" pitchFamily="18" charset="0"/>
                <a:cs typeface="Times New Roman" pitchFamily="18" charset="0"/>
              </a:rPr>
              <a:t>Formatted I/O functions are used for storing data more user friendly.</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Unformatted I/O functions are used for storing data more compactly.</a:t>
            </a:r>
          </a:p>
          <a:p>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Formatted I/O functions are used with all data types.</a:t>
            </a:r>
          </a:p>
          <a:p>
            <a:pPr>
              <a:buNone/>
            </a:pP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Unformatted I/O functions are used mainly for character and string data types.</a:t>
            </a:r>
          </a:p>
          <a:p>
            <a:pPr>
              <a:buNone/>
            </a:pPr>
            <a:r>
              <a:rPr lang="en-US" dirty="0"/>
              <a:t/>
            </a:r>
            <a:br>
              <a:rPr lang="en-US" dirty="0"/>
            </a:b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r>
              <a:rPr lang="en-US" b="1" dirty="0"/>
              <a:t/>
            </a:r>
            <a:br>
              <a:rPr lang="en-US" b="1" dirty="0"/>
            </a:br>
            <a:r>
              <a:rPr lang="en-US" sz="3100" b="1" dirty="0">
                <a:solidFill>
                  <a:srgbClr val="FF0000"/>
                </a:solidFill>
                <a:latin typeface="Times New Roman" pitchFamily="18" charset="0"/>
                <a:cs typeface="Times New Roman" pitchFamily="18" charset="0"/>
              </a:rPr>
              <a:t>Formatted I/O Example:</a:t>
            </a:r>
            <a:r>
              <a:rPr lang="en-US" sz="3100" dirty="0">
                <a:solidFill>
                  <a:srgbClr val="FF0000"/>
                </a:solidFill>
                <a:latin typeface="Times New Roman" pitchFamily="18" charset="0"/>
                <a:cs typeface="Times New Roman" pitchFamily="18" charset="0"/>
              </a:rPr>
              <a:t/>
            </a:r>
            <a:br>
              <a:rPr lang="en-US" sz="3100" dirty="0">
                <a:solidFill>
                  <a:srgbClr val="FF0000"/>
                </a:solidFill>
                <a:latin typeface="Times New Roman" pitchFamily="18" charset="0"/>
                <a:cs typeface="Times New Roman" pitchFamily="18" charset="0"/>
              </a:rPr>
            </a:b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include</a:t>
            </a:r>
            <a:r>
              <a:rPr lang="en-US" dirty="0">
                <a:latin typeface="Times New Roman" pitchFamily="18" charset="0"/>
                <a:cs typeface="Times New Roman" pitchFamily="18" charset="0"/>
              </a:rPr>
              <a:t>&lt;</a:t>
            </a:r>
            <a:r>
              <a:rPr lang="en-US" dirty="0" err="1">
                <a:latin typeface="Times New Roman" pitchFamily="18" charset="0"/>
                <a:cs typeface="Times New Roman" pitchFamily="18" charset="0"/>
              </a:rPr>
              <a:t>stdio.h</a:t>
            </a:r>
            <a:r>
              <a:rPr lang="en-US" dirty="0">
                <a:latin typeface="Times New Roman" pitchFamily="18" charset="0"/>
                <a:cs typeface="Times New Roman" pitchFamily="18" charset="0"/>
              </a:rPr>
              <a:t>&gt; </a:t>
            </a:r>
          </a:p>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include</a:t>
            </a:r>
            <a:r>
              <a:rPr lang="en-US" dirty="0">
                <a:latin typeface="Times New Roman" pitchFamily="18" charset="0"/>
                <a:cs typeface="Times New Roman" pitchFamily="18" charset="0"/>
              </a:rPr>
              <a:t>&lt;</a:t>
            </a:r>
            <a:r>
              <a:rPr lang="en-US" dirty="0" err="1">
                <a:latin typeface="Times New Roman" pitchFamily="18" charset="0"/>
                <a:cs typeface="Times New Roman" pitchFamily="18" charset="0"/>
              </a:rPr>
              <a:t>conio.h</a:t>
            </a:r>
            <a:r>
              <a:rPr lang="en-US" dirty="0">
                <a:latin typeface="Times New Roman" pitchFamily="18" charset="0"/>
                <a:cs typeface="Times New Roman" pitchFamily="18" charset="0"/>
              </a:rPr>
              <a:t>&gt; </a:t>
            </a:r>
          </a:p>
          <a:p>
            <a:r>
              <a:rPr lang="en-US" b="1" dirty="0">
                <a:latin typeface="Times New Roman" pitchFamily="18" charset="0"/>
                <a:cs typeface="Times New Roman" pitchFamily="18" charset="0"/>
              </a:rPr>
              <a:t>void</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p>
          <a:p>
            <a:r>
              <a:rPr lang="en-US" b="1" dirty="0" err="1">
                <a:latin typeface="Times New Roman" pitchFamily="18" charset="0"/>
                <a:cs typeface="Times New Roman" pitchFamily="18" charset="0"/>
              </a:rPr>
              <a:t>int</a:t>
            </a:r>
            <a:r>
              <a:rPr lang="en-US" dirty="0">
                <a:latin typeface="Times New Roman" pitchFamily="18" charset="0"/>
                <a:cs typeface="Times New Roman" pitchFamily="18" charset="0"/>
              </a:rPr>
              <a:t> a; </a:t>
            </a:r>
          </a:p>
          <a:p>
            <a:r>
              <a:rPr lang="en-US" dirty="0" err="1">
                <a:latin typeface="Times New Roman" pitchFamily="18" charset="0"/>
                <a:cs typeface="Times New Roman" pitchFamily="18" charset="0"/>
              </a:rPr>
              <a:t>clrscr</a:t>
            </a:r>
            <a:r>
              <a:rPr lang="en-US" dirty="0">
                <a:latin typeface="Times New Roman" pitchFamily="18" charset="0"/>
                <a:cs typeface="Times New Roman" pitchFamily="18" charset="0"/>
              </a:rPr>
              <a:t>(); </a:t>
            </a:r>
          </a:p>
          <a:p>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(“Enter value of a:”); </a:t>
            </a:r>
          </a:p>
          <a:p>
            <a:r>
              <a:rPr lang="en-US" dirty="0" err="1">
                <a:latin typeface="Times New Roman" pitchFamily="18" charset="0"/>
                <a:cs typeface="Times New Roman" pitchFamily="18" charset="0"/>
              </a:rPr>
              <a:t>scanf</a:t>
            </a:r>
            <a:r>
              <a:rPr lang="en-US" dirty="0">
                <a:latin typeface="Times New Roman" pitchFamily="18" charset="0"/>
                <a:cs typeface="Times New Roman" pitchFamily="18" charset="0"/>
              </a:rPr>
              <a:t>(“%d”, &amp;a);</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 a = %d”, a); </a:t>
            </a:r>
          </a:p>
          <a:p>
            <a:r>
              <a:rPr lang="en-US" dirty="0" err="1">
                <a:latin typeface="Times New Roman" pitchFamily="18" charset="0"/>
                <a:cs typeface="Times New Roman" pitchFamily="18" charset="0"/>
              </a:rPr>
              <a:t>getch</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latin typeface="Times New Roman" pitchFamily="18" charset="0"/>
                <a:cs typeface="Times New Roman" pitchFamily="18" charset="0"/>
              </a:rPr>
              <a:t>Unformatted I/O Example:</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include</a:t>
            </a:r>
            <a:r>
              <a:rPr lang="en-US" dirty="0">
                <a:latin typeface="Times New Roman" pitchFamily="18" charset="0"/>
                <a:cs typeface="Times New Roman" pitchFamily="18" charset="0"/>
              </a:rPr>
              <a:t>&lt;</a:t>
            </a:r>
            <a:r>
              <a:rPr lang="en-US" dirty="0" err="1">
                <a:latin typeface="Times New Roman" pitchFamily="18" charset="0"/>
                <a:cs typeface="Times New Roman" pitchFamily="18" charset="0"/>
              </a:rPr>
              <a:t>stdio.h</a:t>
            </a:r>
            <a:r>
              <a:rPr lang="en-US" dirty="0">
                <a:latin typeface="Times New Roman" pitchFamily="18" charset="0"/>
                <a:cs typeface="Times New Roman" pitchFamily="18" charset="0"/>
              </a:rPr>
              <a:t>&gt; </a:t>
            </a:r>
          </a:p>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include</a:t>
            </a:r>
            <a:r>
              <a:rPr lang="en-US" dirty="0">
                <a:latin typeface="Times New Roman" pitchFamily="18" charset="0"/>
                <a:cs typeface="Times New Roman" pitchFamily="18" charset="0"/>
              </a:rPr>
              <a:t>&lt;</a:t>
            </a:r>
            <a:r>
              <a:rPr lang="en-US" dirty="0" err="1">
                <a:latin typeface="Times New Roman" pitchFamily="18" charset="0"/>
                <a:cs typeface="Times New Roman" pitchFamily="18" charset="0"/>
              </a:rPr>
              <a:t>conio.h</a:t>
            </a:r>
            <a:r>
              <a:rPr lang="en-US" dirty="0">
                <a:latin typeface="Times New Roman" pitchFamily="18" charset="0"/>
                <a:cs typeface="Times New Roman" pitchFamily="18" charset="0"/>
              </a:rPr>
              <a:t>&gt; </a:t>
            </a:r>
          </a:p>
          <a:p>
            <a:r>
              <a:rPr lang="en-US" b="1" dirty="0">
                <a:latin typeface="Times New Roman" pitchFamily="18" charset="0"/>
                <a:cs typeface="Times New Roman" pitchFamily="18" charset="0"/>
              </a:rPr>
              <a:t>void</a:t>
            </a:r>
            <a:r>
              <a:rPr lang="en-US" dirty="0">
                <a:latin typeface="Times New Roman" pitchFamily="18" charset="0"/>
                <a:cs typeface="Times New Roman" pitchFamily="18" charset="0"/>
              </a:rPr>
              <a:t> main() </a:t>
            </a:r>
          </a:p>
          <a:p>
            <a:r>
              <a:rPr lang="en-US" dirty="0">
                <a:latin typeface="Times New Roman" pitchFamily="18" charset="0"/>
                <a:cs typeface="Times New Roman" pitchFamily="18" charset="0"/>
              </a:rPr>
              <a:t>{ </a:t>
            </a:r>
          </a:p>
          <a:p>
            <a:r>
              <a:rPr lang="en-US" b="1" dirty="0">
                <a:latin typeface="Times New Roman" pitchFamily="18" charset="0"/>
                <a:cs typeface="Times New Roman" pitchFamily="18" charset="0"/>
              </a:rPr>
              <a:t>char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clrscr</a:t>
            </a:r>
            <a:r>
              <a:rPr lang="en-US" dirty="0">
                <a:latin typeface="Times New Roman" pitchFamily="18" charset="0"/>
                <a:cs typeface="Times New Roman" pitchFamily="18" charset="0"/>
              </a:rPr>
              <a:t>(); </a:t>
            </a:r>
          </a:p>
          <a:p>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(“Press any character:”); </a:t>
            </a:r>
          </a:p>
          <a:p>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getche</a:t>
            </a:r>
            <a:r>
              <a:rPr lang="en-US" dirty="0">
                <a:latin typeface="Times New Roman" pitchFamily="18" charset="0"/>
                <a:cs typeface="Times New Roman" pitchFamily="18" charset="0"/>
              </a:rPr>
              <a:t>(); </a:t>
            </a:r>
          </a:p>
          <a:p>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nYou</a:t>
            </a:r>
            <a:r>
              <a:rPr lang="en-US" dirty="0">
                <a:latin typeface="Times New Roman" pitchFamily="18" charset="0"/>
                <a:cs typeface="Times New Roman" pitchFamily="18" charset="0"/>
              </a:rPr>
              <a:t> pressed :” </a:t>
            </a:r>
            <a:r>
              <a:rPr lang="en-US" dirty="0" err="1">
                <a:latin typeface="Times New Roman" pitchFamily="18" charset="0"/>
                <a:cs typeface="Times New Roman" pitchFamily="18" charset="0"/>
              </a:rPr>
              <a:t>putchar</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ch</a:t>
            </a:r>
            <a:r>
              <a:rPr lang="en-US" dirty="0">
                <a:latin typeface="Times New Roman" pitchFamily="18" charset="0"/>
                <a:cs typeface="Times New Roman" pitchFamily="18" charset="0"/>
              </a:rPr>
              <a:t>)); </a:t>
            </a:r>
          </a:p>
          <a:p>
            <a:r>
              <a:rPr lang="en-US" dirty="0" err="1">
                <a:latin typeface="Times New Roman" pitchFamily="18" charset="0"/>
                <a:cs typeface="Times New Roman" pitchFamily="18" charset="0"/>
              </a:rPr>
              <a:t>getch</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Output of the above program is:</a:t>
            </a:r>
            <a:endParaRPr lang="en-US" dirty="0"/>
          </a:p>
          <a:p>
            <a:r>
              <a:rPr lang="en-US" dirty="0"/>
              <a:t>Press any character: L</a:t>
            </a:r>
          </a:p>
          <a:p>
            <a:r>
              <a:rPr lang="en-US" dirty="0"/>
              <a:t> You pressed: L</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609600" y="228600"/>
            <a:ext cx="8534400" cy="5850731"/>
          </a:xfrm>
          <a:prstGeom prst="rect">
            <a:avLst/>
          </a:prstGeom>
          <a:noFill/>
          <a:ln w="9525">
            <a:noFill/>
            <a:miter lim="800000"/>
            <a:headEnd/>
            <a:tailEnd/>
          </a:ln>
          <a:effec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solidFill>
                  <a:srgbClr val="FF0000"/>
                </a:solidFill>
                <a:latin typeface="Times New Roman" pitchFamily="18" charset="0"/>
                <a:cs typeface="Times New Roman" pitchFamily="18" charset="0"/>
              </a:rPr>
              <a:t/>
            </a:r>
            <a:br>
              <a:rPr lang="en-US" sz="3600" dirty="0">
                <a:solidFill>
                  <a:srgbClr val="FF0000"/>
                </a:solidFill>
                <a:latin typeface="Times New Roman" pitchFamily="18" charset="0"/>
                <a:cs typeface="Times New Roman" pitchFamily="18" charset="0"/>
              </a:rPr>
            </a:br>
            <a:r>
              <a:rPr lang="en-US" sz="3600" dirty="0">
                <a:solidFill>
                  <a:srgbClr val="FF0000"/>
                </a:solidFill>
                <a:latin typeface="Times New Roman" pitchFamily="18" charset="0"/>
                <a:cs typeface="Times New Roman" pitchFamily="18" charset="0"/>
              </a:rPr>
              <a:t>C gets() and puts() functions</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lgn="ctr">
              <a:buNone/>
            </a:pPr>
            <a:r>
              <a:rPr lang="en-US" sz="2400" dirty="0">
                <a:latin typeface="Times New Roman" pitchFamily="18" charset="0"/>
                <a:cs typeface="Times New Roman" pitchFamily="18" charset="0"/>
              </a:rPr>
              <a:t>The gets() and puts() are declared in the header file </a:t>
            </a:r>
            <a:r>
              <a:rPr lang="en-US" sz="2400" dirty="0" err="1">
                <a:latin typeface="Times New Roman" pitchFamily="18" charset="0"/>
                <a:cs typeface="Times New Roman" pitchFamily="18" charset="0"/>
              </a:rPr>
              <a:t>stdio.h</a:t>
            </a:r>
            <a:r>
              <a:rPr lang="en-US" sz="2400" dirty="0">
                <a:latin typeface="Times New Roman" pitchFamily="18" charset="0"/>
                <a:cs typeface="Times New Roman" pitchFamily="18" charset="0"/>
              </a:rPr>
              <a:t>. Both the functions are involved in the input/output operations of the strings</a:t>
            </a:r>
            <a:r>
              <a:rPr lang="en-US" sz="2400" dirty="0"/>
              <a:t>.</a:t>
            </a:r>
          </a:p>
          <a:p>
            <a:pPr>
              <a:buNone/>
            </a:pPr>
            <a:r>
              <a:rPr lang="en-US" sz="2400" b="1" dirty="0">
                <a:solidFill>
                  <a:srgbClr val="FF0000"/>
                </a:solidFill>
                <a:latin typeface="Times New Roman" pitchFamily="18" charset="0"/>
                <a:cs typeface="Times New Roman" pitchFamily="18" charset="0"/>
              </a:rPr>
              <a:t>C gets() function</a:t>
            </a:r>
          </a:p>
          <a:p>
            <a:pPr>
              <a:buNone/>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     The gets() function enables the user to enter some characters  followed by the enter key. </a:t>
            </a:r>
          </a:p>
          <a:p>
            <a:pPr>
              <a:buFont typeface="Wingdings" pitchFamily="2" charset="2"/>
              <a:buChar char="Ø"/>
            </a:pPr>
            <a:r>
              <a:rPr lang="en-US" sz="2400" dirty="0">
                <a:latin typeface="Times New Roman" pitchFamily="18" charset="0"/>
                <a:cs typeface="Times New Roman" pitchFamily="18" charset="0"/>
              </a:rPr>
              <a:t>     All the characters entered by the user get stored in a character   array. </a:t>
            </a:r>
          </a:p>
          <a:p>
            <a:pPr>
              <a:buFont typeface="Wingdings" pitchFamily="2" charset="2"/>
              <a:buChar char="Ø"/>
            </a:pPr>
            <a:r>
              <a:rPr lang="en-US" sz="2400" dirty="0">
                <a:latin typeface="Times New Roman" pitchFamily="18" charset="0"/>
                <a:cs typeface="Times New Roman" pitchFamily="18" charset="0"/>
              </a:rPr>
              <a:t>    The null character is added to the array to make it a string. </a:t>
            </a:r>
          </a:p>
          <a:p>
            <a:pPr>
              <a:buFont typeface="Wingdings" pitchFamily="2" charset="2"/>
              <a:buChar char="Ø"/>
            </a:pPr>
            <a:r>
              <a:rPr lang="en-US" sz="2400" dirty="0">
                <a:latin typeface="Times New Roman" pitchFamily="18" charset="0"/>
                <a:cs typeface="Times New Roman" pitchFamily="18" charset="0"/>
              </a:rPr>
              <a:t>    The gets() allows the user to enter the space-separated strings. </a:t>
            </a:r>
          </a:p>
          <a:p>
            <a:pPr>
              <a:buFont typeface="Wingdings" pitchFamily="2" charset="2"/>
              <a:buChar char="Ø"/>
            </a:pPr>
            <a:r>
              <a:rPr lang="en-US" sz="2400" dirty="0">
                <a:latin typeface="Times New Roman" pitchFamily="18" charset="0"/>
                <a:cs typeface="Times New Roman" pitchFamily="18" charset="0"/>
              </a:rPr>
              <a:t>     It returns the string entered by the user.</a:t>
            </a:r>
          </a:p>
          <a:p>
            <a:pPr algn="ctr">
              <a:buNone/>
            </a:pP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latin typeface="Times New Roman" pitchFamily="18" charset="0"/>
                <a:cs typeface="Times New Roman" pitchFamily="18" charset="0"/>
              </a:rPr>
              <a:t>Declaration</a:t>
            </a:r>
            <a:r>
              <a:rPr lang="en-US" sz="3200" dirty="0">
                <a:solidFill>
                  <a:srgbClr val="FF0000"/>
                </a:solidFill>
                <a:latin typeface="Times New Roman" pitchFamily="18" charset="0"/>
                <a:cs typeface="Times New Roman" pitchFamily="18" charset="0"/>
              </a:rPr>
              <a:t/>
            </a:r>
            <a:br>
              <a:rPr lang="en-US" sz="3200" dirty="0">
                <a:solidFill>
                  <a:srgbClr val="FF0000"/>
                </a:solidFill>
                <a:latin typeface="Times New Roman" pitchFamily="18" charset="0"/>
                <a:cs typeface="Times New Roman" pitchFamily="18" charset="0"/>
              </a:rPr>
            </a:br>
            <a:endParaRPr lang="en-US" sz="32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a:buNone/>
            </a:pPr>
            <a:r>
              <a:rPr lang="en-US" b="1" dirty="0">
                <a:latin typeface="Times New Roman" pitchFamily="18" charset="0"/>
                <a:cs typeface="Times New Roman" pitchFamily="18" charset="0"/>
              </a:rPr>
              <a:t>Syntax: char</a:t>
            </a:r>
            <a:r>
              <a:rPr lang="en-US" dirty="0">
                <a:latin typeface="Times New Roman" pitchFamily="18" charset="0"/>
                <a:cs typeface="Times New Roman" pitchFamily="18" charset="0"/>
              </a:rPr>
              <a:t>[] gets(</a:t>
            </a:r>
            <a:r>
              <a:rPr lang="en-US" b="1" dirty="0">
                <a:latin typeface="Times New Roman" pitchFamily="18" charset="0"/>
                <a:cs typeface="Times New Roman" pitchFamily="18" charset="0"/>
              </a:rPr>
              <a:t>char</a:t>
            </a:r>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a:p>
            <a:pPr>
              <a:buNone/>
            </a:pPr>
            <a:r>
              <a:rPr lang="en-US" dirty="0">
                <a:solidFill>
                  <a:srgbClr val="FF0000"/>
                </a:solidFill>
                <a:latin typeface="Times New Roman" pitchFamily="18" charset="0"/>
                <a:cs typeface="Times New Roman" pitchFamily="18" charset="0"/>
              </a:rPr>
              <a:t>Reading string using gets()</a:t>
            </a:r>
          </a:p>
          <a:p>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#include&lt;</a:t>
            </a:r>
            <a:r>
              <a:rPr lang="en-US" dirty="0" err="1">
                <a:latin typeface="Times New Roman" pitchFamily="18" charset="0"/>
                <a:cs typeface="Times New Roman" pitchFamily="18" charset="0"/>
              </a:rPr>
              <a:t>stdio.h</a:t>
            </a:r>
            <a:r>
              <a:rPr lang="en-US" dirty="0">
                <a:latin typeface="Times New Roman" pitchFamily="18" charset="0"/>
                <a:cs typeface="Times New Roman" pitchFamily="18" charset="0"/>
              </a:rPr>
              <a:t>&gt;  </a:t>
            </a:r>
          </a:p>
          <a:p>
            <a:pPr>
              <a:buNone/>
            </a:pPr>
            <a:r>
              <a:rPr lang="en-US" b="1" dirty="0">
                <a:latin typeface="Times New Roman" pitchFamily="18" charset="0"/>
                <a:cs typeface="Times New Roman" pitchFamily="18" charset="0"/>
              </a:rPr>
              <a:t>void</a:t>
            </a:r>
            <a:r>
              <a:rPr lang="en-US" dirty="0">
                <a:latin typeface="Times New Roman" pitchFamily="18" charset="0"/>
                <a:cs typeface="Times New Roman" pitchFamily="18" charset="0"/>
              </a:rPr>
              <a:t> main ()  </a:t>
            </a:r>
          </a:p>
          <a:p>
            <a:pPr>
              <a:buNone/>
            </a:pP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char</a:t>
            </a:r>
            <a:r>
              <a:rPr lang="en-US" dirty="0">
                <a:latin typeface="Times New Roman" pitchFamily="18" charset="0"/>
                <a:cs typeface="Times New Roman" pitchFamily="18" charset="0"/>
              </a:rPr>
              <a:t> s[30];  </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("Enter the string? ");  </a:t>
            </a:r>
          </a:p>
          <a:p>
            <a:pPr>
              <a:buNone/>
            </a:pPr>
            <a:r>
              <a:rPr lang="en-US" dirty="0">
                <a:latin typeface="Times New Roman" pitchFamily="18" charset="0"/>
                <a:cs typeface="Times New Roman" pitchFamily="18" charset="0"/>
              </a:rPr>
              <a:t>    gets(s);  </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("You entered %</a:t>
            </a:r>
            <a:r>
              <a:rPr lang="en-US" dirty="0" err="1">
                <a:latin typeface="Times New Roman" pitchFamily="18" charset="0"/>
                <a:cs typeface="Times New Roman" pitchFamily="18" charset="0"/>
              </a:rPr>
              <a:t>s",s</a:t>
            </a: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p>
          <a:p>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C puts() function</a:t>
            </a:r>
            <a:br>
              <a:rPr lang="en-US" sz="3200" dirty="0">
                <a:solidFill>
                  <a:srgbClr val="FF0000"/>
                </a:solidFill>
                <a:latin typeface="Times New Roman" pitchFamily="18" charset="0"/>
                <a:cs typeface="Times New Roman" pitchFamily="18" charset="0"/>
              </a:rPr>
            </a:br>
            <a:endParaRPr lang="en-US" sz="32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10000"/>
          </a:bodyPr>
          <a:lstStyle/>
          <a:p>
            <a:pPr>
              <a:buFont typeface="Wingdings" pitchFamily="2" charset="2"/>
              <a:buChar char="Ø"/>
            </a:pPr>
            <a:r>
              <a:rPr lang="en-US" sz="2800" dirty="0">
                <a:latin typeface="Times New Roman" pitchFamily="18" charset="0"/>
                <a:cs typeface="Times New Roman" pitchFamily="18" charset="0"/>
              </a:rPr>
              <a:t>The puts() function is very much similar to print f() function.</a:t>
            </a:r>
          </a:p>
          <a:p>
            <a:endParaRPr lang="en-US" sz="2800" dirty="0">
              <a:latin typeface="Times New Roman" pitchFamily="18" charset="0"/>
              <a:cs typeface="Times New Roman" pitchFamily="18" charset="0"/>
            </a:endParaRPr>
          </a:p>
          <a:p>
            <a:pPr>
              <a:buFont typeface="Wingdings" pitchFamily="2" charset="2"/>
              <a:buChar char="Ø"/>
            </a:pPr>
            <a:r>
              <a:rPr lang="en-US" sz="2800" dirty="0">
                <a:latin typeface="Times New Roman" pitchFamily="18" charset="0"/>
                <a:cs typeface="Times New Roman" pitchFamily="18" charset="0"/>
              </a:rPr>
              <a:t> The puts() function is used to print the string on the console which is previously read by using gets() or scan f() function. </a:t>
            </a:r>
          </a:p>
          <a:p>
            <a:endParaRPr lang="en-US" sz="2800" dirty="0">
              <a:latin typeface="Times New Roman" pitchFamily="18" charset="0"/>
              <a:cs typeface="Times New Roman" pitchFamily="18" charset="0"/>
            </a:endParaRPr>
          </a:p>
          <a:p>
            <a:pPr>
              <a:buFont typeface="Wingdings" pitchFamily="2" charset="2"/>
              <a:buChar char="Ø"/>
            </a:pPr>
            <a:r>
              <a:rPr lang="en-US" sz="2800" dirty="0">
                <a:latin typeface="Times New Roman" pitchFamily="18" charset="0"/>
                <a:cs typeface="Times New Roman" pitchFamily="18" charset="0"/>
              </a:rPr>
              <a:t>The puts() function returns an integer value representing the number of characters being printed on the console. Since, it prints an additional newline character with the string, which moves the cursor to the new line on the console, the integer value returned by puts() will always be equal to the number of characters present in the string plus 1.</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fontScale="90000"/>
          </a:bodyPr>
          <a:lstStyle/>
          <a:p>
            <a:r>
              <a:rPr lang="en-US" sz="2800" b="1" dirty="0">
                <a:solidFill>
                  <a:srgbClr val="FF0000"/>
                </a:solidFill>
                <a:latin typeface="Times New Roman" pitchFamily="18" charset="0"/>
                <a:cs typeface="Times New Roman" pitchFamily="18" charset="0"/>
              </a:rPr>
              <a:t>Declaration</a:t>
            </a:r>
            <a:r>
              <a:rPr lang="en-US" sz="2800" dirty="0">
                <a:solidFill>
                  <a:srgbClr val="FF0000"/>
                </a:solidFill>
                <a:latin typeface="Times New Roman" pitchFamily="18" charset="0"/>
                <a:cs typeface="Times New Roman" pitchFamily="18" charset="0"/>
              </a:rPr>
              <a:t/>
            </a:r>
            <a:br>
              <a:rPr lang="en-US" sz="2800" dirty="0">
                <a:solidFill>
                  <a:srgbClr val="FF0000"/>
                </a:solidFill>
                <a:latin typeface="Times New Roman" pitchFamily="18" charset="0"/>
                <a:cs typeface="Times New Roman" pitchFamily="18" charset="0"/>
              </a:rPr>
            </a:b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609600"/>
            <a:ext cx="8229600" cy="6248400"/>
          </a:xfrm>
        </p:spPr>
        <p:txBody>
          <a:bodyPr>
            <a:normAutofit fontScale="85000" lnSpcReduction="20000"/>
          </a:bodyPr>
          <a:lstStyle/>
          <a:p>
            <a:pPr>
              <a:buNone/>
            </a:pPr>
            <a:r>
              <a:rPr lang="en-US" sz="2800" b="1" dirty="0">
                <a:solidFill>
                  <a:srgbClr val="FF0000"/>
                </a:solidFill>
                <a:latin typeface="Times New Roman" pitchFamily="18" charset="0"/>
                <a:cs typeface="Times New Roman" pitchFamily="18" charset="0"/>
              </a:rPr>
              <a:t>Syntax</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int</a:t>
            </a:r>
            <a:r>
              <a:rPr lang="en-US" sz="2800" dirty="0">
                <a:latin typeface="Times New Roman" pitchFamily="18" charset="0"/>
                <a:cs typeface="Times New Roman" pitchFamily="18" charset="0"/>
              </a:rPr>
              <a:t> puts(</a:t>
            </a:r>
            <a:r>
              <a:rPr lang="en-US" sz="2800" b="1" dirty="0">
                <a:latin typeface="Times New Roman" pitchFamily="18" charset="0"/>
                <a:cs typeface="Times New Roman" pitchFamily="18" charset="0"/>
              </a:rPr>
              <a:t>char</a:t>
            </a:r>
            <a:r>
              <a:rPr lang="en-US" sz="2800" dirty="0">
                <a:latin typeface="Times New Roman" pitchFamily="18" charset="0"/>
                <a:cs typeface="Times New Roman" pitchFamily="18" charset="0"/>
              </a:rPr>
              <a:t>[])  </a:t>
            </a:r>
          </a:p>
          <a:p>
            <a:pPr>
              <a:buNone/>
            </a:pPr>
            <a:endParaRPr lang="en-US" sz="2800" dirty="0">
              <a:latin typeface="Times New Roman" pitchFamily="18" charset="0"/>
              <a:cs typeface="Times New Roman" pitchFamily="18" charset="0"/>
            </a:endParaRPr>
          </a:p>
          <a:p>
            <a:pPr>
              <a:buNone/>
            </a:pPr>
            <a:r>
              <a:rPr lang="en-US" sz="2800" dirty="0">
                <a:latin typeface="Times New Roman" pitchFamily="18" charset="0"/>
                <a:cs typeface="Times New Roman" pitchFamily="18" charset="0"/>
              </a:rPr>
              <a:t>Let's see an example to read a string using gets() and print it on the console using puts().</a:t>
            </a:r>
          </a:p>
          <a:p>
            <a:pPr>
              <a:buNone/>
            </a:pPr>
            <a:endParaRPr lang="en-US" sz="2800" dirty="0">
              <a:latin typeface="Times New Roman" pitchFamily="18" charset="0"/>
              <a:cs typeface="Times New Roman" pitchFamily="18" charset="0"/>
            </a:endParaRPr>
          </a:p>
          <a:p>
            <a:pPr>
              <a:buNone/>
            </a:pPr>
            <a:r>
              <a:rPr lang="en-US" sz="2800" dirty="0">
                <a:latin typeface="Times New Roman" pitchFamily="18" charset="0"/>
                <a:cs typeface="Times New Roman" pitchFamily="18" charset="0"/>
              </a:rPr>
              <a:t>#include&lt;</a:t>
            </a:r>
            <a:r>
              <a:rPr lang="en-US" sz="2800" dirty="0" err="1">
                <a:latin typeface="Times New Roman" pitchFamily="18" charset="0"/>
                <a:cs typeface="Times New Roman" pitchFamily="18" charset="0"/>
              </a:rPr>
              <a:t>stdio.h</a:t>
            </a:r>
            <a:r>
              <a:rPr lang="en-US" sz="2800" dirty="0">
                <a:latin typeface="Times New Roman" pitchFamily="18" charset="0"/>
                <a:cs typeface="Times New Roman" pitchFamily="18" charset="0"/>
              </a:rPr>
              <a:t>&gt;  </a:t>
            </a:r>
          </a:p>
          <a:p>
            <a:pPr>
              <a:buNone/>
            </a:pPr>
            <a:r>
              <a:rPr lang="en-US" sz="2800" dirty="0">
                <a:latin typeface="Times New Roman" pitchFamily="18" charset="0"/>
                <a:cs typeface="Times New Roman" pitchFamily="18" charset="0"/>
              </a:rPr>
              <a:t>#include &lt;</a:t>
            </a:r>
            <a:r>
              <a:rPr lang="en-US" sz="2800" dirty="0" err="1">
                <a:latin typeface="Times New Roman" pitchFamily="18" charset="0"/>
                <a:cs typeface="Times New Roman" pitchFamily="18" charset="0"/>
              </a:rPr>
              <a:t>string.h</a:t>
            </a:r>
            <a:r>
              <a:rPr lang="en-US" sz="2800" dirty="0">
                <a:latin typeface="Times New Roman" pitchFamily="18" charset="0"/>
                <a:cs typeface="Times New Roman" pitchFamily="18" charset="0"/>
              </a:rPr>
              <a:t>&gt;    </a:t>
            </a:r>
          </a:p>
          <a:p>
            <a:pPr>
              <a:buNone/>
            </a:pPr>
            <a:r>
              <a:rPr lang="en-US" sz="2800" b="1" dirty="0" err="1">
                <a:latin typeface="Times New Roman" pitchFamily="18" charset="0"/>
                <a:cs typeface="Times New Roman" pitchFamily="18" charset="0"/>
              </a:rPr>
              <a:t>int</a:t>
            </a:r>
            <a:r>
              <a:rPr lang="en-US" sz="2800" dirty="0">
                <a:latin typeface="Times New Roman" pitchFamily="18" charset="0"/>
                <a:cs typeface="Times New Roman" pitchFamily="18" charset="0"/>
              </a:rPr>
              <a:t> main()</a:t>
            </a:r>
          </a:p>
          <a:p>
            <a:pPr>
              <a:buNone/>
            </a:pPr>
            <a:r>
              <a:rPr lang="en-US" sz="2800" dirty="0">
                <a:latin typeface="Times New Roman" pitchFamily="18" charset="0"/>
                <a:cs typeface="Times New Roman" pitchFamily="18" charset="0"/>
              </a:rPr>
              <a:t>{    </a:t>
            </a:r>
          </a:p>
          <a:p>
            <a:pPr>
              <a:buNone/>
            </a:pPr>
            <a:r>
              <a:rPr lang="en-US" sz="2800" b="1" dirty="0">
                <a:latin typeface="Times New Roman" pitchFamily="18" charset="0"/>
                <a:cs typeface="Times New Roman" pitchFamily="18" charset="0"/>
              </a:rPr>
              <a:t>char</a:t>
            </a:r>
            <a:r>
              <a:rPr lang="en-US" sz="2800" dirty="0">
                <a:latin typeface="Times New Roman" pitchFamily="18" charset="0"/>
                <a:cs typeface="Times New Roman" pitchFamily="18" charset="0"/>
              </a:rPr>
              <a:t> name[50];    </a:t>
            </a:r>
          </a:p>
          <a:p>
            <a:pPr>
              <a:buNone/>
            </a:pPr>
            <a:r>
              <a:rPr lang="en-US" sz="2800" dirty="0" err="1">
                <a:latin typeface="Times New Roman" pitchFamily="18" charset="0"/>
                <a:cs typeface="Times New Roman" pitchFamily="18" charset="0"/>
              </a:rPr>
              <a:t>printf</a:t>
            </a:r>
            <a:r>
              <a:rPr lang="en-US" sz="2800" dirty="0">
                <a:latin typeface="Times New Roman" pitchFamily="18" charset="0"/>
                <a:cs typeface="Times New Roman" pitchFamily="18" charset="0"/>
              </a:rPr>
              <a:t>("Enter your name: ");    </a:t>
            </a:r>
          </a:p>
          <a:p>
            <a:pPr>
              <a:buNone/>
            </a:pPr>
            <a:r>
              <a:rPr lang="en-US" sz="2800" dirty="0">
                <a:latin typeface="Times New Roman" pitchFamily="18" charset="0"/>
                <a:cs typeface="Times New Roman" pitchFamily="18" charset="0"/>
              </a:rPr>
              <a:t>gets(name);                                  //reads string from user    </a:t>
            </a:r>
          </a:p>
          <a:p>
            <a:pPr>
              <a:buNone/>
            </a:pPr>
            <a:r>
              <a:rPr lang="en-US" sz="2800" dirty="0" err="1">
                <a:latin typeface="Times New Roman" pitchFamily="18" charset="0"/>
                <a:cs typeface="Times New Roman" pitchFamily="18" charset="0"/>
              </a:rPr>
              <a:t>printf</a:t>
            </a:r>
            <a:r>
              <a:rPr lang="en-US" sz="2800" dirty="0">
                <a:latin typeface="Times New Roman" pitchFamily="18" charset="0"/>
                <a:cs typeface="Times New Roman" pitchFamily="18" charset="0"/>
              </a:rPr>
              <a:t>("Your name is: ");    </a:t>
            </a:r>
          </a:p>
          <a:p>
            <a:pPr>
              <a:buNone/>
            </a:pPr>
            <a:r>
              <a:rPr lang="en-US" sz="2800" dirty="0">
                <a:latin typeface="Times New Roman" pitchFamily="18" charset="0"/>
                <a:cs typeface="Times New Roman" pitchFamily="18" charset="0"/>
              </a:rPr>
              <a:t>puts(name);                                  //displays string    </a:t>
            </a:r>
          </a:p>
          <a:p>
            <a:pPr>
              <a:buNone/>
            </a:pPr>
            <a:r>
              <a:rPr lang="en-US" sz="2800" b="1" dirty="0">
                <a:latin typeface="Times New Roman" pitchFamily="18" charset="0"/>
                <a:cs typeface="Times New Roman" pitchFamily="18" charset="0"/>
              </a:rPr>
              <a:t>return</a:t>
            </a:r>
            <a:r>
              <a:rPr lang="en-US" sz="2800" dirty="0">
                <a:latin typeface="Times New Roman" pitchFamily="18" charset="0"/>
                <a:cs typeface="Times New Roman" pitchFamily="18" charset="0"/>
              </a:rPr>
              <a:t> 0;    </a:t>
            </a:r>
          </a:p>
          <a:p>
            <a:pPr>
              <a:buNone/>
            </a:pPr>
            <a:r>
              <a:rPr lang="en-US" sz="2800" dirty="0">
                <a:latin typeface="Times New Roman" pitchFamily="18" charset="0"/>
                <a:cs typeface="Times New Roman" pitchFamily="18" charset="0"/>
              </a:rPr>
              <a:t>}            </a:t>
            </a:r>
          </a:p>
          <a:p>
            <a:pPr>
              <a:buNone/>
            </a:pPr>
            <a:endParaRPr lang="en-US" sz="2800" dirty="0">
              <a:latin typeface="Times New Roman" pitchFamily="18" charset="0"/>
              <a:cs typeface="Times New Roman" pitchFamily="18" charset="0"/>
            </a:endParaRPr>
          </a:p>
          <a:p>
            <a:pPr>
              <a:buNone/>
            </a:pPr>
            <a:endParaRPr lang="en-US" sz="7200" dirty="0">
              <a:latin typeface="Times New Roman" pitchFamily="18" charset="0"/>
              <a:cs typeface="Times New Roman" pitchFamily="18" charset="0"/>
            </a:endParaRP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Output:</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Enter your name: hi its </a:t>
            </a:r>
            <a:r>
              <a:rPr lang="en-US" sz="2400" dirty="0" err="1">
                <a:latin typeface="Times New Roman" pitchFamily="18" charset="0"/>
                <a:cs typeface="Times New Roman" pitchFamily="18" charset="0"/>
              </a:rPr>
              <a:t>pooja</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Your name is: hi its </a:t>
            </a:r>
            <a:r>
              <a:rPr lang="en-US" sz="2400" dirty="0" err="1">
                <a:latin typeface="Times New Roman" pitchFamily="18" charset="0"/>
                <a:cs typeface="Times New Roman" pitchFamily="18" charset="0"/>
              </a:rPr>
              <a:t>poojs</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Example:</a:t>
            </a:r>
          </a:p>
        </p:txBody>
      </p:sp>
      <p:sp>
        <p:nvSpPr>
          <p:cNvPr id="3" name="Content Placeholder 2"/>
          <p:cNvSpPr>
            <a:spLocks noGrp="1"/>
          </p:cNvSpPr>
          <p:nvPr>
            <p:ph idx="1"/>
          </p:nvPr>
        </p:nvSpPr>
        <p:spPr/>
        <p:txBody>
          <a:bodyPr>
            <a:normAutofit fontScale="70000" lnSpcReduction="20000"/>
          </a:bodyPr>
          <a:lstStyle/>
          <a:p>
            <a:pPr>
              <a:buNone/>
            </a:pPr>
            <a:r>
              <a:rPr lang="en-US" sz="3300" dirty="0">
                <a:latin typeface="Times New Roman" pitchFamily="18" charset="0"/>
                <a:cs typeface="Times New Roman" pitchFamily="18" charset="0"/>
              </a:rPr>
              <a:t>#include&lt;</a:t>
            </a:r>
            <a:r>
              <a:rPr lang="en-US" sz="3300" dirty="0" err="1">
                <a:latin typeface="Times New Roman" pitchFamily="18" charset="0"/>
                <a:cs typeface="Times New Roman" pitchFamily="18" charset="0"/>
              </a:rPr>
              <a:t>stdio.h</a:t>
            </a:r>
            <a:r>
              <a:rPr lang="en-US" sz="3300" dirty="0">
                <a:latin typeface="Times New Roman" pitchFamily="18" charset="0"/>
                <a:cs typeface="Times New Roman" pitchFamily="18" charset="0"/>
              </a:rPr>
              <a:t>&gt;  </a:t>
            </a:r>
          </a:p>
          <a:p>
            <a:pPr>
              <a:buNone/>
            </a:pPr>
            <a:r>
              <a:rPr lang="en-US" sz="3300" dirty="0">
                <a:latin typeface="Times New Roman" pitchFamily="18" charset="0"/>
                <a:cs typeface="Times New Roman" pitchFamily="18" charset="0"/>
              </a:rPr>
              <a:t>#include &lt;</a:t>
            </a:r>
            <a:r>
              <a:rPr lang="en-US" sz="3300" dirty="0" err="1">
                <a:latin typeface="Times New Roman" pitchFamily="18" charset="0"/>
                <a:cs typeface="Times New Roman" pitchFamily="18" charset="0"/>
              </a:rPr>
              <a:t>string.h</a:t>
            </a:r>
            <a:r>
              <a:rPr lang="en-US" sz="3300" dirty="0">
                <a:latin typeface="Times New Roman" pitchFamily="18" charset="0"/>
                <a:cs typeface="Times New Roman" pitchFamily="18" charset="0"/>
              </a:rPr>
              <a:t>&gt;    </a:t>
            </a:r>
          </a:p>
          <a:p>
            <a:pPr>
              <a:buNone/>
            </a:pPr>
            <a:r>
              <a:rPr lang="en-US" sz="3300" b="1" dirty="0" err="1">
                <a:latin typeface="Times New Roman" pitchFamily="18" charset="0"/>
                <a:cs typeface="Times New Roman" pitchFamily="18" charset="0"/>
              </a:rPr>
              <a:t>int</a:t>
            </a:r>
            <a:r>
              <a:rPr lang="en-US" sz="3300" dirty="0">
                <a:latin typeface="Times New Roman" pitchFamily="18" charset="0"/>
                <a:cs typeface="Times New Roman" pitchFamily="18" charset="0"/>
              </a:rPr>
              <a:t> main()</a:t>
            </a:r>
          </a:p>
          <a:p>
            <a:pPr>
              <a:buNone/>
            </a:pPr>
            <a:r>
              <a:rPr lang="en-US" sz="3300" dirty="0">
                <a:latin typeface="Times New Roman" pitchFamily="18" charset="0"/>
                <a:cs typeface="Times New Roman" pitchFamily="18" charset="0"/>
              </a:rPr>
              <a:t>{    </a:t>
            </a:r>
          </a:p>
          <a:p>
            <a:pPr>
              <a:buNone/>
            </a:pPr>
            <a:r>
              <a:rPr lang="en-US" sz="3300" b="1" dirty="0">
                <a:latin typeface="Times New Roman" pitchFamily="18" charset="0"/>
                <a:cs typeface="Times New Roman" pitchFamily="18" charset="0"/>
              </a:rPr>
              <a:t>        char</a:t>
            </a:r>
            <a:r>
              <a:rPr lang="en-US" sz="3300" dirty="0">
                <a:latin typeface="Times New Roman" pitchFamily="18" charset="0"/>
                <a:cs typeface="Times New Roman" pitchFamily="18" charset="0"/>
              </a:rPr>
              <a:t> name[50];    </a:t>
            </a:r>
          </a:p>
          <a:p>
            <a:pPr>
              <a:buNone/>
            </a:pPr>
            <a:r>
              <a:rPr lang="en-US" sz="3300" dirty="0">
                <a:latin typeface="Times New Roman" pitchFamily="18" charset="0"/>
                <a:cs typeface="Times New Roman" pitchFamily="18" charset="0"/>
              </a:rPr>
              <a:t>        </a:t>
            </a:r>
            <a:r>
              <a:rPr lang="en-US" sz="3300" dirty="0" err="1">
                <a:latin typeface="Times New Roman" pitchFamily="18" charset="0"/>
                <a:cs typeface="Times New Roman" pitchFamily="18" charset="0"/>
              </a:rPr>
              <a:t>printf</a:t>
            </a:r>
            <a:r>
              <a:rPr lang="en-US" sz="3300" dirty="0">
                <a:latin typeface="Times New Roman" pitchFamily="18" charset="0"/>
                <a:cs typeface="Times New Roman" pitchFamily="18" charset="0"/>
              </a:rPr>
              <a:t>("Enter your name: ");    </a:t>
            </a:r>
          </a:p>
          <a:p>
            <a:pPr>
              <a:buNone/>
            </a:pPr>
            <a:r>
              <a:rPr lang="en-US" sz="3300" dirty="0">
                <a:latin typeface="Times New Roman" pitchFamily="18" charset="0"/>
                <a:cs typeface="Times New Roman" pitchFamily="18" charset="0"/>
              </a:rPr>
              <a:t>        gets(name);                                          //reads string from user    </a:t>
            </a:r>
          </a:p>
          <a:p>
            <a:pPr>
              <a:buNone/>
            </a:pPr>
            <a:r>
              <a:rPr lang="en-US" sz="3300" dirty="0">
                <a:latin typeface="Times New Roman" pitchFamily="18" charset="0"/>
                <a:cs typeface="Times New Roman" pitchFamily="18" charset="0"/>
              </a:rPr>
              <a:t>        </a:t>
            </a:r>
            <a:r>
              <a:rPr lang="en-US" sz="3300" dirty="0" err="1">
                <a:latin typeface="Times New Roman" pitchFamily="18" charset="0"/>
                <a:cs typeface="Times New Roman" pitchFamily="18" charset="0"/>
              </a:rPr>
              <a:t>printf</a:t>
            </a:r>
            <a:r>
              <a:rPr lang="en-US" sz="3300" dirty="0">
                <a:latin typeface="Times New Roman" pitchFamily="18" charset="0"/>
                <a:cs typeface="Times New Roman" pitchFamily="18" charset="0"/>
              </a:rPr>
              <a:t>("Your name is: ");    </a:t>
            </a:r>
          </a:p>
          <a:p>
            <a:pPr>
              <a:buNone/>
            </a:pPr>
            <a:r>
              <a:rPr lang="en-US" sz="3300" dirty="0">
                <a:latin typeface="Times New Roman" pitchFamily="18" charset="0"/>
                <a:cs typeface="Times New Roman" pitchFamily="18" charset="0"/>
              </a:rPr>
              <a:t>        puts(name);                                          //displays string    </a:t>
            </a:r>
          </a:p>
          <a:p>
            <a:pPr>
              <a:buNone/>
            </a:pPr>
            <a:r>
              <a:rPr lang="en-US" sz="3300" b="1" dirty="0">
                <a:latin typeface="Times New Roman" pitchFamily="18" charset="0"/>
                <a:cs typeface="Times New Roman" pitchFamily="18" charset="0"/>
              </a:rPr>
              <a:t>        return</a:t>
            </a:r>
            <a:r>
              <a:rPr lang="en-US" sz="3300" dirty="0">
                <a:latin typeface="Times New Roman" pitchFamily="18" charset="0"/>
                <a:cs typeface="Times New Roman" pitchFamily="18" charset="0"/>
              </a:rPr>
              <a:t> 0;     </a:t>
            </a:r>
          </a:p>
          <a:p>
            <a:pPr>
              <a:buNone/>
            </a:pPr>
            <a:r>
              <a:rPr lang="en-US" sz="3300" dirty="0">
                <a:latin typeface="Times New Roman" pitchFamily="18" charset="0"/>
                <a:cs typeface="Times New Roman" pitchFamily="18" charset="0"/>
              </a:rPr>
              <a:t>}    </a:t>
            </a:r>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304800" y="1524000"/>
            <a:ext cx="8686800" cy="4800600"/>
          </a:xfrm>
          <a:prstGeom prst="rect">
            <a:avLst/>
          </a:prstGeom>
          <a:noFill/>
          <a:ln w="9525">
            <a:noFill/>
            <a:miter lim="800000"/>
            <a:headEnd/>
            <a:tailEnd/>
          </a:ln>
          <a:effec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685800" y="609600"/>
            <a:ext cx="8229600" cy="5638800"/>
          </a:xfrm>
          <a:prstGeom prst="rect">
            <a:avLst/>
          </a:prstGeom>
          <a:noFill/>
          <a:ln w="9525">
            <a:noFill/>
            <a:miter lim="800000"/>
            <a:headEnd/>
            <a:tailEnd/>
          </a:ln>
          <a:effec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228600" y="533400"/>
            <a:ext cx="8686800" cy="5943600"/>
          </a:xfrm>
          <a:prstGeom prst="rect">
            <a:avLst/>
          </a:prstGeom>
          <a:noFill/>
          <a:ln w="9525">
            <a:noFill/>
            <a:miter lim="800000"/>
            <a:headEnd/>
            <a:tailEnd/>
          </a:ln>
          <a:effec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sz="3600" dirty="0">
                <a:solidFill>
                  <a:srgbClr val="FF0000"/>
                </a:solidFill>
                <a:latin typeface="Times New Roman" pitchFamily="18" charset="0"/>
                <a:cs typeface="Times New Roman" pitchFamily="18" charset="0"/>
              </a:rPr>
              <a:t>Operator Precedence and </a:t>
            </a:r>
            <a:r>
              <a:rPr lang="en-US" sz="3600" dirty="0" err="1">
                <a:solidFill>
                  <a:srgbClr val="FF0000"/>
                </a:solidFill>
                <a:latin typeface="Times New Roman" pitchFamily="18" charset="0"/>
                <a:cs typeface="Times New Roman" pitchFamily="18" charset="0"/>
              </a:rPr>
              <a:t>Associativity</a:t>
            </a:r>
            <a:r>
              <a:rPr lang="en-US" sz="3600" dirty="0">
                <a:solidFill>
                  <a:srgbClr val="FF0000"/>
                </a:solidFill>
                <a:latin typeface="Times New Roman" pitchFamily="18" charset="0"/>
                <a:cs typeface="Times New Roman" pitchFamily="18" charset="0"/>
              </a:rPr>
              <a:t> in C</a:t>
            </a:r>
            <a:br>
              <a:rPr lang="en-US" sz="3600" dirty="0">
                <a:solidFill>
                  <a:srgbClr val="FF0000"/>
                </a:solidFill>
                <a:latin typeface="Times New Roman" pitchFamily="18" charset="0"/>
                <a:cs typeface="Times New Roman" pitchFamily="18" charset="0"/>
              </a:rPr>
            </a:b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25000" lnSpcReduction="20000"/>
          </a:bodyPr>
          <a:lstStyle/>
          <a:p>
            <a:r>
              <a:rPr lang="en-US" sz="8000" b="1" dirty="0">
                <a:latin typeface="Times New Roman" pitchFamily="18" charset="0"/>
                <a:cs typeface="Times New Roman" pitchFamily="18" charset="0"/>
              </a:rPr>
              <a:t>Operator precedence</a:t>
            </a:r>
            <a:r>
              <a:rPr lang="en-US" sz="2800" b="1" dirty="0">
                <a:latin typeface="Times New Roman" pitchFamily="18" charset="0"/>
                <a:cs typeface="Times New Roman" pitchFamily="18" charset="0"/>
              </a:rPr>
              <a:t>:</a:t>
            </a:r>
            <a:r>
              <a:rPr lang="en-US" sz="2800" dirty="0">
                <a:latin typeface="Times New Roman" pitchFamily="18" charset="0"/>
                <a:cs typeface="Times New Roman" pitchFamily="18" charset="0"/>
              </a:rPr>
              <a:t> </a:t>
            </a:r>
            <a:r>
              <a:rPr lang="en-US" sz="7400" dirty="0">
                <a:latin typeface="Times New Roman" pitchFamily="18" charset="0"/>
                <a:cs typeface="Times New Roman" pitchFamily="18" charset="0"/>
              </a:rPr>
              <a:t>It dictates the order of evaluation of operators in an expression.</a:t>
            </a:r>
          </a:p>
          <a:p>
            <a:endParaRPr lang="en-US" sz="7400" b="1" dirty="0">
              <a:latin typeface="Times New Roman" pitchFamily="18" charset="0"/>
              <a:cs typeface="Times New Roman" pitchFamily="18" charset="0"/>
            </a:endParaRPr>
          </a:p>
          <a:p>
            <a:r>
              <a:rPr lang="en-US" sz="7400" b="1" dirty="0" err="1">
                <a:latin typeface="Times New Roman" pitchFamily="18" charset="0"/>
                <a:cs typeface="Times New Roman" pitchFamily="18" charset="0"/>
              </a:rPr>
              <a:t>Associativity</a:t>
            </a:r>
            <a:r>
              <a:rPr lang="en-US" sz="7400" b="1" dirty="0">
                <a:latin typeface="Times New Roman" pitchFamily="18" charset="0"/>
                <a:cs typeface="Times New Roman" pitchFamily="18" charset="0"/>
              </a:rPr>
              <a:t>:</a:t>
            </a:r>
            <a:r>
              <a:rPr lang="en-US" sz="7400" dirty="0">
                <a:latin typeface="Times New Roman" pitchFamily="18" charset="0"/>
                <a:cs typeface="Times New Roman" pitchFamily="18" charset="0"/>
              </a:rPr>
              <a:t> It defines the order in which operators of the same precedence are evaluated in an expression. </a:t>
            </a:r>
            <a:r>
              <a:rPr lang="en-US" sz="7400" dirty="0" err="1">
                <a:latin typeface="Times New Roman" pitchFamily="18" charset="0"/>
                <a:cs typeface="Times New Roman" pitchFamily="18" charset="0"/>
              </a:rPr>
              <a:t>Associativity</a:t>
            </a:r>
            <a:r>
              <a:rPr lang="en-US" sz="7400" dirty="0">
                <a:latin typeface="Times New Roman" pitchFamily="18" charset="0"/>
                <a:cs typeface="Times New Roman" pitchFamily="18" charset="0"/>
              </a:rPr>
              <a:t> can be either from left to right or right to left.</a:t>
            </a:r>
          </a:p>
          <a:p>
            <a:pPr>
              <a:buNone/>
            </a:pPr>
            <a:endParaRPr lang="en-US" sz="7400" dirty="0">
              <a:latin typeface="Times New Roman" pitchFamily="18" charset="0"/>
              <a:cs typeface="Times New Roman" pitchFamily="18" charset="0"/>
            </a:endParaRPr>
          </a:p>
          <a:p>
            <a:pPr>
              <a:buFont typeface="Wingdings" pitchFamily="2" charset="2"/>
              <a:buChar char="Ø"/>
            </a:pPr>
            <a:r>
              <a:rPr lang="en-US" sz="7400" dirty="0">
                <a:latin typeface="Times New Roman" pitchFamily="18" charset="0"/>
                <a:cs typeface="Times New Roman" pitchFamily="18" charset="0"/>
              </a:rPr>
              <a:t>Operator precedence determines the grouping of terms in an</a:t>
            </a:r>
          </a:p>
          <a:p>
            <a:pPr>
              <a:buNone/>
            </a:pPr>
            <a:r>
              <a:rPr lang="en-US" sz="7400" dirty="0">
                <a:latin typeface="Times New Roman" pitchFamily="18" charset="0"/>
                <a:cs typeface="Times New Roman" pitchFamily="18" charset="0"/>
              </a:rPr>
              <a:t>         expression and decides how an expression is evaluated. </a:t>
            </a:r>
          </a:p>
          <a:p>
            <a:pPr>
              <a:buNone/>
            </a:pPr>
            <a:endParaRPr lang="en-US" sz="7400" dirty="0">
              <a:latin typeface="Times New Roman" pitchFamily="18" charset="0"/>
              <a:cs typeface="Times New Roman" pitchFamily="18" charset="0"/>
            </a:endParaRPr>
          </a:p>
          <a:p>
            <a:pPr>
              <a:buFont typeface="Wingdings" pitchFamily="2" charset="2"/>
              <a:buChar char="Ø"/>
            </a:pPr>
            <a:r>
              <a:rPr lang="en-US" sz="7400" dirty="0">
                <a:latin typeface="Times New Roman" pitchFamily="18" charset="0"/>
                <a:cs typeface="Times New Roman" pitchFamily="18" charset="0"/>
              </a:rPr>
              <a:t>Certain operators have higher precedence than others; for example, the multiplication operator has a higher precedence than the addition operator.</a:t>
            </a:r>
          </a:p>
          <a:p>
            <a:pPr>
              <a:buFont typeface="Wingdings" pitchFamily="2" charset="2"/>
              <a:buChar char="Ø"/>
            </a:pPr>
            <a:endParaRPr lang="en-US" sz="7400" dirty="0">
              <a:latin typeface="Times New Roman" pitchFamily="18" charset="0"/>
              <a:cs typeface="Times New Roman" pitchFamily="18" charset="0"/>
            </a:endParaRPr>
          </a:p>
          <a:p>
            <a:pPr>
              <a:buNone/>
            </a:pPr>
            <a:r>
              <a:rPr lang="en-US" sz="7400" dirty="0">
                <a:latin typeface="Times New Roman" pitchFamily="18" charset="0"/>
                <a:cs typeface="Times New Roman" pitchFamily="18" charset="0"/>
              </a:rPr>
              <a:t>For example: x = 7 + 3 * 2; here, x is assigned 13, operator * has a higher precedence than +, so it first gets multiplied with 3*2 and then adds into 7.</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1" name="Picture 3"/>
          <p:cNvPicPr>
            <a:picLocks noGrp="1" noChangeAspect="1" noChangeArrowheads="1"/>
          </p:cNvPicPr>
          <p:nvPr>
            <p:ph idx="1"/>
          </p:nvPr>
        </p:nvPicPr>
        <p:blipFill>
          <a:blip r:embed="rId2"/>
          <a:srcRect/>
          <a:stretch>
            <a:fillRect/>
          </a:stretch>
        </p:blipFill>
        <p:spPr bwMode="auto">
          <a:xfrm>
            <a:off x="381000" y="1447800"/>
            <a:ext cx="8382000" cy="5029200"/>
          </a:xfrm>
          <a:prstGeom prst="rect">
            <a:avLst/>
          </a:prstGeom>
          <a:noFill/>
          <a:ln w="9525">
            <a:noFill/>
            <a:miter lim="800000"/>
            <a:headEnd/>
            <a:tailEnd/>
          </a:ln>
          <a:effec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533400" y="304800"/>
            <a:ext cx="8077200" cy="6172199"/>
          </a:xfrm>
          <a:prstGeom prst="rect">
            <a:avLst/>
          </a:prstGeom>
          <a:noFill/>
          <a:ln w="9525">
            <a:noFill/>
            <a:miter lim="800000"/>
            <a:headEnd/>
            <a:tailEnd/>
          </a:ln>
          <a:effec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FF0000"/>
                </a:solidFill>
                <a:latin typeface="Times New Roman" pitchFamily="18" charset="0"/>
                <a:cs typeface="Times New Roman" pitchFamily="18" charset="0"/>
              </a:rPr>
              <a:t>Operators in the top have higher precedence and it decreases as we move towards the bottom.</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From the precedence table, we can conclude that the * operator is above the + operator, so the * operator has higher precedence than the + operator, </a:t>
            </a:r>
          </a:p>
          <a:p>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24 + 5 * 4</a:t>
            </a:r>
          </a:p>
          <a:p>
            <a:pPr>
              <a:buNone/>
            </a:pPr>
            <a:endParaRPr lang="en-US" sz="2400" dirty="0"/>
          </a:p>
          <a:p>
            <a:pPr>
              <a:buNone/>
            </a:pPr>
            <a:endParaRPr lang="en-US" sz="2400" dirty="0"/>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pic>
        <p:nvPicPr>
          <p:cNvPr id="5" name="Picture 2"/>
          <p:cNvPicPr>
            <a:picLocks noChangeAspect="1" noChangeArrowheads="1"/>
          </p:cNvPicPr>
          <p:nvPr/>
        </p:nvPicPr>
        <p:blipFill>
          <a:blip r:embed="rId2"/>
          <a:srcRect/>
          <a:stretch>
            <a:fillRect/>
          </a:stretch>
        </p:blipFill>
        <p:spPr bwMode="auto">
          <a:xfrm>
            <a:off x="3200400" y="3505200"/>
            <a:ext cx="4648200" cy="2542381"/>
          </a:xfrm>
          <a:prstGeom prst="rect">
            <a:avLst/>
          </a:prstGeom>
          <a:noFill/>
          <a:ln w="9525">
            <a:noFill/>
            <a:miter lim="800000"/>
            <a:headEnd/>
            <a:tailEnd/>
          </a:ln>
          <a:effec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52400"/>
            <a:ext cx="8229600" cy="6477000"/>
          </a:xfrm>
        </p:spPr>
        <p:txBody>
          <a:bodyPr/>
          <a:lstStyle/>
          <a:p>
            <a:r>
              <a:rPr lang="en-US" dirty="0"/>
              <a:t>34 + 12/4 – 45</a:t>
            </a:r>
          </a:p>
          <a:p>
            <a:endParaRPr lang="en-US" dirty="0"/>
          </a:p>
          <a:p>
            <a:endParaRPr lang="en-US" dirty="0"/>
          </a:p>
        </p:txBody>
      </p:sp>
      <p:pic>
        <p:nvPicPr>
          <p:cNvPr id="10" name="Picture 3"/>
          <p:cNvPicPr>
            <a:picLocks noChangeAspect="1" noChangeArrowheads="1"/>
          </p:cNvPicPr>
          <p:nvPr/>
        </p:nvPicPr>
        <p:blipFill>
          <a:blip r:embed="rId2"/>
          <a:srcRect/>
          <a:stretch>
            <a:fillRect/>
          </a:stretch>
        </p:blipFill>
        <p:spPr bwMode="auto">
          <a:xfrm>
            <a:off x="0" y="1371600"/>
            <a:ext cx="8763000" cy="4191000"/>
          </a:xfrm>
          <a:prstGeom prst="rect">
            <a:avLst/>
          </a:prstGeom>
          <a:noFill/>
          <a:ln w="9525">
            <a:noFill/>
            <a:miter lim="800000"/>
            <a:headEnd/>
            <a:tailEnd/>
          </a:ln>
          <a:effec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buFont typeface="Arial" pitchFamily="34" charset="0"/>
              <a:buChar char="•"/>
            </a:pPr>
            <a:r>
              <a:rPr lang="en-US" sz="2800" b="1" dirty="0">
                <a:latin typeface="Times New Roman" pitchFamily="18" charset="0"/>
                <a:cs typeface="Times New Roman" pitchFamily="18" charset="0"/>
              </a:rPr>
              <a:t>12 + 3 - 4 / 2 &lt; 3 + 1</a:t>
            </a:r>
          </a:p>
        </p:txBody>
      </p:sp>
      <p:pic>
        <p:nvPicPr>
          <p:cNvPr id="7172" name="Picture 4"/>
          <p:cNvPicPr>
            <a:picLocks noGrp="1" noChangeAspect="1" noChangeArrowheads="1"/>
          </p:cNvPicPr>
          <p:nvPr>
            <p:ph idx="1"/>
          </p:nvPr>
        </p:nvPicPr>
        <p:blipFill>
          <a:blip r:embed="rId2"/>
          <a:srcRect/>
          <a:stretch>
            <a:fillRect/>
          </a:stretch>
        </p:blipFill>
        <p:spPr bwMode="auto">
          <a:xfrm>
            <a:off x="1908622" y="1600200"/>
            <a:ext cx="5326756" cy="4525963"/>
          </a:xfrm>
          <a:prstGeom prst="rect">
            <a:avLst/>
          </a:prstGeom>
          <a:noFill/>
          <a:ln w="9525">
            <a:noFill/>
            <a:miter lim="800000"/>
            <a:headEnd/>
            <a:tailEnd/>
          </a:ln>
          <a:effec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2098675" y="2831306"/>
            <a:ext cx="4946650" cy="2063750"/>
          </a:xfrm>
          <a:prstGeom prst="rect">
            <a:avLst/>
          </a:prstGeom>
          <a:noFill/>
          <a:ln w="9525">
            <a:noFill/>
            <a:miter lim="800000"/>
            <a:headEnd/>
            <a:tailEnd/>
          </a:ln>
          <a:effec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#include &lt;</a:t>
            </a:r>
            <a:r>
              <a:rPr lang="en-US" sz="2400" dirty="0" err="1">
                <a:latin typeface="Times New Roman" pitchFamily="18" charset="0"/>
                <a:cs typeface="Times New Roman" pitchFamily="18" charset="0"/>
              </a:rPr>
              <a:t>stdio.h</a:t>
            </a:r>
            <a:r>
              <a:rPr lang="en-US" sz="2400" dirty="0">
                <a:latin typeface="Times New Roman" pitchFamily="18" charset="0"/>
                <a:cs typeface="Times New Roman" pitchFamily="18" charset="0"/>
              </a:rPr>
              <a:t>&gt; </a:t>
            </a:r>
          </a:p>
          <a:p>
            <a:pPr>
              <a:buNone/>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main () </a:t>
            </a:r>
          </a:p>
          <a:p>
            <a:pPr>
              <a:buNone/>
            </a:pPr>
            <a:r>
              <a:rPr lang="en-US" sz="2400" dirty="0">
                <a:latin typeface="Times New Roman" pitchFamily="18" charset="0"/>
                <a:cs typeface="Times New Roman" pitchFamily="18" charset="0"/>
              </a:rPr>
              <a:t>{ </a:t>
            </a:r>
          </a:p>
          <a:p>
            <a:pPr>
              <a:buNone/>
            </a:pP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x, y; </a:t>
            </a:r>
          </a:p>
          <a:p>
            <a:pPr>
              <a:buNone/>
            </a:pPr>
            <a:r>
              <a:rPr lang="en-US" sz="2400" dirty="0">
                <a:latin typeface="Times New Roman" pitchFamily="18" charset="0"/>
                <a:cs typeface="Times New Roman" pitchFamily="18" charset="0"/>
              </a:rPr>
              <a:t>x = 10*20+110/5; </a:t>
            </a:r>
          </a:p>
          <a:p>
            <a:pPr>
              <a:buNone/>
            </a:pP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 ("The Value of x = %d", x); </a:t>
            </a:r>
          </a:p>
          <a:p>
            <a:pPr>
              <a:buNone/>
            </a:pPr>
            <a:r>
              <a:rPr lang="en-US" sz="2400" dirty="0">
                <a:latin typeface="Times New Roman" pitchFamily="18" charset="0"/>
                <a:cs typeface="Times New Roman" pitchFamily="18" charset="0"/>
              </a:rPr>
              <a:t>return 0;</a:t>
            </a:r>
          </a:p>
          <a:p>
            <a:pPr>
              <a:buNone/>
            </a:pPr>
            <a:r>
              <a:rPr lang="en-US" sz="2400" dirty="0">
                <a:latin typeface="Times New Roman" pitchFamily="18" charset="0"/>
                <a:cs typeface="Times New Roman" pitchFamily="18" charset="0"/>
              </a:rPr>
              <a:t> }</a:t>
            </a:r>
          </a:p>
          <a:p>
            <a:pPr>
              <a:buNone/>
            </a:pPr>
            <a:endParaRPr lang="en-US" dirty="0"/>
          </a:p>
          <a:p>
            <a:pPr>
              <a:buNone/>
            </a:pP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r>
              <a:rPr lang="en-US" b="1" dirty="0"/>
              <a:t/>
            </a:r>
            <a:br>
              <a:rPr lang="en-US" b="1" dirty="0"/>
            </a:br>
            <a:r>
              <a:rPr lang="en-US" b="1" dirty="0"/>
              <a:t/>
            </a:r>
            <a:br>
              <a:rPr lang="en-US" b="1" dirty="0"/>
            </a:br>
            <a:r>
              <a:rPr lang="en-US" sz="2700" b="1" dirty="0">
                <a:latin typeface="Times New Roman" pitchFamily="18" charset="0"/>
                <a:cs typeface="Times New Roman" pitchFamily="18" charset="0"/>
              </a:rPr>
              <a:t>Evaluate the arithmetic expression ((a -b / c * d + e) * (f +g)) and display its solution</a:t>
            </a:r>
            <a:r>
              <a:rPr lang="en-US" b="1" dirty="0"/>
              <a:t/>
            </a:r>
            <a:br>
              <a:rPr lang="en-US" b="1" dirty="0"/>
            </a:br>
            <a:r>
              <a:rPr lang="en-US" dirty="0"/>
              <a:t/>
            </a:r>
            <a:br>
              <a:rPr lang="en-US" dirty="0"/>
            </a:br>
            <a:endParaRPr lang="en-US" dirty="0"/>
          </a:p>
        </p:txBody>
      </p:sp>
      <p:sp>
        <p:nvSpPr>
          <p:cNvPr id="3" name="Content Placeholder 2"/>
          <p:cNvSpPr>
            <a:spLocks noGrp="1"/>
          </p:cNvSpPr>
          <p:nvPr>
            <p:ph idx="1"/>
          </p:nvPr>
        </p:nvSpPr>
        <p:spPr>
          <a:xfrm>
            <a:off x="457200" y="1600200"/>
            <a:ext cx="8229600" cy="5257800"/>
          </a:xfrm>
        </p:spPr>
        <p:txBody>
          <a:bodyPr>
            <a:noAutofit/>
          </a:bodyPr>
          <a:lstStyle/>
          <a:p>
            <a:pPr>
              <a:buNone/>
            </a:pPr>
            <a:r>
              <a:rPr lang="en-US" sz="1400" b="1" dirty="0">
                <a:latin typeface="Times New Roman" pitchFamily="18" charset="0"/>
                <a:cs typeface="Times New Roman" pitchFamily="18" charset="0"/>
              </a:rPr>
              <a:t>void main()</a:t>
            </a:r>
          </a:p>
          <a:p>
            <a:pPr>
              <a:buNone/>
            </a:pPr>
            <a:r>
              <a:rPr lang="en-US" sz="1400" b="1" dirty="0">
                <a:latin typeface="Times New Roman" pitchFamily="18" charset="0"/>
                <a:cs typeface="Times New Roman" pitchFamily="18" charset="0"/>
              </a:rPr>
              <a:t>{</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int</a:t>
            </a: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a,b,c,d,e,f,g,result</a:t>
            </a:r>
            <a:r>
              <a:rPr lang="en-US" sz="1400" b="1" dirty="0">
                <a:latin typeface="Times New Roman" pitchFamily="18" charset="0"/>
                <a:cs typeface="Times New Roman" pitchFamily="18" charset="0"/>
              </a:rPr>
              <a:t>;</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value of a :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scanf</a:t>
            </a:r>
            <a:r>
              <a:rPr lang="en-US" sz="1400" b="1" dirty="0">
                <a:latin typeface="Times New Roman" pitchFamily="18" charset="0"/>
                <a:cs typeface="Times New Roman" pitchFamily="18" charset="0"/>
              </a:rPr>
              <a:t>("%d",&amp; a);</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value of b :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scanf</a:t>
            </a:r>
            <a:r>
              <a:rPr lang="en-US" sz="1400" b="1" dirty="0">
                <a:latin typeface="Times New Roman" pitchFamily="18" charset="0"/>
                <a:cs typeface="Times New Roman" pitchFamily="18" charset="0"/>
              </a:rPr>
              <a:t>("%d",&amp; b);</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value of c :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scanf</a:t>
            </a:r>
            <a:r>
              <a:rPr lang="en-US" sz="1400" b="1" dirty="0">
                <a:latin typeface="Times New Roman" pitchFamily="18" charset="0"/>
                <a:cs typeface="Times New Roman" pitchFamily="18" charset="0"/>
              </a:rPr>
              <a:t>("%d",&amp; c);</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value of d :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scanf</a:t>
            </a:r>
            <a:r>
              <a:rPr lang="en-US" sz="1400" b="1" dirty="0">
                <a:latin typeface="Times New Roman" pitchFamily="18" charset="0"/>
                <a:cs typeface="Times New Roman" pitchFamily="18" charset="0"/>
              </a:rPr>
              <a:t>("%d",&amp; d);</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value of e :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scanf</a:t>
            </a:r>
            <a:r>
              <a:rPr lang="en-US" sz="1400" b="1" dirty="0">
                <a:latin typeface="Times New Roman" pitchFamily="18" charset="0"/>
                <a:cs typeface="Times New Roman" pitchFamily="18" charset="0"/>
              </a:rPr>
              <a:t>("%d",&amp; e);</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value of f :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scanf</a:t>
            </a:r>
            <a:r>
              <a:rPr lang="en-US" sz="1400" b="1" dirty="0">
                <a:latin typeface="Times New Roman" pitchFamily="18" charset="0"/>
                <a:cs typeface="Times New Roman" pitchFamily="18" charset="0"/>
              </a:rPr>
              <a:t>("%d",&amp; f);</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("enter value of g : ");</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scanf</a:t>
            </a:r>
            <a:r>
              <a:rPr lang="en-US" sz="1400" b="1" dirty="0">
                <a:latin typeface="Times New Roman" pitchFamily="18" charset="0"/>
                <a:cs typeface="Times New Roman" pitchFamily="18" charset="0"/>
              </a:rPr>
              <a:t>("%d",&amp; g);</a:t>
            </a:r>
          </a:p>
          <a:p>
            <a:pPr>
              <a:buNone/>
            </a:pPr>
            <a:r>
              <a:rPr lang="en-US" sz="1400" b="1" dirty="0">
                <a:latin typeface="Times New Roman" pitchFamily="18" charset="0"/>
                <a:cs typeface="Times New Roman" pitchFamily="18" charset="0"/>
              </a:rPr>
              <a:t>    result=((a -(((b / c) * d) + e)) * (f +g));</a:t>
            </a:r>
          </a:p>
          <a:p>
            <a:pPr>
              <a:buNone/>
            </a:pPr>
            <a:r>
              <a:rPr lang="en-US" sz="1400" b="1" dirty="0">
                <a:latin typeface="Times New Roman" pitchFamily="18" charset="0"/>
                <a:cs typeface="Times New Roman" pitchFamily="18" charset="0"/>
              </a:rPr>
              <a:t>    </a:t>
            </a:r>
            <a:r>
              <a:rPr lang="en-US" sz="1400" b="1" dirty="0" err="1">
                <a:latin typeface="Times New Roman" pitchFamily="18" charset="0"/>
                <a:cs typeface="Times New Roman" pitchFamily="18" charset="0"/>
              </a:rPr>
              <a:t>printf</a:t>
            </a:r>
            <a:r>
              <a:rPr lang="en-US" sz="1400" b="1" dirty="0">
                <a:latin typeface="Times New Roman" pitchFamily="18" charset="0"/>
                <a:cs typeface="Times New Roman" pitchFamily="18" charset="0"/>
              </a:rPr>
              <a:t>("after evaluation result is :%d ",result);</a:t>
            </a:r>
          </a:p>
          <a:p>
            <a:pPr>
              <a:buNone/>
            </a:pPr>
            <a:r>
              <a:rPr lang="en-US" sz="1400" b="1" dirty="0">
                <a:latin typeface="Times New Roman" pitchFamily="18" charset="0"/>
                <a:cs typeface="Times New Roman" pitchFamily="18" charset="0"/>
              </a:rPr>
              <a:t>} </a:t>
            </a:r>
          </a:p>
          <a:p>
            <a:endParaRPr lang="en-US" sz="1400" b="1" dirty="0">
              <a:latin typeface="Times New Roman" pitchFamily="18" charset="0"/>
              <a:cs typeface="Times New Roman" pitchFamily="18" charset="0"/>
            </a:endParaRPr>
          </a:p>
          <a:p>
            <a:endParaRPr lang="en-US" sz="14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1219200" y="1447800"/>
            <a:ext cx="6705600" cy="4619625"/>
          </a:xfrm>
          <a:prstGeom prst="rect">
            <a:avLst/>
          </a:prstGeom>
          <a:noFill/>
          <a:ln w="9525">
            <a:noFill/>
            <a:miter lim="800000"/>
            <a:headEnd/>
            <a:tailEnd/>
          </a:ln>
          <a:effec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Definition :</a:t>
            </a:r>
          </a:p>
        </p:txBody>
      </p:sp>
      <p:sp>
        <p:nvSpPr>
          <p:cNvPr id="3" name="Content Placeholder 2"/>
          <p:cNvSpPr>
            <a:spLocks noGrp="1"/>
          </p:cNvSpPr>
          <p:nvPr>
            <p:ph idx="1"/>
          </p:nvPr>
        </p:nvSpPr>
        <p:spPr/>
        <p:txBody>
          <a:bodyPr>
            <a:normAutofit lnSpcReduction="10000"/>
          </a:bodyPr>
          <a:lstStyle/>
          <a:p>
            <a:r>
              <a:rPr lang="en-US" sz="2400" dirty="0">
                <a:latin typeface="Times New Roman" pitchFamily="18" charset="0"/>
                <a:cs typeface="Times New Roman" pitchFamily="18" charset="0"/>
              </a:rPr>
              <a:t>Expression evaluation in C is used </a:t>
            </a:r>
            <a:r>
              <a:rPr lang="en-US" sz="2400" b="1" dirty="0">
                <a:latin typeface="Times New Roman" pitchFamily="18" charset="0"/>
                <a:cs typeface="Times New Roman" pitchFamily="18" charset="0"/>
              </a:rPr>
              <a:t>to determine the order of the operators to calculate the accurate output</a:t>
            </a:r>
            <a:r>
              <a:rPr lang="en-US" sz="2400" dirty="0">
                <a:latin typeface="Times New Roman" pitchFamily="18" charset="0"/>
                <a:cs typeface="Times New Roman" pitchFamily="18" charset="0"/>
              </a:rPr>
              <a:t>. Arithmetic, Relational, Logical, and Conditional are expression evaluations in C.</a:t>
            </a:r>
          </a:p>
          <a:p>
            <a:endParaRPr lang="en-US" sz="2400" dirty="0">
              <a:latin typeface="Times New Roman" pitchFamily="18" charset="0"/>
              <a:cs typeface="Times New Roman" pitchFamily="18" charset="0"/>
            </a:endParaRPr>
          </a:p>
          <a:p>
            <a:r>
              <a:rPr lang="en-US" sz="2400" b="1" dirty="0"/>
              <a:t>Types of Expression Evaluation in C</a:t>
            </a:r>
          </a:p>
          <a:p>
            <a:r>
              <a:rPr lang="en-US" sz="2400" dirty="0"/>
              <a:t>In C there are 4 types of expressions evaluations</a:t>
            </a:r>
          </a:p>
          <a:p>
            <a:r>
              <a:rPr lang="en-US" sz="2400" dirty="0"/>
              <a:t>Arithmetic expressions evaluation</a:t>
            </a:r>
          </a:p>
          <a:p>
            <a:r>
              <a:rPr lang="en-US" sz="2400" dirty="0"/>
              <a:t>Relational expressions evaluation</a:t>
            </a:r>
          </a:p>
          <a:p>
            <a:r>
              <a:rPr lang="en-US" sz="2400" dirty="0"/>
              <a:t>Logical expressions evaluation</a:t>
            </a:r>
          </a:p>
          <a:p>
            <a:r>
              <a:rPr lang="en-US" sz="2400" dirty="0"/>
              <a:t>Conditional expressions evaluation</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Arithmetic expression Evaluation</a:t>
            </a:r>
            <a:br>
              <a:rPr lang="en-US" b="1" dirty="0"/>
            </a:br>
            <a:endParaRPr lang="en-US" dirty="0"/>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    </a:t>
            </a:r>
          </a:p>
          <a:p>
            <a:pPr>
              <a:buNone/>
            </a:pPr>
            <a:r>
              <a:rPr lang="en-US" sz="2400" dirty="0">
                <a:latin typeface="Times New Roman" pitchFamily="18" charset="0"/>
                <a:cs typeface="Times New Roman" pitchFamily="18" charset="0"/>
              </a:rPr>
              <a:t>   Addition (+), Subtraction(-), Multiplication(*), Division(/), Modulus(%), Increment(++) and Decrement(–) operators are said to “Arithmetic expressions”. These operators work in between operands. like A+B, A-B, A–, A++ etc. While we perform the operation with these operators based on specified precedence order as like below image.</a:t>
            </a:r>
          </a:p>
          <a:p>
            <a:pPr>
              <a:buNone/>
            </a:pPr>
            <a:endParaRPr lang="en-US" sz="2400" dirty="0">
              <a:latin typeface="Times New Roman" pitchFamily="18" charset="0"/>
              <a:cs typeface="Times New Roman" pitchFamily="18" charset="0"/>
            </a:endParaRPr>
          </a:p>
          <a:p>
            <a:pPr>
              <a:buNone/>
            </a:pPr>
            <a:r>
              <a:rPr lang="en-US" sz="2400" dirty="0"/>
              <a:t>A+B*C/D-E%F</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1644650" y="3542506"/>
            <a:ext cx="5854700" cy="641350"/>
          </a:xfrm>
          <a:prstGeom prst="rect">
            <a:avLst/>
          </a:prstGeom>
          <a:noFill/>
          <a:ln w="9525">
            <a:noFill/>
            <a:miter lim="800000"/>
            <a:headEnd/>
            <a:tailEnd/>
          </a:ln>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FF0000"/>
                </a:solidFill>
                <a:latin typeface="Times New Roman" pitchFamily="18" charset="0"/>
                <a:cs typeface="Times New Roman" pitchFamily="18" charset="0"/>
              </a:rPr>
              <a:t>Type Conversion(Type Casting)</a:t>
            </a:r>
          </a:p>
        </p:txBody>
      </p:sp>
      <p:sp>
        <p:nvSpPr>
          <p:cNvPr id="3" name="Content Placeholder 2"/>
          <p:cNvSpPr>
            <a:spLocks noGrp="1"/>
          </p:cNvSpPr>
          <p:nvPr>
            <p:ph idx="1"/>
          </p:nvPr>
        </p:nvSpPr>
        <p:spPr/>
        <p:txBody>
          <a:bodyPr>
            <a:normAutofit fontScale="92500" lnSpcReduction="20000"/>
          </a:bodyPr>
          <a:lstStyle/>
          <a:p>
            <a:r>
              <a:rPr lang="en-US" sz="2600" dirty="0">
                <a:latin typeface="Times New Roman" pitchFamily="18" charset="0"/>
                <a:cs typeface="Times New Roman" pitchFamily="18" charset="0"/>
              </a:rPr>
              <a:t>Typecasting is a method in C language of converting one data type to another.</a:t>
            </a:r>
          </a:p>
          <a:p>
            <a:pPr>
              <a:buNone/>
            </a:pPr>
            <a:r>
              <a:rPr lang="en-US" sz="2800" dirty="0">
                <a:solidFill>
                  <a:srgbClr val="FF0000"/>
                </a:solidFill>
                <a:latin typeface="Times New Roman" pitchFamily="18" charset="0"/>
                <a:cs typeface="Times New Roman" pitchFamily="18" charset="0"/>
              </a:rPr>
              <a:t>There are two types of typecasting:</a:t>
            </a:r>
          </a:p>
          <a:p>
            <a:pPr>
              <a:buNone/>
            </a:pPr>
            <a:endParaRPr lang="en-US" sz="2000" b="1" dirty="0">
              <a:latin typeface="Times New Roman" pitchFamily="18" charset="0"/>
              <a:cs typeface="Times New Roman" pitchFamily="18" charset="0"/>
            </a:endParaRPr>
          </a:p>
          <a:p>
            <a:pPr>
              <a:buNone/>
            </a:pPr>
            <a:r>
              <a:rPr lang="en-US" sz="2000" b="1" dirty="0">
                <a:solidFill>
                  <a:srgbClr val="FF0000"/>
                </a:solidFill>
                <a:latin typeface="Times New Roman" pitchFamily="18" charset="0"/>
                <a:cs typeface="Times New Roman" pitchFamily="18" charset="0"/>
              </a:rPr>
              <a:t>1.Implicit Type casting</a:t>
            </a:r>
            <a:r>
              <a:rPr lang="en-US" sz="2000" b="1" dirty="0">
                <a:latin typeface="Times New Roman" pitchFamily="18" charset="0"/>
                <a:cs typeface="Times New Roman" pitchFamily="18" charset="0"/>
              </a:rPr>
              <a:t> :</a:t>
            </a:r>
            <a:r>
              <a:rPr lang="en-US" sz="2000" dirty="0"/>
              <a:t>This conversion is done by the compiler. When more than one data type of variables are used in an expression, the compiler converts data types to avoid loss of data.</a:t>
            </a:r>
          </a:p>
          <a:p>
            <a:pPr fontAlgn="base"/>
            <a:endParaRPr lang="en-US" sz="2000" dirty="0"/>
          </a:p>
          <a:p>
            <a:pPr fontAlgn="base"/>
            <a:r>
              <a:rPr lang="en-US" sz="2000" dirty="0"/>
              <a:t>Also known as ‘automatic type conversion’.</a:t>
            </a:r>
          </a:p>
          <a:p>
            <a:pPr fontAlgn="base"/>
            <a:r>
              <a:rPr lang="en-US" sz="2000" dirty="0"/>
              <a:t>Done by the compiler on its own, without any external trigger from the user.</a:t>
            </a:r>
          </a:p>
          <a:p>
            <a:pPr fontAlgn="base"/>
            <a:r>
              <a:rPr lang="en-US" sz="2000" dirty="0"/>
              <a:t>Generally takes place when in an expression more than one data type is present. In such condition type conversion (type promotion) takes place to avoid loss of data.</a:t>
            </a:r>
          </a:p>
          <a:p>
            <a:pPr fontAlgn="base"/>
            <a:r>
              <a:rPr lang="en-US" sz="2000" dirty="0"/>
              <a:t>All the data types of the variables are upgraded to the data type of the variable with largest data type.</a:t>
            </a:r>
          </a:p>
          <a:p>
            <a:pPr>
              <a:buNone/>
            </a:pPr>
            <a:endParaRPr lang="en-US" sz="2000" dirty="0">
              <a:solidFill>
                <a:srgbClr val="FF0000"/>
              </a:solidFill>
              <a:latin typeface="Times New Roman" pitchFamily="18" charset="0"/>
              <a:cs typeface="Times New Roman" pitchFamily="18"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r>
              <a:rPr lang="en-US" sz="2400" b="1" dirty="0" err="1">
                <a:latin typeface="Times New Roman" pitchFamily="18" charset="0"/>
                <a:cs typeface="Times New Roman" pitchFamily="18" charset="0"/>
              </a:rPr>
              <a:t>bool</a:t>
            </a:r>
            <a:r>
              <a:rPr lang="en-US" sz="2400" b="1" dirty="0">
                <a:latin typeface="Times New Roman" pitchFamily="18" charset="0"/>
                <a:cs typeface="Times New Roman" pitchFamily="18" charset="0"/>
              </a:rPr>
              <a:t> -&gt; char -&gt; short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-&gt;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-&gt; unsigned </a:t>
            </a:r>
            <a:r>
              <a:rPr lang="en-US" sz="2400" b="1" dirty="0" err="1">
                <a:latin typeface="Times New Roman" pitchFamily="18" charset="0"/>
                <a:cs typeface="Times New Roman" pitchFamily="18" charset="0"/>
              </a:rPr>
              <a:t>int</a:t>
            </a:r>
            <a:r>
              <a:rPr lang="en-US" sz="2400" b="1" dirty="0">
                <a:latin typeface="Times New Roman" pitchFamily="18" charset="0"/>
                <a:cs typeface="Times New Roman" pitchFamily="18" charset="0"/>
              </a:rPr>
              <a:t> -&gt; long -&gt; unsigned -&gt; long </a:t>
            </a:r>
            <a:r>
              <a:rPr lang="en-US" sz="2400" b="1" dirty="0" err="1">
                <a:latin typeface="Times New Roman" pitchFamily="18" charset="0"/>
                <a:cs typeface="Times New Roman" pitchFamily="18" charset="0"/>
              </a:rPr>
              <a:t>long</a:t>
            </a:r>
            <a:r>
              <a:rPr lang="en-US" sz="2400" b="1" dirty="0">
                <a:latin typeface="Times New Roman" pitchFamily="18" charset="0"/>
                <a:cs typeface="Times New Roman" pitchFamily="18" charset="0"/>
              </a:rPr>
              <a:t> -&gt; float -&gt; double -&gt; long double</a:t>
            </a:r>
          </a:p>
          <a:p>
            <a:endParaRPr lang="en-US" sz="2400" b="1" dirty="0">
              <a:latin typeface="Times New Roman" pitchFamily="18" charset="0"/>
              <a:cs typeface="Times New Roman" pitchFamily="18" charset="0"/>
            </a:endParaRPr>
          </a:p>
          <a:p>
            <a:r>
              <a:rPr lang="en-US" sz="2400" dirty="0">
                <a:latin typeface="Times New Roman" pitchFamily="18" charset="0"/>
                <a:cs typeface="Times New Roman" pitchFamily="18" charset="0"/>
              </a:rPr>
              <a:t>It is possible for implicit conversions to lose information, signs can be lost (when signed is implicitly converted to unsigned), and overflow can occur (when long </a:t>
            </a:r>
            <a:r>
              <a:rPr lang="en-US" sz="2400" dirty="0" err="1">
                <a:latin typeface="Times New Roman" pitchFamily="18" charset="0"/>
                <a:cs typeface="Times New Roman" pitchFamily="18" charset="0"/>
              </a:rPr>
              <a:t>long</a:t>
            </a:r>
            <a:r>
              <a:rPr lang="en-US" sz="2400" dirty="0">
                <a:latin typeface="Times New Roman" pitchFamily="18" charset="0"/>
                <a:cs typeface="Times New Roman" pitchFamily="18" charset="0"/>
              </a:rPr>
              <a:t> is implicitly converted to float).</a:t>
            </a:r>
          </a:p>
          <a:p>
            <a:pPr>
              <a:buNone/>
            </a:pPr>
            <a:endParaRPr lang="en-US" sz="2400" dirty="0">
              <a:latin typeface="Times New Roman" pitchFamily="18" charset="0"/>
              <a:cs typeface="Times New Roman" pitchFamily="18" charset="0"/>
            </a:endParaRPr>
          </a:p>
          <a:p>
            <a:pPr>
              <a:buNone/>
            </a:pPr>
            <a:r>
              <a:rPr lang="en-US" sz="2400" b="1" dirty="0"/>
              <a:t>Example of Type Implicit Conversion:</a:t>
            </a:r>
          </a:p>
          <a:p>
            <a:pPr>
              <a:buNone/>
            </a:pPr>
            <a:endParaRPr lang="en-US" sz="2400" b="1" dirty="0">
              <a:latin typeface="Times New Roman" pitchFamily="18" charset="0"/>
              <a:cs typeface="Times New Roman" pitchFamily="18" charset="0"/>
            </a:endParaRPr>
          </a:p>
          <a:p>
            <a:pPr>
              <a:buNone/>
            </a:pPr>
            <a:r>
              <a:rPr lang="en-US" sz="2400" dirty="0"/>
              <a:t>#include &lt;</a:t>
            </a:r>
            <a:r>
              <a:rPr lang="en-US" sz="2400" dirty="0" err="1"/>
              <a:t>stdio.h</a:t>
            </a:r>
            <a:r>
              <a:rPr lang="en-US" sz="2400" dirty="0"/>
              <a:t>&gt; </a:t>
            </a:r>
            <a:r>
              <a:rPr lang="en-US" sz="2400" dirty="0" err="1"/>
              <a:t>int</a:t>
            </a:r>
            <a:r>
              <a:rPr lang="en-US" sz="2400" dirty="0"/>
              <a:t> main() {    </a:t>
            </a:r>
            <a:r>
              <a:rPr lang="en-US" sz="2400" dirty="0" err="1"/>
              <a:t>int</a:t>
            </a:r>
            <a:r>
              <a:rPr lang="en-US" sz="2400" dirty="0"/>
              <a:t> a = 10;    char b = 'S';    float c = 2.88;    a = </a:t>
            </a:r>
            <a:r>
              <a:rPr lang="en-US" sz="2400" dirty="0" err="1"/>
              <a:t>a+b</a:t>
            </a:r>
            <a:r>
              <a:rPr lang="en-US" sz="2400" dirty="0"/>
              <a:t>;    </a:t>
            </a:r>
            <a:r>
              <a:rPr lang="en-US" sz="2400" dirty="0" err="1"/>
              <a:t>printf</a:t>
            </a:r>
            <a:r>
              <a:rPr lang="en-US" sz="2400" dirty="0"/>
              <a:t>("Implicit conversion from character to integer : %d\</a:t>
            </a:r>
            <a:r>
              <a:rPr lang="en-US" sz="2400" dirty="0" err="1"/>
              <a:t>n",a</a:t>
            </a:r>
            <a:r>
              <a:rPr lang="en-US" sz="2400" dirty="0"/>
              <a:t>);    c = </a:t>
            </a:r>
            <a:r>
              <a:rPr lang="en-US" sz="2400" dirty="0" err="1"/>
              <a:t>c+a</a:t>
            </a:r>
            <a:r>
              <a:rPr lang="en-US" sz="2400" dirty="0"/>
              <a:t>;    </a:t>
            </a:r>
            <a:r>
              <a:rPr lang="en-US" sz="2400" dirty="0" err="1"/>
              <a:t>printf</a:t>
            </a:r>
            <a:r>
              <a:rPr lang="en-US" sz="2400" dirty="0"/>
              <a:t>("Implicit conversion from integer to float : %f\</a:t>
            </a:r>
            <a:r>
              <a:rPr lang="en-US" sz="2400" dirty="0" err="1"/>
              <a:t>n",c</a:t>
            </a:r>
            <a:r>
              <a:rPr lang="en-US" sz="2400" dirty="0"/>
              <a:t>);    return 0; }</a:t>
            </a: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dirty="0">
                <a:solidFill>
                  <a:srgbClr val="FF0000"/>
                </a:solidFill>
                <a:latin typeface="Times New Roman" pitchFamily="18" charset="0"/>
                <a:cs typeface="Times New Roman" pitchFamily="18" charset="0"/>
              </a:rPr>
              <a:t>Example:</a:t>
            </a:r>
          </a:p>
        </p:txBody>
      </p:sp>
      <p:sp>
        <p:nvSpPr>
          <p:cNvPr id="3" name="Content Placeholder 2"/>
          <p:cNvSpPr>
            <a:spLocks noGrp="1"/>
          </p:cNvSpPr>
          <p:nvPr>
            <p:ph idx="1"/>
          </p:nvPr>
        </p:nvSpPr>
        <p:spPr/>
        <p:txBody>
          <a:bodyPr>
            <a:normAutofit fontScale="92500" lnSpcReduction="10000"/>
          </a:bodyPr>
          <a:lstStyle/>
          <a:p>
            <a:pPr>
              <a:buNone/>
            </a:pPr>
            <a:r>
              <a:rPr lang="en-US" sz="2000" dirty="0">
                <a:latin typeface="Times New Roman" pitchFamily="18" charset="0"/>
                <a:cs typeface="Times New Roman" pitchFamily="18" charset="0"/>
              </a:rPr>
              <a:t>#include &lt;</a:t>
            </a:r>
            <a:r>
              <a:rPr lang="en-US" sz="2000" dirty="0" err="1">
                <a:latin typeface="Times New Roman" pitchFamily="18" charset="0"/>
                <a:cs typeface="Times New Roman" pitchFamily="18" charset="0"/>
              </a:rPr>
              <a:t>stdio.h</a:t>
            </a:r>
            <a:r>
              <a:rPr lang="en-US" sz="2000" dirty="0">
                <a:latin typeface="Times New Roman" pitchFamily="18" charset="0"/>
                <a:cs typeface="Times New Roman" pitchFamily="18" charset="0"/>
              </a:rPr>
              <a:t>&gt; </a:t>
            </a:r>
          </a:p>
          <a:p>
            <a:pPr>
              <a:buNone/>
            </a:pP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main() </a:t>
            </a:r>
          </a:p>
          <a:p>
            <a:pPr>
              <a:buNone/>
            </a:pPr>
            <a:r>
              <a:rPr lang="en-US" sz="2000" dirty="0">
                <a:latin typeface="Times New Roman" pitchFamily="18" charset="0"/>
                <a:cs typeface="Times New Roman" pitchFamily="18" charset="0"/>
              </a:rPr>
              <a:t>{    </a:t>
            </a:r>
          </a:p>
          <a:p>
            <a:pPr>
              <a:buNone/>
            </a:pP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 = 10;    char b = 'S';    float c = 2.88;  </a:t>
            </a:r>
          </a:p>
          <a:p>
            <a:pPr>
              <a:buNone/>
            </a:pPr>
            <a:r>
              <a:rPr lang="en-US" sz="2000" dirty="0">
                <a:latin typeface="Times New Roman" pitchFamily="18" charset="0"/>
                <a:cs typeface="Times New Roman" pitchFamily="18" charset="0"/>
              </a:rPr>
              <a:t>  a = </a:t>
            </a:r>
            <a:r>
              <a:rPr lang="en-US" sz="2000" dirty="0" err="1">
                <a:latin typeface="Times New Roman" pitchFamily="18" charset="0"/>
                <a:cs typeface="Times New Roman" pitchFamily="18" charset="0"/>
              </a:rPr>
              <a:t>a+b</a:t>
            </a:r>
            <a:r>
              <a:rPr lang="en-US" sz="2000" dirty="0">
                <a:latin typeface="Times New Roman" pitchFamily="18" charset="0"/>
                <a:cs typeface="Times New Roman" pitchFamily="18" charset="0"/>
              </a:rPr>
              <a:t>; </a:t>
            </a:r>
          </a:p>
          <a:p>
            <a:pPr>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("Implicit conversion from character to integer : %d\</a:t>
            </a:r>
            <a:r>
              <a:rPr lang="en-US" sz="2000" dirty="0" err="1">
                <a:latin typeface="Times New Roman" pitchFamily="18" charset="0"/>
                <a:cs typeface="Times New Roman" pitchFamily="18" charset="0"/>
              </a:rPr>
              <a:t>n",a</a:t>
            </a:r>
            <a:r>
              <a:rPr lang="en-US" sz="2000" dirty="0">
                <a:latin typeface="Times New Roman" pitchFamily="18" charset="0"/>
                <a:cs typeface="Times New Roman" pitchFamily="18" charset="0"/>
              </a:rPr>
              <a:t>);   </a:t>
            </a:r>
          </a:p>
          <a:p>
            <a:pPr>
              <a:buNone/>
            </a:pPr>
            <a:r>
              <a:rPr lang="en-US" sz="2000" dirty="0">
                <a:latin typeface="Times New Roman" pitchFamily="18" charset="0"/>
                <a:cs typeface="Times New Roman" pitchFamily="18" charset="0"/>
              </a:rPr>
              <a:t> c = </a:t>
            </a:r>
            <a:r>
              <a:rPr lang="en-US" sz="2000" dirty="0" err="1">
                <a:latin typeface="Times New Roman" pitchFamily="18" charset="0"/>
                <a:cs typeface="Times New Roman" pitchFamily="18" charset="0"/>
              </a:rPr>
              <a:t>c+a</a:t>
            </a:r>
            <a:r>
              <a:rPr lang="en-US" sz="2000" dirty="0">
                <a:latin typeface="Times New Roman" pitchFamily="18" charset="0"/>
                <a:cs typeface="Times New Roman" pitchFamily="18" charset="0"/>
              </a:rPr>
              <a:t>;  </a:t>
            </a:r>
          </a:p>
          <a:p>
            <a:pPr>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printf</a:t>
            </a:r>
            <a:r>
              <a:rPr lang="en-US" sz="2000" dirty="0">
                <a:latin typeface="Times New Roman" pitchFamily="18" charset="0"/>
                <a:cs typeface="Times New Roman" pitchFamily="18" charset="0"/>
              </a:rPr>
              <a:t>("Implicit conversion from integer to float : %f\</a:t>
            </a:r>
            <a:r>
              <a:rPr lang="en-US" sz="2000" dirty="0" err="1">
                <a:latin typeface="Times New Roman" pitchFamily="18" charset="0"/>
                <a:cs typeface="Times New Roman" pitchFamily="18" charset="0"/>
              </a:rPr>
              <a:t>n",c</a:t>
            </a:r>
            <a:r>
              <a:rPr lang="en-US" sz="2000" dirty="0">
                <a:latin typeface="Times New Roman" pitchFamily="18" charset="0"/>
                <a:cs typeface="Times New Roman" pitchFamily="18" charset="0"/>
              </a:rPr>
              <a:t>);    </a:t>
            </a:r>
          </a:p>
          <a:p>
            <a:pPr>
              <a:buNone/>
            </a:pPr>
            <a:r>
              <a:rPr lang="en-US" sz="2000" dirty="0">
                <a:latin typeface="Times New Roman" pitchFamily="18" charset="0"/>
                <a:cs typeface="Times New Roman" pitchFamily="18" charset="0"/>
              </a:rPr>
              <a:t>return 0; </a:t>
            </a:r>
          </a:p>
          <a:p>
            <a:pPr>
              <a:buNone/>
            </a:pPr>
            <a:r>
              <a:rPr lang="en-US" sz="2000" dirty="0">
                <a:latin typeface="Times New Roman" pitchFamily="18" charset="0"/>
                <a:cs typeface="Times New Roman" pitchFamily="18" charset="0"/>
              </a:rPr>
              <a:t>}</a:t>
            </a:r>
          </a:p>
          <a:p>
            <a:pPr>
              <a:buNone/>
            </a:pPr>
            <a:endParaRPr lang="en-US" dirty="0">
              <a:latin typeface="Times New Roman" pitchFamily="18" charset="0"/>
              <a:cs typeface="Times New Roman" pitchFamily="18" charset="0"/>
            </a:endParaRPr>
          </a:p>
          <a:p>
            <a:pPr>
              <a:buNone/>
            </a:pPr>
            <a:r>
              <a:rPr lang="en-US" sz="2400" dirty="0" err="1">
                <a:latin typeface="Times New Roman" pitchFamily="18" charset="0"/>
                <a:cs typeface="Times New Roman" pitchFamily="18" charset="0"/>
              </a:rPr>
              <a:t>OutPut</a:t>
            </a:r>
            <a:r>
              <a:rPr lang="en-US" sz="2400" dirty="0">
                <a:latin typeface="Times New Roman" pitchFamily="18" charset="0"/>
                <a:cs typeface="Times New Roman" pitchFamily="18" charset="0"/>
              </a:rPr>
              <a:t>:  Implicit conversion from character to integer : 93</a:t>
            </a:r>
          </a:p>
          <a:p>
            <a:pPr>
              <a:buNone/>
            </a:pPr>
            <a:r>
              <a:rPr lang="en-US" sz="2400" dirty="0">
                <a:latin typeface="Times New Roman" pitchFamily="18" charset="0"/>
                <a:cs typeface="Times New Roman" pitchFamily="18" charset="0"/>
              </a:rPr>
              <a:t>               Implicit conversion from integer to float : 95.879997</a:t>
            </a:r>
          </a:p>
          <a:p>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b="1" dirty="0">
                <a:solidFill>
                  <a:srgbClr val="FF0000"/>
                </a:solidFill>
                <a:latin typeface="Times New Roman" pitchFamily="18" charset="0"/>
                <a:cs typeface="Times New Roman" pitchFamily="18" charset="0"/>
              </a:rPr>
              <a:t>Explicit Type Conversion:</a:t>
            </a:r>
          </a:p>
        </p:txBody>
      </p:sp>
      <p:sp>
        <p:nvSpPr>
          <p:cNvPr id="3" name="Content Placeholder 2"/>
          <p:cNvSpPr>
            <a:spLocks noGrp="1"/>
          </p:cNvSpPr>
          <p:nvPr>
            <p:ph idx="1"/>
          </p:nvPr>
        </p:nvSpPr>
        <p:spPr/>
        <p:txBody>
          <a:bodyPr/>
          <a:lstStyle/>
          <a:p>
            <a:r>
              <a:rPr lang="en-US" sz="2400" dirty="0">
                <a:latin typeface="Times New Roman" pitchFamily="18" charset="0"/>
                <a:cs typeface="Times New Roman" pitchFamily="18" charset="0"/>
              </a:rPr>
              <a:t>This process is also called type casting and it is user defined. Here the user can type cast the result to make it of a particular data type</a:t>
            </a:r>
            <a:r>
              <a:rPr lang="en-US" dirty="0"/>
              <a:t>.</a:t>
            </a:r>
          </a:p>
          <a:p>
            <a:endParaRPr lang="en-US" dirty="0"/>
          </a:p>
        </p:txBody>
      </p:sp>
      <p:pic>
        <p:nvPicPr>
          <p:cNvPr id="5" name="Picture 2"/>
          <p:cNvPicPr>
            <a:picLocks noChangeAspect="1" noChangeArrowheads="1"/>
          </p:cNvPicPr>
          <p:nvPr/>
        </p:nvPicPr>
        <p:blipFill>
          <a:blip r:embed="rId2"/>
          <a:srcRect/>
          <a:stretch>
            <a:fillRect/>
          </a:stretch>
        </p:blipFill>
        <p:spPr bwMode="auto">
          <a:xfrm>
            <a:off x="1295400" y="3505200"/>
            <a:ext cx="6553200" cy="3048000"/>
          </a:xfrm>
          <a:prstGeom prst="rect">
            <a:avLst/>
          </a:prstGeom>
          <a:noFill/>
          <a:ln w="9525">
            <a:noFill/>
            <a:miter lim="800000"/>
            <a:headEnd/>
            <a:tailEnd/>
          </a:ln>
          <a:effec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fontAlgn="base"/>
            <a:r>
              <a:rPr lang="en-US" dirty="0"/>
              <a:t>#include&lt;</a:t>
            </a:r>
            <a:r>
              <a:rPr lang="en-US" dirty="0" err="1"/>
              <a:t>stdio.h</a:t>
            </a:r>
            <a:r>
              <a:rPr lang="en-US" dirty="0"/>
              <a:t>&gt;</a:t>
            </a:r>
          </a:p>
          <a:p>
            <a:pPr fontAlgn="base"/>
            <a:r>
              <a:rPr lang="en-US" dirty="0"/>
              <a:t>  </a:t>
            </a:r>
          </a:p>
          <a:p>
            <a:pPr fontAlgn="base"/>
            <a:r>
              <a:rPr lang="en-US" dirty="0" err="1"/>
              <a:t>int</a:t>
            </a:r>
            <a:r>
              <a:rPr lang="en-US" dirty="0"/>
              <a:t> main()</a:t>
            </a:r>
          </a:p>
          <a:p>
            <a:pPr fontAlgn="base"/>
            <a:r>
              <a:rPr lang="en-US" dirty="0"/>
              <a:t>{</a:t>
            </a:r>
          </a:p>
          <a:p>
            <a:pPr fontAlgn="base"/>
            <a:r>
              <a:rPr lang="en-US" dirty="0"/>
              <a:t>    double x = 1.2;</a:t>
            </a:r>
          </a:p>
          <a:p>
            <a:pPr fontAlgn="base"/>
            <a:r>
              <a:rPr lang="en-US" dirty="0"/>
              <a:t>  </a:t>
            </a:r>
          </a:p>
          <a:p>
            <a:pPr fontAlgn="base"/>
            <a:r>
              <a:rPr lang="en-US" dirty="0"/>
              <a:t>    // Explicit conversion from double to </a:t>
            </a:r>
            <a:r>
              <a:rPr lang="en-US" dirty="0" err="1"/>
              <a:t>int</a:t>
            </a:r>
            <a:endParaRPr lang="en-US" dirty="0"/>
          </a:p>
          <a:p>
            <a:pPr fontAlgn="base"/>
            <a:r>
              <a:rPr lang="en-US" dirty="0"/>
              <a:t>    </a:t>
            </a:r>
            <a:r>
              <a:rPr lang="en-US" dirty="0" err="1"/>
              <a:t>int</a:t>
            </a:r>
            <a:r>
              <a:rPr lang="en-US" dirty="0"/>
              <a:t> sum = (</a:t>
            </a:r>
            <a:r>
              <a:rPr lang="en-US" dirty="0" err="1"/>
              <a:t>int</a:t>
            </a:r>
            <a:r>
              <a:rPr lang="en-US" dirty="0"/>
              <a:t>)x + 1;</a:t>
            </a:r>
          </a:p>
          <a:p>
            <a:pPr fontAlgn="base"/>
            <a:r>
              <a:rPr lang="en-US" dirty="0"/>
              <a:t>  </a:t>
            </a:r>
          </a:p>
          <a:p>
            <a:pPr fontAlgn="base"/>
            <a:r>
              <a:rPr lang="en-US" dirty="0"/>
              <a:t>    </a:t>
            </a:r>
            <a:r>
              <a:rPr lang="en-US" dirty="0" err="1"/>
              <a:t>printf</a:t>
            </a:r>
            <a:r>
              <a:rPr lang="en-US" dirty="0"/>
              <a:t>("sum = %d", sum);</a:t>
            </a:r>
          </a:p>
          <a:p>
            <a:pPr fontAlgn="base"/>
            <a:r>
              <a:rPr lang="en-US" dirty="0"/>
              <a:t>  </a:t>
            </a:r>
          </a:p>
          <a:p>
            <a:pPr fontAlgn="base"/>
            <a:r>
              <a:rPr lang="en-US" dirty="0"/>
              <a:t>    return 0;</a:t>
            </a:r>
          </a:p>
          <a:p>
            <a:pPr fontAlgn="base"/>
            <a:r>
              <a:rPr lang="en-US" dirty="0"/>
              <a:t>}</a:t>
            </a:r>
          </a:p>
          <a:p>
            <a:pPr fontAlgn="base"/>
            <a:r>
              <a:rPr lang="en-US" dirty="0"/>
              <a:t>Output:</a:t>
            </a:r>
          </a:p>
          <a:p>
            <a:r>
              <a:rPr lang="en-US" dirty="0"/>
              <a:t>sum = 2</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itchFamily="18" charset="0"/>
                <a:cs typeface="Times New Roman" pitchFamily="18" charset="0"/>
              </a:rPr>
              <a:t>Advantages of Type Conversion</a:t>
            </a:r>
            <a:br>
              <a:rPr lang="en-US" sz="3200" dirty="0">
                <a:solidFill>
                  <a:srgbClr val="FF0000"/>
                </a:solidFill>
                <a:latin typeface="Times New Roman" pitchFamily="18" charset="0"/>
                <a:cs typeface="Times New Roman" pitchFamily="18" charset="0"/>
              </a:rPr>
            </a:br>
            <a:endParaRPr lang="en-US" sz="3200" dirty="0">
              <a:solidFill>
                <a:srgbClr val="FF0000"/>
              </a:solidFill>
            </a:endParaRPr>
          </a:p>
        </p:txBody>
      </p:sp>
      <p:sp>
        <p:nvSpPr>
          <p:cNvPr id="3" name="Content Placeholder 2"/>
          <p:cNvSpPr>
            <a:spLocks noGrp="1"/>
          </p:cNvSpPr>
          <p:nvPr>
            <p:ph idx="1"/>
          </p:nvPr>
        </p:nvSpPr>
        <p:spPr/>
        <p:txBody>
          <a:bodyPr/>
          <a:lstStyle/>
          <a:p>
            <a:pPr fontAlgn="base"/>
            <a:r>
              <a:rPr lang="en-US" sz="2000" dirty="0">
                <a:latin typeface="Times New Roman" pitchFamily="18" charset="0"/>
                <a:cs typeface="Times New Roman" pitchFamily="18" charset="0"/>
              </a:rPr>
              <a:t>This is done to take advantage of certain features of type hierarchies or type representations.</a:t>
            </a:r>
          </a:p>
          <a:p>
            <a:pPr fontAlgn="base"/>
            <a:r>
              <a:rPr lang="en-US" sz="2000" dirty="0">
                <a:latin typeface="Times New Roman" pitchFamily="18" charset="0"/>
                <a:cs typeface="Times New Roman" pitchFamily="18" charset="0"/>
              </a:rPr>
              <a:t>It helps us to compute expressions containing variables of different data types</a:t>
            </a:r>
            <a:r>
              <a:rPr lang="en-US" dirty="0"/>
              <a:t>.</a:t>
            </a:r>
          </a:p>
          <a:p>
            <a:pPr>
              <a:buNone/>
            </a:pP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a:solidFill>
                  <a:srgbClr val="FF0000"/>
                </a:solidFill>
                <a:latin typeface="Times New Roman" pitchFamily="18" charset="0"/>
                <a:cs typeface="Times New Roman" pitchFamily="18" charset="0"/>
              </a:rPr>
              <a:t/>
            </a:r>
            <a:br>
              <a:rPr lang="en-US" sz="3200" dirty="0">
                <a:solidFill>
                  <a:srgbClr val="FF0000"/>
                </a:solidFill>
                <a:latin typeface="Times New Roman" pitchFamily="18" charset="0"/>
                <a:cs typeface="Times New Roman" pitchFamily="18" charset="0"/>
              </a:rPr>
            </a:br>
            <a:r>
              <a:rPr lang="en-US" sz="3200" dirty="0">
                <a:solidFill>
                  <a:srgbClr val="FF0000"/>
                </a:solidFill>
                <a:latin typeface="Times New Roman" pitchFamily="18" charset="0"/>
                <a:cs typeface="Times New Roman" pitchFamily="18" charset="0"/>
              </a:rPr>
              <a:t>C - Decision Making Structure</a:t>
            </a:r>
            <a:br>
              <a:rPr lang="en-US" sz="3200" dirty="0">
                <a:solidFill>
                  <a:srgbClr val="FF0000"/>
                </a:solidFill>
                <a:latin typeface="Times New Roman" pitchFamily="18" charset="0"/>
                <a:cs typeface="Times New Roman" pitchFamily="18" charset="0"/>
              </a:rPr>
            </a:br>
            <a:endParaRPr lang="en-US" sz="32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Decision making structures require that the programmer specifies one or more conditions to be evaluated or tested by the program, along with a statement or statements to be executed if the condition is determined to be true, and optionally, other statements to be executed if the condition is determined to be false.</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Syntax:</a:t>
            </a:r>
          </a:p>
        </p:txBody>
      </p:sp>
      <p:pic>
        <p:nvPicPr>
          <p:cNvPr id="1026" name="Picture 2"/>
          <p:cNvPicPr>
            <a:picLocks noGrp="1" noChangeAspect="1" noChangeArrowheads="1"/>
          </p:cNvPicPr>
          <p:nvPr>
            <p:ph idx="1"/>
          </p:nvPr>
        </p:nvPicPr>
        <p:blipFill>
          <a:blip r:embed="rId2"/>
          <a:srcRect/>
          <a:stretch>
            <a:fillRect/>
          </a:stretch>
        </p:blipFill>
        <p:spPr bwMode="auto">
          <a:xfrm>
            <a:off x="152400" y="1600200"/>
            <a:ext cx="8610600" cy="5029199"/>
          </a:xfrm>
          <a:prstGeom prst="rect">
            <a:avLst/>
          </a:prstGeom>
          <a:noFill/>
          <a:ln w="9525">
            <a:noFill/>
            <a:miter lim="800000"/>
            <a:headEnd/>
            <a:tailEnd/>
          </a:ln>
          <a:effec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52400" y="152400"/>
            <a:ext cx="8991600" cy="6553200"/>
          </a:xfrm>
          <a:prstGeom prst="rect">
            <a:avLst/>
          </a:prstGeom>
          <a:noFill/>
          <a:ln w="9525">
            <a:noFill/>
            <a:miter lim="800000"/>
            <a:headEnd/>
            <a:tailEnd/>
          </a:ln>
          <a:effectLst/>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
            </a:r>
            <a:br>
              <a:rPr lang="en-US" dirty="0"/>
            </a:br>
            <a:r>
              <a:rPr lang="en-US" sz="3100" dirty="0">
                <a:solidFill>
                  <a:srgbClr val="FF0000"/>
                </a:solidFill>
                <a:latin typeface="Times New Roman" pitchFamily="18" charset="0"/>
                <a:cs typeface="Times New Roman" pitchFamily="18" charset="0"/>
              </a:rPr>
              <a:t>The different types of control statements in C language are:</a:t>
            </a:r>
            <a:br>
              <a:rPr lang="en-US" sz="3100" dirty="0">
                <a:solidFill>
                  <a:srgbClr val="FF0000"/>
                </a:solidFill>
                <a:latin typeface="Times New Roman" pitchFamily="18" charset="0"/>
                <a:cs typeface="Times New Roman" pitchFamily="18" charset="0"/>
              </a:rPr>
            </a:br>
            <a:r>
              <a:rPr lang="en-US" sz="3100" dirty="0">
                <a:solidFill>
                  <a:srgbClr val="FF0000"/>
                </a:solidFill>
                <a:latin typeface="Times New Roman" pitchFamily="18" charset="0"/>
                <a:cs typeface="Times New Roman" pitchFamily="18" charset="0"/>
              </a:rPr>
              <a:t/>
            </a:r>
            <a:br>
              <a:rPr lang="en-US" sz="3100" dirty="0">
                <a:solidFill>
                  <a:srgbClr val="FF0000"/>
                </a:solidFill>
                <a:latin typeface="Times New Roman" pitchFamily="18" charset="0"/>
                <a:cs typeface="Times New Roman" pitchFamily="18" charset="0"/>
              </a:rPr>
            </a:br>
            <a:endParaRPr lang="en-US" sz="31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sz="2800" b="1" dirty="0">
                <a:latin typeface="Times New Roman" pitchFamily="18" charset="0"/>
                <a:cs typeface="Times New Roman" pitchFamily="18" charset="0"/>
              </a:rPr>
              <a:t>Decision making statements</a:t>
            </a:r>
            <a:endParaRPr lang="en-US" sz="2800" dirty="0">
              <a:latin typeface="Times New Roman" pitchFamily="18" charset="0"/>
              <a:cs typeface="Times New Roman" pitchFamily="18" charset="0"/>
            </a:endParaRPr>
          </a:p>
          <a:p>
            <a:pPr lvl="1"/>
            <a:r>
              <a:rPr lang="en-US" dirty="0">
                <a:latin typeface="Times New Roman" pitchFamily="18" charset="0"/>
                <a:cs typeface="Times New Roman" pitchFamily="18" charset="0"/>
              </a:rPr>
              <a:t> if statement</a:t>
            </a:r>
          </a:p>
          <a:p>
            <a:pPr lvl="1"/>
            <a:r>
              <a:rPr lang="en-US" dirty="0">
                <a:latin typeface="Times New Roman" pitchFamily="18" charset="0"/>
                <a:cs typeface="Times New Roman" pitchFamily="18" charset="0"/>
              </a:rPr>
              <a:t> switch statement</a:t>
            </a:r>
          </a:p>
          <a:p>
            <a:r>
              <a:rPr lang="en-US" sz="2800" b="1" dirty="0">
                <a:latin typeface="Times New Roman" pitchFamily="18" charset="0"/>
                <a:cs typeface="Times New Roman" pitchFamily="18" charset="0"/>
              </a:rPr>
              <a:t>Iterative statements</a:t>
            </a:r>
            <a:endParaRPr lang="en-US" sz="2800" dirty="0">
              <a:latin typeface="Times New Roman" pitchFamily="18" charset="0"/>
              <a:cs typeface="Times New Roman" pitchFamily="18" charset="0"/>
            </a:endParaRPr>
          </a:p>
          <a:p>
            <a:pPr lvl="1"/>
            <a:r>
              <a:rPr lang="en-US" dirty="0">
                <a:latin typeface="Times New Roman" pitchFamily="18" charset="0"/>
                <a:cs typeface="Times New Roman" pitchFamily="18" charset="0"/>
              </a:rPr>
              <a:t> while statement</a:t>
            </a:r>
          </a:p>
          <a:p>
            <a:pPr lvl="1"/>
            <a:r>
              <a:rPr lang="en-US" dirty="0">
                <a:latin typeface="Times New Roman" pitchFamily="18" charset="0"/>
                <a:cs typeface="Times New Roman" pitchFamily="18" charset="0"/>
              </a:rPr>
              <a:t> do...while statement</a:t>
            </a:r>
          </a:p>
          <a:p>
            <a:pPr lvl="1"/>
            <a:r>
              <a:rPr lang="en-US" dirty="0">
                <a:latin typeface="Times New Roman" pitchFamily="18" charset="0"/>
                <a:cs typeface="Times New Roman" pitchFamily="18" charset="0"/>
              </a:rPr>
              <a:t> for statement</a:t>
            </a:r>
          </a:p>
          <a:p>
            <a:r>
              <a:rPr lang="en-US" sz="2800" b="1" dirty="0">
                <a:latin typeface="Times New Roman" pitchFamily="18" charset="0"/>
                <a:cs typeface="Times New Roman" pitchFamily="18" charset="0"/>
              </a:rPr>
              <a:t>Jump statements</a:t>
            </a:r>
            <a:endParaRPr lang="en-US" sz="2800" dirty="0">
              <a:latin typeface="Times New Roman" pitchFamily="18" charset="0"/>
              <a:cs typeface="Times New Roman" pitchFamily="18" charset="0"/>
            </a:endParaRPr>
          </a:p>
          <a:p>
            <a:pPr lvl="1"/>
            <a:r>
              <a:rPr lang="en-US" dirty="0">
                <a:latin typeface="Times New Roman" pitchFamily="18" charset="0"/>
                <a:cs typeface="Times New Roman" pitchFamily="18" charset="0"/>
              </a:rPr>
              <a:t> break</a:t>
            </a:r>
          </a:p>
          <a:p>
            <a:pPr lvl="1"/>
            <a:r>
              <a:rPr lang="en-US" dirty="0">
                <a:latin typeface="Times New Roman" pitchFamily="18" charset="0"/>
                <a:cs typeface="Times New Roman" pitchFamily="18" charset="0"/>
              </a:rPr>
              <a:t> continue</a:t>
            </a:r>
          </a:p>
          <a:p>
            <a:pPr lvl="1"/>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goto</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228600" y="304800"/>
            <a:ext cx="8610600" cy="6553199"/>
          </a:xfrm>
          <a:prstGeom prst="rect">
            <a:avLst/>
          </a:prstGeom>
          <a:noFill/>
          <a:ln w="9525">
            <a:noFill/>
            <a:miter lim="800000"/>
            <a:headEnd/>
            <a:tailEnd/>
          </a:ln>
          <a:effectLst/>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If Statement</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An </a:t>
            </a:r>
            <a:r>
              <a:rPr lang="en-US" sz="2800" b="1" dirty="0">
                <a:latin typeface="Times New Roman" pitchFamily="18" charset="0"/>
                <a:cs typeface="Times New Roman" pitchFamily="18" charset="0"/>
              </a:rPr>
              <a:t>if</a:t>
            </a:r>
            <a:r>
              <a:rPr lang="en-US" sz="2800" dirty="0">
                <a:latin typeface="Times New Roman" pitchFamily="18" charset="0"/>
                <a:cs typeface="Times New Roman" pitchFamily="18" charset="0"/>
              </a:rPr>
              <a:t> statement consists of a Boolean expression followed by one or more statements</a:t>
            </a:r>
          </a:p>
          <a:p>
            <a:pPr>
              <a:buNone/>
            </a:pPr>
            <a:endParaRPr lang="en-US" sz="2800" dirty="0">
              <a:solidFill>
                <a:srgbClr val="FF0000"/>
              </a:solidFill>
              <a:latin typeface="Times New Roman" pitchFamily="18" charset="0"/>
              <a:cs typeface="Times New Roman" pitchFamily="18" charset="0"/>
            </a:endParaRPr>
          </a:p>
          <a:p>
            <a:pPr>
              <a:buNone/>
            </a:pPr>
            <a:r>
              <a:rPr lang="en-US" sz="2800" dirty="0">
                <a:solidFill>
                  <a:srgbClr val="FF0000"/>
                </a:solidFill>
                <a:latin typeface="Times New Roman" pitchFamily="18" charset="0"/>
                <a:cs typeface="Times New Roman" pitchFamily="18" charset="0"/>
              </a:rPr>
              <a:t>Syntax:</a:t>
            </a:r>
          </a:p>
          <a:p>
            <a:pPr>
              <a:buNone/>
            </a:pPr>
            <a:r>
              <a:rPr lang="en-US" sz="2400" dirty="0">
                <a:latin typeface="Times New Roman" pitchFamily="18" charset="0"/>
                <a:cs typeface="Times New Roman" pitchFamily="18" charset="0"/>
              </a:rPr>
              <a:t>If (</a:t>
            </a:r>
            <a:r>
              <a:rPr lang="en-US" sz="2400" dirty="0" err="1">
                <a:latin typeface="Times New Roman" pitchFamily="18" charset="0"/>
                <a:cs typeface="Times New Roman" pitchFamily="18" charset="0"/>
              </a:rPr>
              <a:t>boolean_expression</a:t>
            </a:r>
            <a:r>
              <a:rPr lang="en-US" sz="2400" dirty="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 { </a:t>
            </a:r>
          </a:p>
          <a:p>
            <a:pPr>
              <a:buNone/>
            </a:pPr>
            <a:r>
              <a:rPr lang="en-US" sz="2400" dirty="0">
                <a:latin typeface="Times New Roman" pitchFamily="18" charset="0"/>
                <a:cs typeface="Times New Roman" pitchFamily="18" charset="0"/>
              </a:rPr>
              <a:t>/* statement(s) will execute if the </a:t>
            </a:r>
            <a:r>
              <a:rPr lang="en-US" sz="2400" dirty="0" err="1">
                <a:latin typeface="Times New Roman" pitchFamily="18" charset="0"/>
                <a:cs typeface="Times New Roman" pitchFamily="18" charset="0"/>
              </a:rPr>
              <a:t>boolean</a:t>
            </a:r>
            <a:r>
              <a:rPr lang="en-US" sz="2400" dirty="0">
                <a:latin typeface="Times New Roman" pitchFamily="18" charset="0"/>
                <a:cs typeface="Times New Roman" pitchFamily="18" charset="0"/>
              </a:rPr>
              <a:t> expression is true */ </a:t>
            </a:r>
          </a:p>
          <a:p>
            <a:pPr>
              <a:buNone/>
            </a:pPr>
            <a:r>
              <a:rPr lang="en-US" sz="2400" dirty="0">
                <a:latin typeface="Times New Roman" pitchFamily="18" charset="0"/>
                <a:cs typeface="Times New Roman" pitchFamily="18" charset="0"/>
              </a:rPr>
              <a:t>}</a:t>
            </a: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itchFamily="2" charset="2"/>
              <a:buChar char="Ø"/>
            </a:pPr>
            <a:r>
              <a:rPr lang="en-US" sz="2600" dirty="0">
                <a:latin typeface="Times New Roman" pitchFamily="18" charset="0"/>
                <a:cs typeface="Times New Roman" pitchFamily="18" charset="0"/>
              </a:rPr>
              <a:t>If the Boolean expression evaluates to </a:t>
            </a:r>
            <a:r>
              <a:rPr lang="en-US" sz="2600" b="1" dirty="0">
                <a:latin typeface="Times New Roman" pitchFamily="18" charset="0"/>
                <a:cs typeface="Times New Roman" pitchFamily="18" charset="0"/>
              </a:rPr>
              <a:t>true</a:t>
            </a:r>
            <a:r>
              <a:rPr lang="en-US" sz="2600" dirty="0">
                <a:latin typeface="Times New Roman" pitchFamily="18" charset="0"/>
                <a:cs typeface="Times New Roman" pitchFamily="18" charset="0"/>
              </a:rPr>
              <a:t>, then the block of code inside the 'if' statement will be executed. </a:t>
            </a:r>
          </a:p>
          <a:p>
            <a:pPr>
              <a:buFont typeface="Wingdings" pitchFamily="2" charset="2"/>
              <a:buChar char="Ø"/>
            </a:pPr>
            <a:endParaRPr lang="en-US" sz="2600" dirty="0">
              <a:latin typeface="Times New Roman" pitchFamily="18" charset="0"/>
              <a:cs typeface="Times New Roman" pitchFamily="18" charset="0"/>
            </a:endParaRPr>
          </a:p>
          <a:p>
            <a:pPr>
              <a:buFont typeface="Wingdings" pitchFamily="2" charset="2"/>
              <a:buChar char="Ø"/>
            </a:pPr>
            <a:r>
              <a:rPr lang="en-US" sz="2600" dirty="0">
                <a:latin typeface="Times New Roman" pitchFamily="18" charset="0"/>
                <a:cs typeface="Times New Roman" pitchFamily="18" charset="0"/>
              </a:rPr>
              <a:t>If the Boolean expression evaluates to </a:t>
            </a:r>
            <a:r>
              <a:rPr lang="en-US" sz="2600" b="1" dirty="0">
                <a:latin typeface="Times New Roman" pitchFamily="18" charset="0"/>
                <a:cs typeface="Times New Roman" pitchFamily="18" charset="0"/>
              </a:rPr>
              <a:t>false</a:t>
            </a:r>
            <a:r>
              <a:rPr lang="en-US" sz="2600" dirty="0">
                <a:latin typeface="Times New Roman" pitchFamily="18" charset="0"/>
                <a:cs typeface="Times New Roman" pitchFamily="18" charset="0"/>
              </a:rPr>
              <a:t>, then the first set of code after the end of the 'if' statement (after the closing curly brace) will be executed.</a:t>
            </a:r>
          </a:p>
          <a:p>
            <a:pPr>
              <a:buNone/>
            </a:pPr>
            <a:endParaRPr lang="en-US" sz="2600" dirty="0">
              <a:latin typeface="Times New Roman" pitchFamily="18" charset="0"/>
              <a:cs typeface="Times New Roman" pitchFamily="18" charset="0"/>
            </a:endParaRPr>
          </a:p>
          <a:p>
            <a:pPr>
              <a:buFont typeface="Wingdings" pitchFamily="2" charset="2"/>
              <a:buChar char="Ø"/>
            </a:pPr>
            <a:r>
              <a:rPr lang="en-US" sz="2600" dirty="0">
                <a:latin typeface="Times New Roman" pitchFamily="18" charset="0"/>
                <a:cs typeface="Times New Roman" pitchFamily="18" charset="0"/>
              </a:rPr>
              <a:t>C programming language assumes any </a:t>
            </a:r>
            <a:r>
              <a:rPr lang="en-US" sz="2600" b="1" dirty="0">
                <a:latin typeface="Times New Roman" pitchFamily="18" charset="0"/>
                <a:cs typeface="Times New Roman" pitchFamily="18" charset="0"/>
              </a:rPr>
              <a:t>non-zero</a:t>
            </a:r>
            <a:r>
              <a:rPr lang="en-US" sz="2600" dirty="0">
                <a:latin typeface="Times New Roman" pitchFamily="18" charset="0"/>
                <a:cs typeface="Times New Roman" pitchFamily="18" charset="0"/>
              </a:rPr>
              <a:t> and </a:t>
            </a:r>
            <a:r>
              <a:rPr lang="en-US" sz="2600" b="1" dirty="0">
                <a:latin typeface="Times New Roman" pitchFamily="18" charset="0"/>
                <a:cs typeface="Times New Roman" pitchFamily="18" charset="0"/>
              </a:rPr>
              <a:t>non-null</a:t>
            </a:r>
            <a:r>
              <a:rPr lang="en-US" sz="2600" dirty="0">
                <a:latin typeface="Times New Roman" pitchFamily="18" charset="0"/>
                <a:cs typeface="Times New Roman" pitchFamily="18" charset="0"/>
              </a:rPr>
              <a:t> values as </a:t>
            </a:r>
            <a:r>
              <a:rPr lang="en-US" sz="2600" b="1" dirty="0">
                <a:latin typeface="Times New Roman" pitchFamily="18" charset="0"/>
                <a:cs typeface="Times New Roman" pitchFamily="18" charset="0"/>
              </a:rPr>
              <a:t>true</a:t>
            </a:r>
            <a:r>
              <a:rPr lang="en-US" sz="2600" dirty="0">
                <a:latin typeface="Times New Roman" pitchFamily="18" charset="0"/>
                <a:cs typeface="Times New Roman" pitchFamily="18" charset="0"/>
              </a:rPr>
              <a:t> and if it is either </a:t>
            </a:r>
            <a:r>
              <a:rPr lang="en-US" sz="2600" b="1" dirty="0">
                <a:latin typeface="Times New Roman" pitchFamily="18" charset="0"/>
                <a:cs typeface="Times New Roman" pitchFamily="18" charset="0"/>
              </a:rPr>
              <a:t>zero</a:t>
            </a:r>
            <a:r>
              <a:rPr lang="en-US" sz="2600" dirty="0">
                <a:latin typeface="Times New Roman" pitchFamily="18" charset="0"/>
                <a:cs typeface="Times New Roman" pitchFamily="18" charset="0"/>
              </a:rPr>
              <a:t> or </a:t>
            </a:r>
            <a:r>
              <a:rPr lang="en-US" sz="2600" b="1" dirty="0">
                <a:latin typeface="Times New Roman" pitchFamily="18" charset="0"/>
                <a:cs typeface="Times New Roman" pitchFamily="18" charset="0"/>
              </a:rPr>
              <a:t>null</a:t>
            </a:r>
            <a:r>
              <a:rPr lang="en-US" sz="2600" dirty="0">
                <a:latin typeface="Times New Roman" pitchFamily="18" charset="0"/>
                <a:cs typeface="Times New Roman" pitchFamily="18" charset="0"/>
              </a:rPr>
              <a:t>, then it is assumed as </a:t>
            </a:r>
            <a:r>
              <a:rPr lang="en-US" sz="2600" b="1" dirty="0">
                <a:latin typeface="Times New Roman" pitchFamily="18" charset="0"/>
                <a:cs typeface="Times New Roman" pitchFamily="18" charset="0"/>
              </a:rPr>
              <a:t>false</a:t>
            </a:r>
            <a:r>
              <a:rPr lang="en-US" sz="2600" dirty="0">
                <a:latin typeface="Times New Roman" pitchFamily="18" charset="0"/>
                <a:cs typeface="Times New Roman" pitchFamily="18" charset="0"/>
              </a:rPr>
              <a:t> value.</a:t>
            </a:r>
          </a:p>
          <a:p>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2"/>
          <a:srcRect/>
          <a:stretch>
            <a:fillRect/>
          </a:stretch>
        </p:blipFill>
        <p:spPr bwMode="auto">
          <a:xfrm>
            <a:off x="609600" y="838200"/>
            <a:ext cx="7772400" cy="5715000"/>
          </a:xfrm>
          <a:prstGeom prst="rect">
            <a:avLst/>
          </a:prstGeom>
          <a:noFill/>
          <a:ln w="9525">
            <a:noFill/>
            <a:miter lim="800000"/>
            <a:headEnd/>
            <a:tailEnd/>
          </a:ln>
          <a:effectLst/>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dirty="0">
                <a:latin typeface="Times New Roman" pitchFamily="18" charset="0"/>
                <a:cs typeface="Times New Roman" pitchFamily="18" charset="0"/>
              </a:rPr>
              <a:t>#include &lt;</a:t>
            </a:r>
            <a:r>
              <a:rPr lang="en-US" sz="2400" dirty="0" err="1">
                <a:latin typeface="Times New Roman" pitchFamily="18" charset="0"/>
                <a:cs typeface="Times New Roman" pitchFamily="18" charset="0"/>
              </a:rPr>
              <a:t>stdio.h</a:t>
            </a:r>
            <a:r>
              <a:rPr lang="en-US" sz="2400" dirty="0">
                <a:latin typeface="Times New Roman" pitchFamily="18" charset="0"/>
                <a:cs typeface="Times New Roman" pitchFamily="18" charset="0"/>
              </a:rPr>
              <a:t>&gt; </a:t>
            </a:r>
          </a:p>
          <a:p>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main ()</a:t>
            </a:r>
          </a:p>
          <a:p>
            <a:r>
              <a:rPr lang="en-US" sz="2400" dirty="0">
                <a:latin typeface="Times New Roman" pitchFamily="18" charset="0"/>
                <a:cs typeface="Times New Roman" pitchFamily="18" charset="0"/>
              </a:rPr>
              <a:t> { /* local variable definition */</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a = 10;            /* check the </a:t>
            </a:r>
            <a:r>
              <a:rPr lang="en-US" sz="2400" dirty="0" err="1">
                <a:latin typeface="Times New Roman" pitchFamily="18" charset="0"/>
                <a:cs typeface="Times New Roman" pitchFamily="18" charset="0"/>
              </a:rPr>
              <a:t>boolean</a:t>
            </a:r>
            <a:r>
              <a:rPr lang="en-US" sz="2400" dirty="0">
                <a:latin typeface="Times New Roman" pitchFamily="18" charset="0"/>
                <a:cs typeface="Times New Roman" pitchFamily="18" charset="0"/>
              </a:rPr>
              <a:t> condition using if      statement */ </a:t>
            </a:r>
          </a:p>
          <a:p>
            <a:r>
              <a:rPr lang="en-US" sz="2400" dirty="0">
                <a:latin typeface="Times New Roman" pitchFamily="18" charset="0"/>
                <a:cs typeface="Times New Roman" pitchFamily="18" charset="0"/>
              </a:rPr>
              <a:t>if( a &lt; 20 )</a:t>
            </a:r>
          </a:p>
          <a:p>
            <a:r>
              <a:rPr lang="en-US" sz="2400" dirty="0">
                <a:latin typeface="Times New Roman" pitchFamily="18" charset="0"/>
                <a:cs typeface="Times New Roman" pitchFamily="18" charset="0"/>
              </a:rPr>
              <a:t> {                  /* if condition is true then print the following */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("a is less than 20\n" ); </a:t>
            </a:r>
          </a:p>
          <a:p>
            <a:r>
              <a:rPr lang="en-US" sz="2400" dirty="0">
                <a:latin typeface="Times New Roman" pitchFamily="18" charset="0"/>
                <a:cs typeface="Times New Roman" pitchFamily="18" charset="0"/>
              </a:rPr>
              <a:t>} </a:t>
            </a:r>
          </a:p>
          <a:p>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("value of a is : %d\n", a); </a:t>
            </a:r>
          </a:p>
          <a:p>
            <a:r>
              <a:rPr lang="en-US" sz="2400" dirty="0">
                <a:latin typeface="Times New Roman" pitchFamily="18" charset="0"/>
                <a:cs typeface="Times New Roman" pitchFamily="18" charset="0"/>
              </a:rPr>
              <a:t>return 0; </a:t>
            </a:r>
          </a:p>
          <a:p>
            <a:r>
              <a:rPr lang="en-US" sz="2400" dirty="0">
                <a:latin typeface="Times New Roman" pitchFamily="18" charset="0"/>
                <a:cs typeface="Times New Roman" pitchFamily="18" charset="0"/>
              </a:rPr>
              <a: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457200" y="1066800"/>
            <a:ext cx="8001000" cy="5562600"/>
          </a:xfrm>
          <a:prstGeom prst="rect">
            <a:avLst/>
          </a:prstGeom>
          <a:noFill/>
          <a:ln w="9525">
            <a:noFill/>
            <a:miter lim="800000"/>
            <a:headEnd/>
            <a:tailEnd/>
          </a:ln>
          <a:effectLst/>
        </p:spPr>
      </p:pic>
      <p:sp>
        <p:nvSpPr>
          <p:cNvPr id="5" name="TextBox 4"/>
          <p:cNvSpPr txBox="1"/>
          <p:nvPr/>
        </p:nvSpPr>
        <p:spPr>
          <a:xfrm>
            <a:off x="381000" y="457200"/>
            <a:ext cx="8229600" cy="400110"/>
          </a:xfrm>
          <a:prstGeom prst="rect">
            <a:avLst/>
          </a:prstGeom>
          <a:noFill/>
        </p:spPr>
        <p:txBody>
          <a:bodyPr wrap="square" rtlCol="0">
            <a:spAutoFit/>
          </a:bodyPr>
          <a:lstStyle/>
          <a:p>
            <a:r>
              <a:rPr lang="en-US" sz="2000" dirty="0">
                <a:solidFill>
                  <a:srgbClr val="FF0000"/>
                </a:solidFill>
                <a:latin typeface="Times New Roman" pitchFamily="18" charset="0"/>
                <a:cs typeface="Times New Roman" pitchFamily="18" charset="0"/>
              </a:rPr>
              <a:t>Example on Multiple If statement </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If-else Statement</a:t>
            </a:r>
            <a:br>
              <a:rPr lang="en-US" sz="2800" dirty="0">
                <a:solidFill>
                  <a:srgbClr val="FF0000"/>
                </a:solidFill>
                <a:latin typeface="Times New Roman" pitchFamily="18" charset="0"/>
                <a:cs typeface="Times New Roman" pitchFamily="18" charset="0"/>
              </a:rPr>
            </a:b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The if-else statement is used to perform two operations for a single condition. </a:t>
            </a:r>
          </a:p>
          <a:p>
            <a:r>
              <a:rPr lang="en-US" sz="2400" dirty="0">
                <a:latin typeface="Times New Roman" pitchFamily="18" charset="0"/>
                <a:cs typeface="Times New Roman" pitchFamily="18" charset="0"/>
              </a:rPr>
              <a:t>The if-else statement is an extension to the if statement using which, we can perform two different operations, i.e., one is for the correctness of that condition, and the other is for the incorrectness of the condition. </a:t>
            </a:r>
          </a:p>
          <a:p>
            <a:r>
              <a:rPr lang="en-US" sz="2400" dirty="0">
                <a:latin typeface="Times New Roman" pitchFamily="18" charset="0"/>
                <a:cs typeface="Times New Roman" pitchFamily="18" charset="0"/>
              </a:rPr>
              <a:t>Here, we must notice that if and else block cannot be executed </a:t>
            </a:r>
            <a:r>
              <a:rPr lang="en-US" sz="2400" dirty="0" err="1">
                <a:latin typeface="Times New Roman" pitchFamily="18" charset="0"/>
                <a:cs typeface="Times New Roman" pitchFamily="18" charset="0"/>
              </a:rPr>
              <a:t>simiulteneously</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Using if-else statement is always preferable since it always invokes an otherwise case with every if condition. </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a:solidFill>
                  <a:srgbClr val="FF0000"/>
                </a:solidFill>
                <a:latin typeface="Times New Roman" pitchFamily="18" charset="0"/>
                <a:cs typeface="Times New Roman" pitchFamily="18" charset="0"/>
              </a:rPr>
              <a:t>Syntax:</a:t>
            </a:r>
          </a:p>
          <a:p>
            <a:pPr>
              <a:buNone/>
            </a:pPr>
            <a:endParaRPr lang="en-US" dirty="0">
              <a:solidFill>
                <a:srgbClr val="FF0000"/>
              </a:solidFill>
              <a:latin typeface="Times New Roman" pitchFamily="18" charset="0"/>
              <a:cs typeface="Times New Roman" pitchFamily="18" charset="0"/>
            </a:endParaRPr>
          </a:p>
          <a:p>
            <a:pPr>
              <a:buNone/>
            </a:pPr>
            <a:r>
              <a:rPr lang="en-US" sz="2800" b="1" dirty="0">
                <a:latin typeface="Times New Roman" pitchFamily="18" charset="0"/>
                <a:cs typeface="Times New Roman" pitchFamily="18" charset="0"/>
              </a:rPr>
              <a:t>if</a:t>
            </a:r>
            <a:r>
              <a:rPr lang="en-US" sz="2800" dirty="0">
                <a:latin typeface="Times New Roman" pitchFamily="18" charset="0"/>
                <a:cs typeface="Times New Roman" pitchFamily="18" charset="0"/>
              </a:rPr>
              <a:t>(expression)</a:t>
            </a:r>
          </a:p>
          <a:p>
            <a:pPr>
              <a:buNone/>
            </a:pPr>
            <a:r>
              <a:rPr lang="en-US" sz="2800" dirty="0">
                <a:latin typeface="Times New Roman" pitchFamily="18" charset="0"/>
                <a:cs typeface="Times New Roman" pitchFamily="18" charset="0"/>
              </a:rPr>
              <a:t>{  </a:t>
            </a:r>
          </a:p>
          <a:p>
            <a:r>
              <a:rPr lang="en-US" sz="2800" dirty="0">
                <a:latin typeface="Times New Roman" pitchFamily="18" charset="0"/>
                <a:cs typeface="Times New Roman" pitchFamily="18" charset="0"/>
              </a:rPr>
              <a:t>//code to be executed if condition is true  </a:t>
            </a:r>
          </a:p>
          <a:p>
            <a:pPr>
              <a:buNone/>
            </a:pPr>
            <a:r>
              <a:rPr lang="en-US" sz="2800" dirty="0">
                <a:latin typeface="Times New Roman" pitchFamily="18" charset="0"/>
                <a:cs typeface="Times New Roman" pitchFamily="18" charset="0"/>
              </a:rPr>
              <a:t>}</a:t>
            </a:r>
          </a:p>
          <a:p>
            <a:pPr>
              <a:buNone/>
            </a:pPr>
            <a:r>
              <a:rPr lang="en-US" sz="2800" b="1" dirty="0">
                <a:latin typeface="Times New Roman" pitchFamily="18" charset="0"/>
                <a:cs typeface="Times New Roman" pitchFamily="18" charset="0"/>
              </a:rPr>
              <a:t>Else</a:t>
            </a:r>
          </a:p>
          <a:p>
            <a:pPr>
              <a:buNone/>
            </a:pPr>
            <a:r>
              <a:rPr lang="en-US" sz="2800" dirty="0">
                <a:latin typeface="Times New Roman" pitchFamily="18" charset="0"/>
                <a:cs typeface="Times New Roman" pitchFamily="18" charset="0"/>
              </a:rPr>
              <a:t>{  </a:t>
            </a:r>
          </a:p>
          <a:p>
            <a:r>
              <a:rPr lang="en-US" sz="2800" dirty="0">
                <a:latin typeface="Times New Roman" pitchFamily="18" charset="0"/>
                <a:cs typeface="Times New Roman" pitchFamily="18" charset="0"/>
              </a:rPr>
              <a:t>//code to be executed if condition is false  </a:t>
            </a:r>
          </a:p>
          <a:p>
            <a:pPr>
              <a:buNone/>
            </a:pPr>
            <a:r>
              <a:rPr lang="en-US" sz="2800" dirty="0">
                <a:latin typeface="Times New Roman" pitchFamily="18" charset="0"/>
                <a:cs typeface="Times New Roman" pitchFamily="18" charset="0"/>
              </a:rPr>
              <a:t>}  </a:t>
            </a:r>
          </a:p>
          <a:p>
            <a:pPr>
              <a:buNone/>
            </a:pPr>
            <a:endParaRPr lang="en-US" sz="2800" dirty="0">
              <a:solidFill>
                <a:srgbClr val="FF0000"/>
              </a:solidFill>
              <a:latin typeface="Times New Roman" pitchFamily="18" charset="0"/>
              <a:cs typeface="Times New Roman" pitchFamily="18"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Flow Chart:</a:t>
            </a:r>
          </a:p>
        </p:txBody>
      </p:sp>
      <p:pic>
        <p:nvPicPr>
          <p:cNvPr id="3074" name="Picture 2"/>
          <p:cNvPicPr>
            <a:picLocks noGrp="1" noChangeAspect="1" noChangeArrowheads="1"/>
          </p:cNvPicPr>
          <p:nvPr>
            <p:ph idx="1"/>
          </p:nvPr>
        </p:nvPicPr>
        <p:blipFill>
          <a:blip r:embed="rId2"/>
          <a:srcRect/>
          <a:stretch>
            <a:fillRect/>
          </a:stretch>
        </p:blipFill>
        <p:spPr bwMode="auto">
          <a:xfrm>
            <a:off x="457200" y="1600200"/>
            <a:ext cx="8077199" cy="4953000"/>
          </a:xfrm>
          <a:prstGeom prst="rect">
            <a:avLst/>
          </a:prstGeom>
          <a:noFill/>
          <a:ln w="9525">
            <a:noFill/>
            <a:miter lim="800000"/>
            <a:headEnd/>
            <a:tailEnd/>
          </a:ln>
          <a:effectLst/>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latin typeface="Times New Roman" pitchFamily="18" charset="0"/>
                <a:cs typeface="Times New Roman" pitchFamily="18" charset="0"/>
              </a:rPr>
              <a:t>Example on if-else: Program to check whether a person is eligible to vote or not.</a:t>
            </a:r>
            <a:br>
              <a:rPr lang="en-US" sz="2800" dirty="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r>
              <a:rPr lang="en-US" dirty="0"/>
              <a:t>#include &lt;</a:t>
            </a:r>
            <a:r>
              <a:rPr lang="en-US" dirty="0" err="1"/>
              <a:t>stdio.h</a:t>
            </a:r>
            <a:r>
              <a:rPr lang="en-US" dirty="0"/>
              <a:t>&gt;  </a:t>
            </a:r>
          </a:p>
          <a:p>
            <a:r>
              <a:rPr lang="en-US" b="1" dirty="0" err="1"/>
              <a:t>int</a:t>
            </a:r>
            <a:r>
              <a:rPr lang="en-US" dirty="0"/>
              <a:t> main()  </a:t>
            </a:r>
          </a:p>
          <a:p>
            <a:r>
              <a:rPr lang="en-US" dirty="0"/>
              <a:t>{  </a:t>
            </a:r>
          </a:p>
          <a:p>
            <a:r>
              <a:rPr lang="en-US" dirty="0"/>
              <a:t>    </a:t>
            </a:r>
            <a:r>
              <a:rPr lang="en-US" b="1" dirty="0" err="1"/>
              <a:t>int</a:t>
            </a:r>
            <a:r>
              <a:rPr lang="en-US" dirty="0"/>
              <a:t> age;   </a:t>
            </a:r>
          </a:p>
          <a:p>
            <a:r>
              <a:rPr lang="en-US" dirty="0"/>
              <a:t>    </a:t>
            </a:r>
            <a:r>
              <a:rPr lang="en-US" dirty="0" err="1"/>
              <a:t>printf</a:t>
            </a:r>
            <a:r>
              <a:rPr lang="en-US" dirty="0"/>
              <a:t>("Enter your age?");   </a:t>
            </a:r>
          </a:p>
          <a:p>
            <a:r>
              <a:rPr lang="en-US" dirty="0"/>
              <a:t>    </a:t>
            </a:r>
            <a:r>
              <a:rPr lang="en-US" dirty="0" err="1"/>
              <a:t>scanf</a:t>
            </a:r>
            <a:r>
              <a:rPr lang="en-US" dirty="0"/>
              <a:t>("%</a:t>
            </a:r>
            <a:r>
              <a:rPr lang="en-US" dirty="0" err="1"/>
              <a:t>d",&amp;age</a:t>
            </a:r>
            <a:r>
              <a:rPr lang="en-US" dirty="0"/>
              <a:t>);  </a:t>
            </a:r>
          </a:p>
          <a:p>
            <a:r>
              <a:rPr lang="en-US" dirty="0"/>
              <a:t>    </a:t>
            </a:r>
            <a:r>
              <a:rPr lang="en-US" b="1" dirty="0"/>
              <a:t>if</a:t>
            </a:r>
            <a:r>
              <a:rPr lang="en-US" dirty="0"/>
              <a:t>(age&gt;=18)  </a:t>
            </a:r>
          </a:p>
          <a:p>
            <a:r>
              <a:rPr lang="en-US" dirty="0"/>
              <a:t>    {  </a:t>
            </a:r>
          </a:p>
          <a:p>
            <a:r>
              <a:rPr lang="en-US" dirty="0"/>
              <a:t>        </a:t>
            </a:r>
            <a:r>
              <a:rPr lang="en-US" dirty="0" err="1"/>
              <a:t>printf</a:t>
            </a:r>
            <a:r>
              <a:rPr lang="en-US" dirty="0"/>
              <a:t>("You are eligible to vote...");   </a:t>
            </a:r>
          </a:p>
          <a:p>
            <a:r>
              <a:rPr lang="en-US" dirty="0"/>
              <a:t>    }  </a:t>
            </a:r>
          </a:p>
          <a:p>
            <a:r>
              <a:rPr lang="en-US" dirty="0"/>
              <a:t>    </a:t>
            </a:r>
            <a:r>
              <a:rPr lang="en-US" b="1" dirty="0"/>
              <a:t>else</a:t>
            </a:r>
            <a:r>
              <a:rPr lang="en-US" dirty="0"/>
              <a:t>   </a:t>
            </a:r>
          </a:p>
          <a:p>
            <a:r>
              <a:rPr lang="en-US" dirty="0"/>
              <a:t>    {  </a:t>
            </a:r>
          </a:p>
          <a:p>
            <a:r>
              <a:rPr lang="en-US" dirty="0"/>
              <a:t>        </a:t>
            </a:r>
            <a:r>
              <a:rPr lang="en-US" dirty="0" err="1"/>
              <a:t>printf</a:t>
            </a:r>
            <a:r>
              <a:rPr lang="en-US" dirty="0"/>
              <a:t>("Sorry ... you can't vote");   </a:t>
            </a:r>
          </a:p>
          <a:p>
            <a:r>
              <a:rPr lang="en-US" dirty="0"/>
              <a:t>    }  </a:t>
            </a:r>
          </a:p>
          <a:p>
            <a:r>
              <a:rPr lang="en-US" dirty="0"/>
              <a:t>}  </a:t>
            </a:r>
          </a:p>
          <a:p>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If else-if ladder Statement</a:t>
            </a:r>
            <a:br>
              <a:rPr lang="en-US" sz="3200" dirty="0">
                <a:solidFill>
                  <a:srgbClr val="FF0000"/>
                </a:solidFill>
                <a:latin typeface="Times New Roman" pitchFamily="18" charset="0"/>
                <a:cs typeface="Times New Roman" pitchFamily="18" charset="0"/>
              </a:rPr>
            </a:br>
            <a:endParaRPr lang="en-US" sz="32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983163"/>
          </a:xfrm>
        </p:spPr>
        <p:txBody>
          <a:bodyPr>
            <a:normAutofit/>
          </a:bodyPr>
          <a:lstStyle/>
          <a:p>
            <a:r>
              <a:rPr lang="en-US" sz="2400" dirty="0">
                <a:latin typeface="Times New Roman" pitchFamily="18" charset="0"/>
                <a:cs typeface="Times New Roman" pitchFamily="18" charset="0"/>
              </a:rPr>
              <a:t>The if-else-if ladder statement is an extension to the if-else statement. It is used in the scenario where there are multiple cases to be performed for different conditions.</a:t>
            </a:r>
          </a:p>
          <a:p>
            <a:r>
              <a:rPr lang="en-US" sz="2400" dirty="0">
                <a:latin typeface="Times New Roman" pitchFamily="18" charset="0"/>
                <a:cs typeface="Times New Roman" pitchFamily="18" charset="0"/>
              </a:rPr>
              <a:t> In if-else-if ladder statement, if a condition is true then the statements defined in the if block will be executed, otherwise if some other condition is true then the statements defined in the else-if block will be executed, at the last if none of the condition is true then the statements defined in the else block will be executed. </a:t>
            </a:r>
          </a:p>
          <a:p>
            <a:r>
              <a:rPr lang="en-US" sz="2400" dirty="0">
                <a:latin typeface="Times New Roman" pitchFamily="18" charset="0"/>
                <a:cs typeface="Times New Roman" pitchFamily="18" charset="0"/>
              </a:rPr>
              <a:t>There are multiple else-if blocks possible. It is similar to the switch case statement where the default is executed instead of else block if none of the cases is matched.</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a:buNone/>
            </a:pPr>
            <a:r>
              <a:rPr lang="en-US" b="1" dirty="0"/>
              <a:t>if</a:t>
            </a:r>
            <a:r>
              <a:rPr lang="en-US" dirty="0"/>
              <a:t>(condition1)</a:t>
            </a:r>
          </a:p>
          <a:p>
            <a:pPr>
              <a:buNone/>
            </a:pPr>
            <a:r>
              <a:rPr lang="en-US" dirty="0"/>
              <a:t>{  </a:t>
            </a:r>
          </a:p>
          <a:p>
            <a:pPr>
              <a:buNone/>
            </a:pPr>
            <a:r>
              <a:rPr lang="en-US" dirty="0"/>
              <a:t>                                                          //code to be executed if condition1 is true  </a:t>
            </a:r>
          </a:p>
          <a:p>
            <a:pPr>
              <a:buNone/>
            </a:pPr>
            <a:r>
              <a:rPr lang="en-US" dirty="0"/>
              <a:t>}</a:t>
            </a:r>
          </a:p>
          <a:p>
            <a:pPr>
              <a:buNone/>
            </a:pPr>
            <a:r>
              <a:rPr lang="en-US" b="1" dirty="0"/>
              <a:t>else</a:t>
            </a:r>
            <a:r>
              <a:rPr lang="en-US" dirty="0"/>
              <a:t> </a:t>
            </a:r>
            <a:r>
              <a:rPr lang="en-US" b="1" dirty="0"/>
              <a:t>if</a:t>
            </a:r>
            <a:r>
              <a:rPr lang="en-US" dirty="0"/>
              <a:t>(condition2)</a:t>
            </a:r>
          </a:p>
          <a:p>
            <a:pPr>
              <a:buNone/>
            </a:pPr>
            <a:r>
              <a:rPr lang="en-US" dirty="0"/>
              <a:t>{  </a:t>
            </a:r>
          </a:p>
          <a:p>
            <a:pPr>
              <a:buNone/>
            </a:pPr>
            <a:r>
              <a:rPr lang="en-US" dirty="0"/>
              <a:t>                                                              //code to be executed if condition2 is true  </a:t>
            </a:r>
          </a:p>
          <a:p>
            <a:pPr>
              <a:buNone/>
            </a:pPr>
            <a:r>
              <a:rPr lang="en-US" dirty="0"/>
              <a:t>}  </a:t>
            </a:r>
          </a:p>
          <a:p>
            <a:pPr>
              <a:buNone/>
            </a:pPr>
            <a:r>
              <a:rPr lang="en-US" b="1" dirty="0"/>
              <a:t>else</a:t>
            </a:r>
            <a:r>
              <a:rPr lang="en-US" dirty="0"/>
              <a:t> </a:t>
            </a:r>
            <a:r>
              <a:rPr lang="en-US" b="1" dirty="0"/>
              <a:t>if</a:t>
            </a:r>
            <a:r>
              <a:rPr lang="en-US" dirty="0"/>
              <a:t>(condition3)</a:t>
            </a:r>
          </a:p>
          <a:p>
            <a:pPr>
              <a:buNone/>
            </a:pPr>
            <a:r>
              <a:rPr lang="en-US" dirty="0"/>
              <a:t>{  </a:t>
            </a:r>
          </a:p>
          <a:p>
            <a:pPr>
              <a:buNone/>
            </a:pPr>
            <a:r>
              <a:rPr lang="en-US" dirty="0"/>
              <a:t>                                                               //code to be executed if condition3 is true  </a:t>
            </a:r>
          </a:p>
          <a:p>
            <a:pPr>
              <a:buNone/>
            </a:pPr>
            <a:r>
              <a:rPr lang="en-US" dirty="0"/>
              <a:t>}    </a:t>
            </a:r>
          </a:p>
          <a:p>
            <a:pPr>
              <a:buNone/>
            </a:pPr>
            <a:r>
              <a:rPr lang="en-US" b="1" dirty="0"/>
              <a:t>Else</a:t>
            </a:r>
          </a:p>
          <a:p>
            <a:pPr>
              <a:buNone/>
            </a:pPr>
            <a:r>
              <a:rPr lang="en-US" dirty="0"/>
              <a:t>{  </a:t>
            </a:r>
          </a:p>
          <a:p>
            <a:pPr>
              <a:buNone/>
            </a:pPr>
            <a:r>
              <a:rPr lang="en-US" dirty="0"/>
              <a:t>                                                          //code to be executed if all the conditions are false  </a:t>
            </a:r>
          </a:p>
          <a:p>
            <a:pPr>
              <a:buNone/>
            </a:pPr>
            <a:r>
              <a:rPr lang="en-US" dirty="0"/>
              <a:t>}  </a:t>
            </a:r>
          </a:p>
          <a:p>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381000" y="304800"/>
            <a:ext cx="8534400" cy="5867400"/>
          </a:xfrm>
          <a:prstGeom prst="rect">
            <a:avLst/>
          </a:prstGeom>
          <a:noFill/>
          <a:ln w="9525">
            <a:noFill/>
            <a:miter lim="800000"/>
            <a:headEnd/>
            <a:tailEnd/>
          </a:ln>
          <a:effectLst/>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7449" y="68053"/>
            <a:ext cx="8229600" cy="6172200"/>
          </a:xfrm>
        </p:spPr>
        <p:txBody>
          <a:bodyPr>
            <a:noAutofit/>
          </a:bodyPr>
          <a:lstStyle/>
          <a:p>
            <a:r>
              <a:rPr lang="en-US" sz="1600" dirty="0">
                <a:latin typeface="Times New Roman" pitchFamily="18" charset="0"/>
                <a:cs typeface="Times New Roman" pitchFamily="18" charset="0"/>
              </a:rPr>
              <a:t>#include&lt;</a:t>
            </a:r>
            <a:r>
              <a:rPr lang="en-US" sz="1600" dirty="0" err="1">
                <a:latin typeface="Times New Roman" pitchFamily="18" charset="0"/>
                <a:cs typeface="Times New Roman" pitchFamily="18" charset="0"/>
              </a:rPr>
              <a:t>stdio.h</a:t>
            </a:r>
            <a:r>
              <a:rPr lang="en-US" sz="1600" dirty="0">
                <a:latin typeface="Times New Roman" pitchFamily="18" charset="0"/>
                <a:cs typeface="Times New Roman" pitchFamily="18" charset="0"/>
              </a:rPr>
              <a:t>&gt;    </a:t>
            </a:r>
          </a:p>
          <a:p>
            <a:r>
              <a:rPr lang="en-US" sz="1600" b="1" dirty="0" err="1">
                <a:latin typeface="Times New Roman" pitchFamily="18" charset="0"/>
                <a:cs typeface="Times New Roman" pitchFamily="18" charset="0"/>
              </a:rPr>
              <a:t>int</a:t>
            </a:r>
            <a:r>
              <a:rPr lang="en-US" sz="1600" dirty="0">
                <a:latin typeface="Times New Roman" pitchFamily="18" charset="0"/>
                <a:cs typeface="Times New Roman" pitchFamily="18" charset="0"/>
              </a:rPr>
              <a:t> main()</a:t>
            </a:r>
          </a:p>
          <a:p>
            <a:r>
              <a:rPr lang="en-US" sz="1600" dirty="0">
                <a:latin typeface="Times New Roman" pitchFamily="18" charset="0"/>
                <a:cs typeface="Times New Roman" pitchFamily="18" charset="0"/>
              </a:rPr>
              <a:t>{    </a:t>
            </a:r>
          </a:p>
          <a:p>
            <a:r>
              <a:rPr lang="en-US" sz="1600" b="1" dirty="0" err="1">
                <a:latin typeface="Times New Roman" pitchFamily="18" charset="0"/>
                <a:cs typeface="Times New Roman" pitchFamily="18" charset="0"/>
              </a:rPr>
              <a:t>int</a:t>
            </a:r>
            <a:r>
              <a:rPr lang="en-US" sz="1600" dirty="0">
                <a:latin typeface="Times New Roman" pitchFamily="18" charset="0"/>
                <a:cs typeface="Times New Roman" pitchFamily="18" charset="0"/>
              </a:rPr>
              <a:t> number=0;    </a:t>
            </a:r>
          </a:p>
          <a:p>
            <a:r>
              <a:rPr lang="en-US" sz="1600" dirty="0" err="1">
                <a:latin typeface="Times New Roman" pitchFamily="18" charset="0"/>
                <a:cs typeface="Times New Roman" pitchFamily="18" charset="0"/>
              </a:rPr>
              <a:t>printf</a:t>
            </a:r>
            <a:r>
              <a:rPr lang="en-US" sz="1600" dirty="0">
                <a:latin typeface="Times New Roman" pitchFamily="18" charset="0"/>
                <a:cs typeface="Times New Roman" pitchFamily="18" charset="0"/>
              </a:rPr>
              <a:t>("enter a number:");    </a:t>
            </a:r>
          </a:p>
          <a:p>
            <a:r>
              <a:rPr lang="en-US" sz="1600" dirty="0" err="1">
                <a:latin typeface="Times New Roman" pitchFamily="18" charset="0"/>
                <a:cs typeface="Times New Roman" pitchFamily="18" charset="0"/>
              </a:rPr>
              <a:t>scanf</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d",&amp;number</a:t>
            </a:r>
            <a:r>
              <a:rPr lang="en-US" sz="1600" dirty="0">
                <a:latin typeface="Times New Roman" pitchFamily="18" charset="0"/>
                <a:cs typeface="Times New Roman" pitchFamily="18" charset="0"/>
              </a:rPr>
              <a:t>);     </a:t>
            </a:r>
          </a:p>
          <a:p>
            <a:r>
              <a:rPr lang="en-US" sz="1600" b="1" dirty="0">
                <a:latin typeface="Times New Roman" pitchFamily="18" charset="0"/>
                <a:cs typeface="Times New Roman" pitchFamily="18" charset="0"/>
              </a:rPr>
              <a:t>If </a:t>
            </a:r>
            <a:r>
              <a:rPr lang="en-US" sz="1600" dirty="0">
                <a:latin typeface="Times New Roman" pitchFamily="18" charset="0"/>
                <a:cs typeface="Times New Roman" pitchFamily="18" charset="0"/>
              </a:rPr>
              <a:t>(number==10){    </a:t>
            </a:r>
          </a:p>
          <a:p>
            <a:r>
              <a:rPr lang="en-US" sz="1600" dirty="0" err="1">
                <a:latin typeface="Times New Roman" pitchFamily="18" charset="0"/>
                <a:cs typeface="Times New Roman" pitchFamily="18" charset="0"/>
              </a:rPr>
              <a:t>printf</a:t>
            </a:r>
            <a:r>
              <a:rPr lang="en-US" sz="1600" dirty="0">
                <a:latin typeface="Times New Roman" pitchFamily="18" charset="0"/>
                <a:cs typeface="Times New Roman" pitchFamily="18" charset="0"/>
              </a:rPr>
              <a:t>("number is equals to 10");    </a:t>
            </a:r>
          </a:p>
          <a:p>
            <a:r>
              <a:rPr lang="en-US" sz="1600" dirty="0">
                <a:latin typeface="Times New Roman" pitchFamily="18" charset="0"/>
                <a:cs typeface="Times New Roman" pitchFamily="18" charset="0"/>
              </a:rPr>
              <a:t>}    </a:t>
            </a:r>
          </a:p>
          <a:p>
            <a:r>
              <a:rPr lang="en-US" sz="1600" b="1" dirty="0">
                <a:latin typeface="Times New Roman" pitchFamily="18" charset="0"/>
                <a:cs typeface="Times New Roman" pitchFamily="18" charset="0"/>
              </a:rPr>
              <a:t>else</a:t>
            </a:r>
            <a:r>
              <a:rPr lang="en-US" sz="1600" dirty="0">
                <a:latin typeface="Times New Roman" pitchFamily="18" charset="0"/>
                <a:cs typeface="Times New Roman" pitchFamily="18" charset="0"/>
              </a:rPr>
              <a:t> </a:t>
            </a:r>
            <a:r>
              <a:rPr lang="en-US" sz="1600" b="1" dirty="0">
                <a:latin typeface="Times New Roman" pitchFamily="18" charset="0"/>
                <a:cs typeface="Times New Roman" pitchFamily="18" charset="0"/>
              </a:rPr>
              <a:t>if </a:t>
            </a:r>
            <a:r>
              <a:rPr lang="en-US" sz="1600" dirty="0">
                <a:latin typeface="Times New Roman" pitchFamily="18" charset="0"/>
                <a:cs typeface="Times New Roman" pitchFamily="18" charset="0"/>
              </a:rPr>
              <a:t>(number==50){    </a:t>
            </a:r>
          </a:p>
          <a:p>
            <a:r>
              <a:rPr lang="en-US" sz="1600" dirty="0" err="1">
                <a:latin typeface="Times New Roman" pitchFamily="18" charset="0"/>
                <a:cs typeface="Times New Roman" pitchFamily="18" charset="0"/>
              </a:rPr>
              <a:t>printf</a:t>
            </a:r>
            <a:r>
              <a:rPr lang="en-US" sz="1600" dirty="0">
                <a:latin typeface="Times New Roman" pitchFamily="18" charset="0"/>
                <a:cs typeface="Times New Roman" pitchFamily="18" charset="0"/>
              </a:rPr>
              <a:t>("number is equal to 50");    </a:t>
            </a:r>
          </a:p>
          <a:p>
            <a:r>
              <a:rPr lang="en-US" sz="1600" dirty="0">
                <a:latin typeface="Times New Roman" pitchFamily="18" charset="0"/>
                <a:cs typeface="Times New Roman" pitchFamily="18" charset="0"/>
              </a:rPr>
              <a:t>}    </a:t>
            </a:r>
          </a:p>
          <a:p>
            <a:r>
              <a:rPr lang="en-US" sz="1600" b="1" dirty="0">
                <a:latin typeface="Times New Roman" pitchFamily="18" charset="0"/>
                <a:cs typeface="Times New Roman" pitchFamily="18" charset="0"/>
              </a:rPr>
              <a:t>else</a:t>
            </a:r>
            <a:r>
              <a:rPr lang="en-US" sz="1600" dirty="0">
                <a:latin typeface="Times New Roman" pitchFamily="18" charset="0"/>
                <a:cs typeface="Times New Roman" pitchFamily="18" charset="0"/>
              </a:rPr>
              <a:t> </a:t>
            </a:r>
            <a:r>
              <a:rPr lang="en-US" sz="1600" b="1" dirty="0">
                <a:latin typeface="Times New Roman" pitchFamily="18" charset="0"/>
                <a:cs typeface="Times New Roman" pitchFamily="18" charset="0"/>
              </a:rPr>
              <a:t>if  </a:t>
            </a:r>
            <a:r>
              <a:rPr lang="en-US" sz="1600" dirty="0">
                <a:latin typeface="Times New Roman" pitchFamily="18" charset="0"/>
                <a:cs typeface="Times New Roman" pitchFamily="18" charset="0"/>
              </a:rPr>
              <a:t>(number==100){    </a:t>
            </a:r>
          </a:p>
          <a:p>
            <a:r>
              <a:rPr lang="en-US" sz="1600" dirty="0" err="1">
                <a:latin typeface="Times New Roman" pitchFamily="18" charset="0"/>
                <a:cs typeface="Times New Roman" pitchFamily="18" charset="0"/>
              </a:rPr>
              <a:t>printf</a:t>
            </a:r>
            <a:r>
              <a:rPr lang="en-US" sz="1600" dirty="0">
                <a:latin typeface="Times New Roman" pitchFamily="18" charset="0"/>
                <a:cs typeface="Times New Roman" pitchFamily="18" charset="0"/>
              </a:rPr>
              <a:t>("number is equal to 100");    </a:t>
            </a:r>
          </a:p>
          <a:p>
            <a:r>
              <a:rPr lang="en-US" sz="1600" dirty="0">
                <a:latin typeface="Times New Roman" pitchFamily="18" charset="0"/>
                <a:cs typeface="Times New Roman" pitchFamily="18" charset="0"/>
              </a:rPr>
              <a:t>}    </a:t>
            </a:r>
          </a:p>
          <a:p>
            <a:r>
              <a:rPr lang="en-US" sz="1600" b="1" dirty="0">
                <a:latin typeface="Times New Roman" pitchFamily="18" charset="0"/>
                <a:cs typeface="Times New Roman" pitchFamily="18" charset="0"/>
              </a:rPr>
              <a:t>else</a:t>
            </a:r>
            <a:r>
              <a:rPr lang="en-US" sz="1600" dirty="0">
                <a:latin typeface="Times New Roman" pitchFamily="18" charset="0"/>
                <a:cs typeface="Times New Roman" pitchFamily="18" charset="0"/>
              </a:rPr>
              <a:t>{    </a:t>
            </a:r>
          </a:p>
          <a:p>
            <a:r>
              <a:rPr lang="en-US" sz="1600" dirty="0" err="1">
                <a:latin typeface="Times New Roman" pitchFamily="18" charset="0"/>
                <a:cs typeface="Times New Roman" pitchFamily="18" charset="0"/>
              </a:rPr>
              <a:t>printf</a:t>
            </a:r>
            <a:r>
              <a:rPr lang="en-US" sz="1600" dirty="0">
                <a:latin typeface="Times New Roman" pitchFamily="18" charset="0"/>
                <a:cs typeface="Times New Roman" pitchFamily="18" charset="0"/>
              </a:rPr>
              <a:t>("number is not equal to 10, 50 or 100");    </a:t>
            </a:r>
          </a:p>
          <a:p>
            <a:r>
              <a:rPr lang="en-US" sz="1600" dirty="0">
                <a:latin typeface="Times New Roman" pitchFamily="18" charset="0"/>
                <a:cs typeface="Times New Roman" pitchFamily="18" charset="0"/>
              </a:rPr>
              <a:t>}    </a:t>
            </a:r>
          </a:p>
          <a:p>
            <a:r>
              <a:rPr lang="en-US" sz="1600" b="1" dirty="0">
                <a:latin typeface="Times New Roman" pitchFamily="18" charset="0"/>
                <a:cs typeface="Times New Roman" pitchFamily="18" charset="0"/>
              </a:rPr>
              <a:t>return</a:t>
            </a:r>
            <a:r>
              <a:rPr lang="en-US" sz="1600" dirty="0">
                <a:latin typeface="Times New Roman" pitchFamily="18" charset="0"/>
                <a:cs typeface="Times New Roman" pitchFamily="18" charset="0"/>
              </a:rPr>
              <a:t> 0;  </a:t>
            </a:r>
          </a:p>
          <a:p>
            <a:r>
              <a:rPr lang="en-US" sz="1600" dirty="0">
                <a:latin typeface="Times New Roman" pitchFamily="18" charset="0"/>
                <a:cs typeface="Times New Roman" pitchFamily="18" charset="0"/>
              </a:rPr>
              <a:t>}    </a:t>
            </a:r>
          </a:p>
          <a:p>
            <a:endParaRPr lang="en-US" sz="1800" dirty="0">
              <a:latin typeface="Times New Roman" pitchFamily="18" charset="0"/>
              <a:cs typeface="Times New Roman" pitchFamily="18"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latin typeface="Times New Roman" pitchFamily="18" charset="0"/>
                <a:cs typeface="Times New Roman" pitchFamily="18" charset="0"/>
              </a:rPr>
              <a:t>Nested If</a:t>
            </a:r>
            <a:endParaRPr lang="en-US" dirty="0">
              <a:solidFill>
                <a:srgbClr val="FF0000"/>
              </a:solidFill>
            </a:endParaRP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Nested If in C Programming is placing If Statement inside another IF Statement. </a:t>
            </a:r>
          </a:p>
          <a:p>
            <a:r>
              <a:rPr lang="en-US" sz="2000" dirty="0">
                <a:latin typeface="Times New Roman" pitchFamily="18" charset="0"/>
                <a:cs typeface="Times New Roman" pitchFamily="18" charset="0"/>
              </a:rPr>
              <a:t>Nested If in C is helpful if you want to check the condition inside a </a:t>
            </a:r>
            <a:r>
              <a:rPr lang="en-US" sz="2000" dirty="0" err="1">
                <a:latin typeface="Times New Roman" pitchFamily="18" charset="0"/>
                <a:cs typeface="Times New Roman" pitchFamily="18" charset="0"/>
              </a:rPr>
              <a:t>condtion</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If Else Statement prints different statements based on the expression result (TRUE, FALSE). </a:t>
            </a:r>
          </a:p>
          <a:p>
            <a:r>
              <a:rPr lang="en-US" sz="2000" dirty="0">
                <a:latin typeface="Times New Roman" pitchFamily="18" charset="0"/>
                <a:cs typeface="Times New Roman" pitchFamily="18" charset="0"/>
              </a:rPr>
              <a:t>Sometimes we have to check even further when the condition is TRUE. In these situations, we can use these C Nested IF statements, but be careful while using it.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Syntax</a:t>
            </a:r>
          </a:p>
        </p:txBody>
      </p:sp>
      <p:sp>
        <p:nvSpPr>
          <p:cNvPr id="3" name="Content Placeholder 2"/>
          <p:cNvSpPr>
            <a:spLocks noGrp="1"/>
          </p:cNvSpPr>
          <p:nvPr>
            <p:ph idx="1"/>
          </p:nvPr>
        </p:nvSpPr>
        <p:spPr/>
        <p:txBody>
          <a:bodyPr>
            <a:normAutofit/>
          </a:bodyPr>
          <a:lstStyle/>
          <a:p>
            <a:pPr>
              <a:buNone/>
            </a:pPr>
            <a:r>
              <a:rPr lang="en-US" sz="2400" dirty="0"/>
              <a:t>    if( </a:t>
            </a:r>
            <a:r>
              <a:rPr lang="en-US" sz="2400" dirty="0" err="1"/>
              <a:t>boolean_expression</a:t>
            </a:r>
            <a:r>
              <a:rPr lang="en-US" sz="2400" dirty="0"/>
              <a:t> 1)</a:t>
            </a:r>
          </a:p>
          <a:p>
            <a:pPr>
              <a:buNone/>
            </a:pPr>
            <a:r>
              <a:rPr lang="en-US" sz="2400" dirty="0"/>
              <a:t>     {             </a:t>
            </a:r>
          </a:p>
          <a:p>
            <a:pPr>
              <a:buNone/>
            </a:pPr>
            <a:r>
              <a:rPr lang="en-US" sz="2400" dirty="0"/>
              <a:t>                 /* Executes when the </a:t>
            </a:r>
            <a:r>
              <a:rPr lang="en-US" sz="2400" dirty="0" err="1"/>
              <a:t>boolean</a:t>
            </a:r>
            <a:r>
              <a:rPr lang="en-US" sz="2400" dirty="0"/>
              <a:t> expression 1 is true */</a:t>
            </a:r>
          </a:p>
          <a:p>
            <a:pPr>
              <a:buNone/>
            </a:pPr>
            <a:r>
              <a:rPr lang="en-US" sz="2400" dirty="0"/>
              <a:t>     if(</a:t>
            </a:r>
            <a:r>
              <a:rPr lang="en-US" sz="2400" dirty="0" err="1"/>
              <a:t>boolean_expression</a:t>
            </a:r>
            <a:r>
              <a:rPr lang="en-US" sz="2400" dirty="0"/>
              <a:t> 2) </a:t>
            </a:r>
          </a:p>
          <a:p>
            <a:pPr>
              <a:buNone/>
            </a:pPr>
            <a:r>
              <a:rPr lang="en-US" sz="2400" dirty="0"/>
              <a:t>     {              </a:t>
            </a:r>
          </a:p>
          <a:p>
            <a:pPr>
              <a:buNone/>
            </a:pPr>
            <a:r>
              <a:rPr lang="en-US" sz="2400" dirty="0"/>
              <a:t>                /* Executes when the </a:t>
            </a:r>
            <a:r>
              <a:rPr lang="en-US" sz="2400" dirty="0" err="1"/>
              <a:t>boolean</a:t>
            </a:r>
            <a:r>
              <a:rPr lang="en-US" sz="2400" dirty="0"/>
              <a:t> expression 2 is true */ </a:t>
            </a:r>
          </a:p>
          <a:p>
            <a:pPr>
              <a:buNone/>
            </a:pPr>
            <a:r>
              <a:rPr lang="en-US" sz="2400" dirty="0"/>
              <a:t>     }</a:t>
            </a:r>
          </a:p>
          <a:p>
            <a:pPr>
              <a:buNone/>
            </a:pPr>
            <a:r>
              <a:rPr lang="en-US" sz="2400" dirty="0"/>
              <a:t>    }</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609600" y="990600"/>
            <a:ext cx="8382000" cy="5562600"/>
          </a:xfrm>
          <a:prstGeom prst="rect">
            <a:avLst/>
          </a:prstGeom>
          <a:noFill/>
          <a:ln w="9525">
            <a:noFill/>
            <a:miter lim="800000"/>
            <a:headEnd/>
            <a:tailEnd/>
          </a:ln>
          <a:effectLst/>
        </p:spPr>
      </p:pic>
      <p:sp>
        <p:nvSpPr>
          <p:cNvPr id="5" name="TextBox 4"/>
          <p:cNvSpPr txBox="1"/>
          <p:nvPr/>
        </p:nvSpPr>
        <p:spPr>
          <a:xfrm>
            <a:off x="838200" y="457200"/>
            <a:ext cx="1295400" cy="381000"/>
          </a:xfrm>
          <a:prstGeom prst="rect">
            <a:avLst/>
          </a:prstGeom>
          <a:noFill/>
        </p:spPr>
        <p:txBody>
          <a:bodyPr wrap="square" rtlCol="0">
            <a:spAutoFit/>
          </a:bodyPr>
          <a:lstStyle/>
          <a:p>
            <a:r>
              <a:rPr lang="en-US" dirty="0"/>
              <a:t>Example:</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pPr>
              <a:buNone/>
            </a:pPr>
            <a:r>
              <a:rPr lang="en-US" b="1" dirty="0">
                <a:solidFill>
                  <a:srgbClr val="FF0000"/>
                </a:solidFill>
                <a:latin typeface="Times New Roman" pitchFamily="18" charset="0"/>
                <a:cs typeface="Times New Roman" pitchFamily="18" charset="0"/>
              </a:rPr>
              <a:t>Switch:</a:t>
            </a:r>
          </a:p>
          <a:p>
            <a:endParaRPr lang="en-US" dirty="0"/>
          </a:p>
          <a:p>
            <a:r>
              <a:rPr lang="en-US" dirty="0"/>
              <a:t>A </a:t>
            </a:r>
            <a:r>
              <a:rPr lang="en-US" b="1" dirty="0"/>
              <a:t>switch</a:t>
            </a:r>
            <a:r>
              <a:rPr lang="en-US" dirty="0"/>
              <a:t> statement allows a variable to be tested for equality against a list of values. Each value is called a case, and the variable being switched on is checked for each </a:t>
            </a:r>
            <a:r>
              <a:rPr lang="en-US" b="1" dirty="0"/>
              <a:t>switch case</a:t>
            </a:r>
            <a:r>
              <a:rPr lang="en-US" dirty="0"/>
              <a:t>.</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latin typeface="Times New Roman" pitchFamily="18" charset="0"/>
                <a:cs typeface="Times New Roman" pitchFamily="18" charset="0"/>
              </a:rPr>
              <a:t/>
            </a:r>
            <a:br>
              <a:rPr lang="en-US" dirty="0">
                <a:solidFill>
                  <a:srgbClr val="FF0000"/>
                </a:solidFill>
                <a:latin typeface="Times New Roman" pitchFamily="18" charset="0"/>
                <a:cs typeface="Times New Roman" pitchFamily="18" charset="0"/>
              </a:rPr>
            </a:br>
            <a:r>
              <a:rPr lang="en-US" dirty="0">
                <a:solidFill>
                  <a:srgbClr val="FF0000"/>
                </a:solidFill>
                <a:latin typeface="Times New Roman" pitchFamily="18" charset="0"/>
                <a:cs typeface="Times New Roman" pitchFamily="18" charset="0"/>
              </a:rPr>
              <a:t>Functioning of switch case statement</a:t>
            </a:r>
            <a:br>
              <a:rPr lang="en-US" dirty="0">
                <a:solidFill>
                  <a:srgbClr val="FF0000"/>
                </a:solidFill>
                <a:latin typeface="Times New Roman" pitchFamily="18" charset="0"/>
                <a:cs typeface="Times New Roman" pitchFamily="18" charset="0"/>
              </a:rPr>
            </a:b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2400" dirty="0">
                <a:latin typeface="Times New Roman" pitchFamily="18" charset="0"/>
                <a:cs typeface="Times New Roman" pitchFamily="18" charset="0"/>
              </a:rPr>
              <a:t>First, the integer expression specified in the switch statement is evaluated. </a:t>
            </a:r>
          </a:p>
          <a:p>
            <a:r>
              <a:rPr lang="en-US" sz="2400" dirty="0">
                <a:latin typeface="Times New Roman" pitchFamily="18" charset="0"/>
                <a:cs typeface="Times New Roman" pitchFamily="18" charset="0"/>
              </a:rPr>
              <a:t>This value is then matched one by one with the constant values given in the different cases. </a:t>
            </a:r>
          </a:p>
          <a:p>
            <a:r>
              <a:rPr lang="en-US" sz="2400" dirty="0">
                <a:latin typeface="Times New Roman" pitchFamily="18" charset="0"/>
                <a:cs typeface="Times New Roman" pitchFamily="18" charset="0"/>
              </a:rPr>
              <a:t>If a match is found, then all the statements specified in that case are executed along with the all the cases present after that case including the default statement.</a:t>
            </a:r>
          </a:p>
          <a:p>
            <a:r>
              <a:rPr lang="en-US" sz="2400" dirty="0">
                <a:latin typeface="Times New Roman" pitchFamily="18" charset="0"/>
                <a:cs typeface="Times New Roman" pitchFamily="18" charset="0"/>
              </a:rPr>
              <a:t> No two cases can have similar values. If the matched case contains a break statement, then all the cases present after that will be skipped, and the control comes out of the switch. Otherwise, all the cases following the matched case will be executed.</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Syntax:</a:t>
            </a:r>
          </a:p>
        </p:txBody>
      </p:sp>
      <p:sp>
        <p:nvSpPr>
          <p:cNvPr id="3" name="Content Placeholder 2"/>
          <p:cNvSpPr>
            <a:spLocks noGrp="1"/>
          </p:cNvSpPr>
          <p:nvPr>
            <p:ph idx="1"/>
          </p:nvPr>
        </p:nvSpPr>
        <p:spPr>
          <a:xfrm>
            <a:off x="457200" y="1219200"/>
            <a:ext cx="8229600" cy="5486400"/>
          </a:xfrm>
        </p:spPr>
        <p:txBody>
          <a:bodyPr>
            <a:normAutofit lnSpcReduction="10000"/>
          </a:bodyPr>
          <a:lstStyle/>
          <a:p>
            <a:pPr>
              <a:buNone/>
            </a:pPr>
            <a:r>
              <a:rPr lang="en-US" sz="2400" dirty="0"/>
              <a:t>Switch (expression) </a:t>
            </a:r>
          </a:p>
          <a:p>
            <a:pPr>
              <a:buNone/>
            </a:pPr>
            <a:r>
              <a:rPr lang="en-US" sz="2400" dirty="0"/>
              <a:t>{ </a:t>
            </a:r>
          </a:p>
          <a:p>
            <a:pPr>
              <a:buNone/>
            </a:pPr>
            <a:r>
              <a:rPr lang="en-US" sz="2400" dirty="0"/>
              <a:t>case Value-1 :</a:t>
            </a:r>
          </a:p>
          <a:p>
            <a:pPr>
              <a:buNone/>
            </a:pPr>
            <a:r>
              <a:rPr lang="en-US" sz="2400" dirty="0"/>
              <a:t>            Block-1; </a:t>
            </a:r>
          </a:p>
          <a:p>
            <a:pPr>
              <a:buNone/>
            </a:pPr>
            <a:r>
              <a:rPr lang="en-US" sz="2400" dirty="0"/>
              <a:t>             break; </a:t>
            </a:r>
          </a:p>
          <a:p>
            <a:pPr>
              <a:buNone/>
            </a:pPr>
            <a:r>
              <a:rPr lang="en-US" sz="2400" dirty="0"/>
              <a:t> case Value-2 :</a:t>
            </a:r>
          </a:p>
          <a:p>
            <a:pPr>
              <a:buNone/>
            </a:pPr>
            <a:r>
              <a:rPr lang="en-US" sz="2400" dirty="0"/>
              <a:t>            Block-2; </a:t>
            </a:r>
          </a:p>
          <a:p>
            <a:pPr>
              <a:buNone/>
            </a:pPr>
            <a:r>
              <a:rPr lang="en-US" sz="2400" dirty="0"/>
              <a:t>             break; </a:t>
            </a:r>
          </a:p>
          <a:p>
            <a:pPr>
              <a:buNone/>
            </a:pPr>
            <a:r>
              <a:rPr lang="en-US" sz="2400" dirty="0"/>
              <a:t>default :</a:t>
            </a:r>
          </a:p>
          <a:p>
            <a:pPr>
              <a:buNone/>
            </a:pPr>
            <a:r>
              <a:rPr lang="en-US" sz="2400" dirty="0"/>
              <a:t>Default-block</a:t>
            </a:r>
          </a:p>
          <a:p>
            <a:pPr>
              <a:buNone/>
            </a:pPr>
            <a:r>
              <a:rPr lang="en-US" sz="2400" dirty="0"/>
              <a:t>break;</a:t>
            </a:r>
          </a:p>
          <a:p>
            <a:pPr>
              <a:buNone/>
            </a:pPr>
            <a:r>
              <a:rPr lang="en-US" sz="2400" dirty="0"/>
              <a:t>}</a:t>
            </a:r>
          </a:p>
          <a:p>
            <a:pPr>
              <a:buNone/>
            </a:pPr>
            <a:r>
              <a:rPr lang="en-US" sz="2400" dirty="0"/>
              <a:t>Statement-x;</a:t>
            </a:r>
          </a:p>
          <a:p>
            <a:pPr>
              <a:buNone/>
            </a:pPr>
            <a:endParaRPr lang="en-US" sz="2400" dirty="0"/>
          </a:p>
          <a:p>
            <a:pPr>
              <a:buNone/>
            </a:pPr>
            <a:endParaRPr lang="en-US" sz="2400" dirty="0">
              <a:latin typeface="Times New Roman" pitchFamily="18" charset="0"/>
              <a:cs typeface="Times New Roman" pitchFamily="18"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a:solidFill>
                  <a:srgbClr val="FF0000"/>
                </a:solidFill>
                <a:latin typeface="Times New Roman" pitchFamily="18" charset="0"/>
                <a:cs typeface="Times New Roman" pitchFamily="18" charset="0"/>
              </a:rPr>
              <a:t>The following rules apply to a </a:t>
            </a:r>
            <a:r>
              <a:rPr lang="en-US" sz="3100" b="1" dirty="0">
                <a:solidFill>
                  <a:srgbClr val="FF0000"/>
                </a:solidFill>
                <a:latin typeface="Times New Roman" pitchFamily="18" charset="0"/>
                <a:cs typeface="Times New Roman" pitchFamily="18" charset="0"/>
              </a:rPr>
              <a:t>switch</a:t>
            </a:r>
            <a:r>
              <a:rPr lang="en-US" sz="3100" dirty="0">
                <a:solidFill>
                  <a:srgbClr val="FF0000"/>
                </a:solidFill>
                <a:latin typeface="Times New Roman" pitchFamily="18" charset="0"/>
                <a:cs typeface="Times New Roman" pitchFamily="18" charset="0"/>
              </a:rPr>
              <a:t> statement −</a:t>
            </a:r>
            <a:r>
              <a:rPr lang="en-US" dirty="0"/>
              <a:t/>
            </a:r>
            <a:br>
              <a:rPr lang="en-US" dirty="0"/>
            </a:br>
            <a:endParaRPr lang="en-US" dirty="0"/>
          </a:p>
        </p:txBody>
      </p:sp>
      <p:sp>
        <p:nvSpPr>
          <p:cNvPr id="3" name="Content Placeholder 2"/>
          <p:cNvSpPr>
            <a:spLocks noGrp="1"/>
          </p:cNvSpPr>
          <p:nvPr>
            <p:ph idx="1"/>
          </p:nvPr>
        </p:nvSpPr>
        <p:spPr>
          <a:xfrm>
            <a:off x="457200" y="914400"/>
            <a:ext cx="8229600" cy="5715000"/>
          </a:xfrm>
        </p:spPr>
        <p:txBody>
          <a:bodyPr>
            <a:noAutofit/>
          </a:bodyPr>
          <a:lstStyle/>
          <a:p>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expression</a:t>
            </a:r>
            <a:r>
              <a:rPr lang="en-US" sz="2000" dirty="0">
                <a:latin typeface="Times New Roman" pitchFamily="18" charset="0"/>
                <a:cs typeface="Times New Roman" pitchFamily="18" charset="0"/>
              </a:rPr>
              <a:t> used in a </a:t>
            </a:r>
            <a:r>
              <a:rPr lang="en-US" sz="2000" b="1" dirty="0">
                <a:latin typeface="Times New Roman" pitchFamily="18" charset="0"/>
                <a:cs typeface="Times New Roman" pitchFamily="18" charset="0"/>
              </a:rPr>
              <a:t>switch</a:t>
            </a:r>
            <a:r>
              <a:rPr lang="en-US" sz="2000" dirty="0">
                <a:latin typeface="Times New Roman" pitchFamily="18" charset="0"/>
                <a:cs typeface="Times New Roman" pitchFamily="18" charset="0"/>
              </a:rPr>
              <a:t> statement must have an integral or enumerated type, or be of a class type in which the class has a single conversion function to an integral or enumerated type.</a:t>
            </a:r>
          </a:p>
          <a:p>
            <a:r>
              <a:rPr lang="en-US" sz="2000" dirty="0">
                <a:latin typeface="Times New Roman" pitchFamily="18" charset="0"/>
                <a:cs typeface="Times New Roman" pitchFamily="18" charset="0"/>
              </a:rPr>
              <a:t>You can have any number of case statements within a switch. Each case is followed by the value to be compared to and a colon.</a:t>
            </a:r>
          </a:p>
          <a:p>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constant-expression</a:t>
            </a:r>
            <a:r>
              <a:rPr lang="en-US" sz="2000" dirty="0">
                <a:latin typeface="Times New Roman" pitchFamily="18" charset="0"/>
                <a:cs typeface="Times New Roman" pitchFamily="18" charset="0"/>
              </a:rPr>
              <a:t> for a case must be the same data type as the variable in the switch, and it must be a constant or a literal.</a:t>
            </a:r>
          </a:p>
          <a:p>
            <a:r>
              <a:rPr lang="en-US" sz="2000" dirty="0">
                <a:latin typeface="Times New Roman" pitchFamily="18" charset="0"/>
                <a:cs typeface="Times New Roman" pitchFamily="18" charset="0"/>
              </a:rPr>
              <a:t>When the variable being switched on is equal to a case, the statements following that case will execute until a </a:t>
            </a:r>
            <a:r>
              <a:rPr lang="en-US" sz="2000" b="1" dirty="0">
                <a:latin typeface="Times New Roman" pitchFamily="18" charset="0"/>
                <a:cs typeface="Times New Roman" pitchFamily="18" charset="0"/>
              </a:rPr>
              <a:t>break</a:t>
            </a:r>
            <a:r>
              <a:rPr lang="en-US" sz="2000" dirty="0">
                <a:latin typeface="Times New Roman" pitchFamily="18" charset="0"/>
                <a:cs typeface="Times New Roman" pitchFamily="18" charset="0"/>
              </a:rPr>
              <a:t> statement is reached.</a:t>
            </a:r>
          </a:p>
          <a:p>
            <a:r>
              <a:rPr lang="en-US" sz="2000" dirty="0">
                <a:latin typeface="Times New Roman" pitchFamily="18" charset="0"/>
                <a:cs typeface="Times New Roman" pitchFamily="18" charset="0"/>
              </a:rPr>
              <a:t>When a </a:t>
            </a:r>
            <a:r>
              <a:rPr lang="en-US" sz="2000" b="1" dirty="0">
                <a:latin typeface="Times New Roman" pitchFamily="18" charset="0"/>
                <a:cs typeface="Times New Roman" pitchFamily="18" charset="0"/>
              </a:rPr>
              <a:t>break</a:t>
            </a:r>
            <a:r>
              <a:rPr lang="en-US" sz="2000" dirty="0">
                <a:latin typeface="Times New Roman" pitchFamily="18" charset="0"/>
                <a:cs typeface="Times New Roman" pitchFamily="18" charset="0"/>
              </a:rPr>
              <a:t> statement is reached, the switch terminates, and the flow of control jumps to the next line following the switch statement.</a:t>
            </a:r>
          </a:p>
          <a:p>
            <a:r>
              <a:rPr lang="en-US" sz="2000" dirty="0">
                <a:latin typeface="Times New Roman" pitchFamily="18" charset="0"/>
                <a:cs typeface="Times New Roman" pitchFamily="18" charset="0"/>
              </a:rPr>
              <a:t>Not every case needs to contain a </a:t>
            </a:r>
            <a:r>
              <a:rPr lang="en-US" sz="2000" b="1" dirty="0">
                <a:latin typeface="Times New Roman" pitchFamily="18" charset="0"/>
                <a:cs typeface="Times New Roman" pitchFamily="18" charset="0"/>
              </a:rPr>
              <a:t>break</a:t>
            </a:r>
            <a:r>
              <a:rPr lang="en-US" sz="2000" dirty="0">
                <a:latin typeface="Times New Roman" pitchFamily="18" charset="0"/>
                <a:cs typeface="Times New Roman" pitchFamily="18" charset="0"/>
              </a:rPr>
              <a:t>. If no </a:t>
            </a:r>
            <a:r>
              <a:rPr lang="en-US" sz="2000" b="1" dirty="0">
                <a:latin typeface="Times New Roman" pitchFamily="18" charset="0"/>
                <a:cs typeface="Times New Roman" pitchFamily="18" charset="0"/>
              </a:rPr>
              <a:t>break</a:t>
            </a:r>
            <a:r>
              <a:rPr lang="en-US" sz="2000" dirty="0">
                <a:latin typeface="Times New Roman" pitchFamily="18" charset="0"/>
                <a:cs typeface="Times New Roman" pitchFamily="18" charset="0"/>
              </a:rPr>
              <a:t> appears, the flow of control will </a:t>
            </a:r>
            <a:r>
              <a:rPr lang="en-US" sz="2000" i="1" dirty="0">
                <a:latin typeface="Times New Roman" pitchFamily="18" charset="0"/>
                <a:cs typeface="Times New Roman" pitchFamily="18" charset="0"/>
              </a:rPr>
              <a:t>fall through</a:t>
            </a:r>
            <a:r>
              <a:rPr lang="en-US" sz="2000" dirty="0">
                <a:latin typeface="Times New Roman" pitchFamily="18" charset="0"/>
                <a:cs typeface="Times New Roman" pitchFamily="18" charset="0"/>
              </a:rPr>
              <a:t> to subsequent cases until a break is reached.</a:t>
            </a:r>
          </a:p>
          <a:p>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switch</a:t>
            </a:r>
            <a:r>
              <a:rPr lang="en-US" sz="2000" dirty="0">
                <a:latin typeface="Times New Roman" pitchFamily="18" charset="0"/>
                <a:cs typeface="Times New Roman" pitchFamily="18" charset="0"/>
              </a:rPr>
              <a:t> statement can have an optional </a:t>
            </a:r>
            <a:r>
              <a:rPr lang="en-US" sz="2000" b="1" dirty="0">
                <a:latin typeface="Times New Roman" pitchFamily="18" charset="0"/>
                <a:cs typeface="Times New Roman" pitchFamily="18" charset="0"/>
              </a:rPr>
              <a:t>default</a:t>
            </a:r>
            <a:r>
              <a:rPr lang="en-US" sz="2000" dirty="0">
                <a:latin typeface="Times New Roman" pitchFamily="18" charset="0"/>
                <a:cs typeface="Times New Roman" pitchFamily="18" charset="0"/>
              </a:rPr>
              <a:t> case, which must appear at the end of the switch. The default case can be used for performing a task when none of the cases is true. No </a:t>
            </a:r>
            <a:r>
              <a:rPr lang="en-US" sz="2000" b="1" dirty="0">
                <a:latin typeface="Times New Roman" pitchFamily="18" charset="0"/>
                <a:cs typeface="Times New Roman" pitchFamily="18" charset="0"/>
              </a:rPr>
              <a:t>break</a:t>
            </a:r>
            <a:r>
              <a:rPr lang="en-US" sz="2000" dirty="0">
                <a:latin typeface="Times New Roman" pitchFamily="18" charset="0"/>
                <a:cs typeface="Times New Roman" pitchFamily="18" charset="0"/>
              </a:rPr>
              <a:t> is needed in the default case.</a:t>
            </a:r>
          </a:p>
          <a:p>
            <a:endParaRPr lang="en-US" sz="2000" dirty="0">
              <a:latin typeface="Times New Roman" pitchFamily="18" charset="0"/>
              <a:cs typeface="Times New Roman" pitchFamily="18"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81000" y="533400"/>
            <a:ext cx="8305800" cy="6019800"/>
          </a:xfrm>
          <a:prstGeom prst="rect">
            <a:avLst/>
          </a:prstGeom>
          <a:noFill/>
          <a:ln w="9525">
            <a:noFill/>
            <a:miter lim="800000"/>
            <a:headEnd/>
            <a:tailEnd/>
          </a:ln>
          <a:effectLst/>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dirty="0"/>
              <a:t>Example:</a:t>
            </a:r>
          </a:p>
        </p:txBody>
      </p:sp>
      <p:sp>
        <p:nvSpPr>
          <p:cNvPr id="3" name="Content Placeholder 2"/>
          <p:cNvSpPr>
            <a:spLocks noGrp="1"/>
          </p:cNvSpPr>
          <p:nvPr>
            <p:ph idx="1"/>
          </p:nvPr>
        </p:nvSpPr>
        <p:spPr>
          <a:xfrm>
            <a:off x="457200" y="533400"/>
            <a:ext cx="8229600" cy="6172200"/>
          </a:xfrm>
        </p:spPr>
        <p:txBody>
          <a:bodyPr>
            <a:normAutofit fontScale="25000" lnSpcReduction="20000"/>
          </a:bodyPr>
          <a:lstStyle/>
          <a:p>
            <a:pPr>
              <a:buNone/>
            </a:pPr>
            <a:r>
              <a:rPr lang="en-US" sz="6400" b="1" dirty="0" err="1">
                <a:latin typeface="Times New Roman" pitchFamily="18" charset="0"/>
                <a:cs typeface="Times New Roman" pitchFamily="18" charset="0"/>
              </a:rPr>
              <a:t>int</a:t>
            </a:r>
            <a:r>
              <a:rPr lang="en-US" sz="6400" b="1" dirty="0">
                <a:latin typeface="Times New Roman" pitchFamily="18" charset="0"/>
                <a:cs typeface="Times New Roman" pitchFamily="18" charset="0"/>
              </a:rPr>
              <a:t> main () </a:t>
            </a:r>
          </a:p>
          <a:p>
            <a:pPr>
              <a:buNone/>
            </a:pPr>
            <a:r>
              <a:rPr lang="en-US" sz="6400" b="1" dirty="0">
                <a:latin typeface="Times New Roman" pitchFamily="18" charset="0"/>
                <a:cs typeface="Times New Roman" pitchFamily="18" charset="0"/>
              </a:rPr>
              <a:t>{ /* local variable definition */ </a:t>
            </a:r>
          </a:p>
          <a:p>
            <a:pPr>
              <a:buNone/>
            </a:pPr>
            <a:r>
              <a:rPr lang="en-US" sz="6400" b="1" dirty="0">
                <a:latin typeface="Times New Roman" pitchFamily="18" charset="0"/>
                <a:cs typeface="Times New Roman" pitchFamily="18" charset="0"/>
              </a:rPr>
              <a:t>char grade = 'B'; </a:t>
            </a:r>
          </a:p>
          <a:p>
            <a:pPr>
              <a:buNone/>
            </a:pPr>
            <a:r>
              <a:rPr lang="en-US" sz="6400" b="1" dirty="0">
                <a:latin typeface="Times New Roman" pitchFamily="18" charset="0"/>
                <a:cs typeface="Times New Roman" pitchFamily="18" charset="0"/>
              </a:rPr>
              <a:t>switch(grade) </a:t>
            </a:r>
          </a:p>
          <a:p>
            <a:pPr>
              <a:buNone/>
            </a:pPr>
            <a:r>
              <a:rPr lang="en-US" sz="6400" b="1" dirty="0">
                <a:latin typeface="Times New Roman" pitchFamily="18" charset="0"/>
                <a:cs typeface="Times New Roman" pitchFamily="18" charset="0"/>
              </a:rPr>
              <a:t>{ </a:t>
            </a:r>
          </a:p>
          <a:p>
            <a:pPr>
              <a:buNone/>
            </a:pPr>
            <a:r>
              <a:rPr lang="en-US" sz="6400" b="1" dirty="0">
                <a:latin typeface="Times New Roman" pitchFamily="18" charset="0"/>
                <a:cs typeface="Times New Roman" pitchFamily="18" charset="0"/>
              </a:rPr>
              <a:t>case 'A' :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("Excellent!\n" ); </a:t>
            </a:r>
          </a:p>
          <a:p>
            <a:pPr>
              <a:buNone/>
            </a:pPr>
            <a:r>
              <a:rPr lang="en-US" sz="6400" b="1" dirty="0">
                <a:latin typeface="Times New Roman" pitchFamily="18" charset="0"/>
                <a:cs typeface="Times New Roman" pitchFamily="18" charset="0"/>
              </a:rPr>
              <a:t>break; </a:t>
            </a:r>
          </a:p>
          <a:p>
            <a:pPr>
              <a:buNone/>
            </a:pPr>
            <a:r>
              <a:rPr lang="en-US" sz="6400" b="1" dirty="0">
                <a:latin typeface="Times New Roman" pitchFamily="18" charset="0"/>
                <a:cs typeface="Times New Roman" pitchFamily="18" charset="0"/>
              </a:rPr>
              <a:t>case 'B' : </a:t>
            </a:r>
          </a:p>
          <a:p>
            <a:pPr>
              <a:buNone/>
            </a:pPr>
            <a:r>
              <a:rPr lang="en-US" sz="6400" b="1" dirty="0">
                <a:latin typeface="Times New Roman" pitchFamily="18" charset="0"/>
                <a:cs typeface="Times New Roman" pitchFamily="18" charset="0"/>
              </a:rPr>
              <a:t>case 'C' :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("Well done\n" );</a:t>
            </a:r>
          </a:p>
          <a:p>
            <a:pPr>
              <a:buNone/>
            </a:pPr>
            <a:r>
              <a:rPr lang="en-US" sz="6400" b="1" dirty="0">
                <a:latin typeface="Times New Roman" pitchFamily="18" charset="0"/>
                <a:cs typeface="Times New Roman" pitchFamily="18" charset="0"/>
              </a:rPr>
              <a:t> break; </a:t>
            </a:r>
          </a:p>
          <a:p>
            <a:pPr>
              <a:buNone/>
            </a:pPr>
            <a:r>
              <a:rPr lang="en-US" sz="6400" b="1" dirty="0">
                <a:latin typeface="Times New Roman" pitchFamily="18" charset="0"/>
                <a:cs typeface="Times New Roman" pitchFamily="18" charset="0"/>
              </a:rPr>
              <a:t>case 'D' :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("You passed\n" ); </a:t>
            </a:r>
          </a:p>
          <a:p>
            <a:pPr>
              <a:buNone/>
            </a:pPr>
            <a:r>
              <a:rPr lang="en-US" sz="6400" b="1" dirty="0">
                <a:latin typeface="Times New Roman" pitchFamily="18" charset="0"/>
                <a:cs typeface="Times New Roman" pitchFamily="18" charset="0"/>
              </a:rPr>
              <a:t>break; </a:t>
            </a:r>
          </a:p>
          <a:p>
            <a:pPr>
              <a:buNone/>
            </a:pPr>
            <a:r>
              <a:rPr lang="en-US" sz="6400" b="1" dirty="0">
                <a:latin typeface="Times New Roman" pitchFamily="18" charset="0"/>
                <a:cs typeface="Times New Roman" pitchFamily="18" charset="0"/>
              </a:rPr>
              <a:t>case 'F' :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("Better try again\n" );</a:t>
            </a:r>
          </a:p>
          <a:p>
            <a:pPr>
              <a:buNone/>
            </a:pPr>
            <a:r>
              <a:rPr lang="en-US" sz="6400" b="1" dirty="0">
                <a:latin typeface="Times New Roman" pitchFamily="18" charset="0"/>
                <a:cs typeface="Times New Roman" pitchFamily="18" charset="0"/>
              </a:rPr>
              <a:t> break; </a:t>
            </a:r>
          </a:p>
          <a:p>
            <a:pPr>
              <a:buNone/>
            </a:pPr>
            <a:r>
              <a:rPr lang="en-US" sz="6400" b="1" dirty="0">
                <a:latin typeface="Times New Roman" pitchFamily="18" charset="0"/>
                <a:cs typeface="Times New Roman" pitchFamily="18" charset="0"/>
              </a:rPr>
              <a:t>default :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("Invalid grade\n" );</a:t>
            </a:r>
          </a:p>
          <a:p>
            <a:pPr>
              <a:buNone/>
            </a:pPr>
            <a:r>
              <a:rPr lang="en-US" sz="6400" b="1" dirty="0">
                <a:latin typeface="Times New Roman" pitchFamily="18" charset="0"/>
                <a:cs typeface="Times New Roman" pitchFamily="18" charset="0"/>
              </a:rPr>
              <a:t> }</a:t>
            </a:r>
          </a:p>
          <a:p>
            <a:pPr>
              <a:buNone/>
            </a:pPr>
            <a:r>
              <a:rPr lang="en-US" sz="6400" b="1" dirty="0">
                <a:latin typeface="Times New Roman" pitchFamily="18" charset="0"/>
                <a:cs typeface="Times New Roman" pitchFamily="18" charset="0"/>
              </a:rPr>
              <a:t> </a:t>
            </a:r>
            <a:r>
              <a:rPr lang="en-US" sz="6400" b="1" dirty="0" err="1">
                <a:latin typeface="Times New Roman" pitchFamily="18" charset="0"/>
                <a:cs typeface="Times New Roman" pitchFamily="18" charset="0"/>
              </a:rPr>
              <a:t>printf</a:t>
            </a:r>
            <a:r>
              <a:rPr lang="en-US" sz="6400" b="1" dirty="0">
                <a:latin typeface="Times New Roman" pitchFamily="18" charset="0"/>
                <a:cs typeface="Times New Roman" pitchFamily="18" charset="0"/>
              </a:rPr>
              <a:t>    ("Your grade is %c\n", grade ); </a:t>
            </a:r>
          </a:p>
          <a:p>
            <a:pPr>
              <a:buNone/>
            </a:pPr>
            <a:r>
              <a:rPr lang="en-US" sz="6400" b="1" dirty="0">
                <a:latin typeface="Times New Roman" pitchFamily="18" charset="0"/>
                <a:cs typeface="Times New Roman" pitchFamily="18" charset="0"/>
              </a:rPr>
              <a:t>return 0;</a:t>
            </a:r>
          </a:p>
          <a:p>
            <a:pPr>
              <a:buNone/>
            </a:pPr>
            <a:r>
              <a:rPr lang="en-US" sz="6400" b="1" dirty="0">
                <a:latin typeface="Times New Roman" pitchFamily="18" charset="0"/>
                <a:cs typeface="Times New Roman" pitchFamily="18" charset="0"/>
              </a:rPr>
              <a:t> }                                                                                                    </a:t>
            </a:r>
            <a:r>
              <a:rPr lang="en-US" sz="1100" dirty="0"/>
              <a:t> </a:t>
            </a:r>
          </a:p>
          <a:p>
            <a:pPr>
              <a:buNone/>
            </a:pPr>
            <a:endParaRPr lang="en-US" sz="1100" dirty="0"/>
          </a:p>
          <a:p>
            <a:endParaRPr lang="en-US" sz="1100" dirty="0"/>
          </a:p>
          <a:p>
            <a:r>
              <a:rPr lang="en-US" sz="1100" dirty="0"/>
              <a:t>B</a:t>
            </a:r>
          </a:p>
          <a:p>
            <a:endParaRPr lang="en-US" sz="4500" b="1" dirty="0">
              <a:latin typeface="Times New Roman" pitchFamily="18" charset="0"/>
              <a:cs typeface="Times New Roman" pitchFamily="18" charset="0"/>
            </a:endParaRPr>
          </a:p>
          <a:p>
            <a:pPr algn="ctr">
              <a:buNone/>
            </a:pPr>
            <a:r>
              <a:rPr lang="en-US" sz="9600" dirty="0">
                <a:solidFill>
                  <a:srgbClr val="FF0000"/>
                </a:solidFill>
                <a:latin typeface="Times New Roman" pitchFamily="18" charset="0"/>
                <a:cs typeface="Times New Roman" pitchFamily="18" charset="0"/>
              </a:rPr>
              <a:t>Out Put: </a:t>
            </a:r>
          </a:p>
          <a:p>
            <a:pPr algn="ctr">
              <a:buNone/>
            </a:pPr>
            <a:r>
              <a:rPr lang="en-US" sz="8000" b="1" dirty="0">
                <a:latin typeface="Times New Roman" pitchFamily="18" charset="0"/>
                <a:cs typeface="Times New Roman" pitchFamily="18" charset="0"/>
              </a:rPr>
              <a:t>Well done </a:t>
            </a:r>
          </a:p>
          <a:p>
            <a:pPr algn="ctr">
              <a:buNone/>
            </a:pPr>
            <a:r>
              <a:rPr lang="en-US" sz="8000" b="1" dirty="0">
                <a:latin typeface="Times New Roman" pitchFamily="18" charset="0"/>
                <a:cs typeface="Times New Roman" pitchFamily="18" charset="0"/>
              </a:rPr>
              <a:t>     Your grade is B</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rgbClr val="FF0000"/>
                </a:solidFill>
                <a:latin typeface="Times New Roman" pitchFamily="18" charset="0"/>
                <a:cs typeface="Times New Roman" pitchFamily="18" charset="0"/>
              </a:rPr>
              <a:t>Iteration :</a:t>
            </a:r>
            <a:endParaRPr lang="en-US" dirty="0">
              <a:solidFill>
                <a:srgbClr val="FF0000"/>
              </a:solidFill>
            </a:endParaRPr>
          </a:p>
        </p:txBody>
      </p:sp>
      <p:sp>
        <p:nvSpPr>
          <p:cNvPr id="3" name="Content Placeholder 2"/>
          <p:cNvSpPr>
            <a:spLocks noGrp="1"/>
          </p:cNvSpPr>
          <p:nvPr>
            <p:ph idx="1"/>
          </p:nvPr>
        </p:nvSpPr>
        <p:spPr/>
        <p:txBody>
          <a:bodyPr/>
          <a:lstStyle/>
          <a:p>
            <a:r>
              <a:rPr lang="en-US" sz="2400" b="1" dirty="0">
                <a:latin typeface="Times New Roman" pitchFamily="18" charset="0"/>
                <a:cs typeface="Times New Roman" pitchFamily="18" charset="0"/>
              </a:rPr>
              <a:t>Iteration</a:t>
            </a:r>
            <a:r>
              <a:rPr lang="en-US" sz="2400" dirty="0">
                <a:latin typeface="Times New Roman" pitchFamily="18" charset="0"/>
                <a:cs typeface="Times New Roman" pitchFamily="18" charset="0"/>
              </a:rPr>
              <a:t> is the process where a set of instructions or statements is executed repeatedly for a specified number of time or until a condition is met. These statements also alter the control flow of the program and thus can also be classified as </a:t>
            </a:r>
            <a:r>
              <a:rPr lang="en-US" sz="2400" b="1" dirty="0">
                <a:latin typeface="Times New Roman" pitchFamily="18" charset="0"/>
                <a:cs typeface="Times New Roman" pitchFamily="18" charset="0"/>
              </a:rPr>
              <a:t>control statements</a:t>
            </a:r>
            <a:r>
              <a:rPr lang="en-US" sz="2400" dirty="0">
                <a:latin typeface="Times New Roman" pitchFamily="18" charset="0"/>
                <a:cs typeface="Times New Roman" pitchFamily="18" charset="0"/>
              </a:rPr>
              <a:t> in C Programming Language</a:t>
            </a:r>
            <a:r>
              <a:rPr lang="en-US" i="1" dirty="0"/>
              <a:t>.</a:t>
            </a:r>
          </a:p>
          <a:p>
            <a:pPr>
              <a:buNone/>
            </a:pPr>
            <a:endParaRPr lang="en-US" i="1" dirty="0"/>
          </a:p>
          <a:p>
            <a:pPr>
              <a:buNone/>
            </a:pPr>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
            </a:r>
            <a:br>
              <a:rPr lang="en-US" dirty="0"/>
            </a:br>
            <a:r>
              <a:rPr lang="en-US" sz="4000" dirty="0">
                <a:solidFill>
                  <a:srgbClr val="FF0000"/>
                </a:solidFill>
                <a:latin typeface="Times New Roman" pitchFamily="18" charset="0"/>
                <a:cs typeface="Times New Roman" pitchFamily="18" charset="0"/>
              </a:rPr>
              <a:t>C Iteration Statements</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Iteration statements create loops in the program. In other words, it repeats the set of statements until the condition for termination is met. Iteration statements in C are</a:t>
            </a:r>
            <a:r>
              <a:rPr lang="en-US" sz="2400" b="1" i="1" dirty="0">
                <a:latin typeface="Times New Roman" pitchFamily="18" charset="0"/>
                <a:cs typeface="Times New Roman" pitchFamily="18" charset="0"/>
              </a:rPr>
              <a:t> for, while</a:t>
            </a:r>
            <a:r>
              <a:rPr lang="en-US" sz="2400" dirty="0">
                <a:latin typeface="Times New Roman" pitchFamily="18" charset="0"/>
                <a:cs typeface="Times New Roman" pitchFamily="18" charset="0"/>
              </a:rPr>
              <a:t> and </a:t>
            </a:r>
            <a:r>
              <a:rPr lang="en-US" sz="2400" b="1" i="1" dirty="0">
                <a:latin typeface="Times New Roman" pitchFamily="18" charset="0"/>
                <a:cs typeface="Times New Roman" pitchFamily="18" charset="0"/>
              </a:rPr>
              <a:t>do-while</a:t>
            </a:r>
            <a:r>
              <a:rPr lang="en-US" dirty="0"/>
              <a:t>.</a:t>
            </a:r>
          </a:p>
          <a:p>
            <a:endParaRPr lang="en-US" dirty="0"/>
          </a:p>
          <a:p>
            <a:r>
              <a:rPr lang="en-US" sz="2600" b="1" dirty="0">
                <a:latin typeface="Times New Roman" pitchFamily="18" charset="0"/>
                <a:cs typeface="Times New Roman" pitchFamily="18" charset="0"/>
              </a:rPr>
              <a:t>jump Statement</a:t>
            </a:r>
            <a:r>
              <a:rPr lang="en-US" sz="2600" dirty="0">
                <a:latin typeface="Times New Roman" pitchFamily="18" charset="0"/>
                <a:cs typeface="Times New Roman" pitchFamily="18" charset="0"/>
              </a:rPr>
              <a:t> makes the control jump to another section of the program unconditionally when encountered. It is usually used to terminate the </a:t>
            </a:r>
            <a:r>
              <a:rPr lang="en-US" sz="2600" b="1" dirty="0">
                <a:latin typeface="Times New Roman" pitchFamily="18" charset="0"/>
                <a:cs typeface="Times New Roman" pitchFamily="18" charset="0"/>
                <a:hlinkClick r:id="rId2"/>
              </a:rPr>
              <a:t>loop</a:t>
            </a:r>
            <a:r>
              <a:rPr lang="en-US" sz="2600" dirty="0">
                <a:latin typeface="Times New Roman" pitchFamily="18" charset="0"/>
                <a:cs typeface="Times New Roman" pitchFamily="18" charset="0"/>
                <a:hlinkClick r:id="rId2"/>
              </a:rPr>
              <a:t> </a:t>
            </a:r>
            <a:r>
              <a:rPr lang="en-US" sz="2600" dirty="0">
                <a:latin typeface="Times New Roman" pitchFamily="18" charset="0"/>
                <a:cs typeface="Times New Roman" pitchFamily="18" charset="0"/>
              </a:rPr>
              <a:t>or </a:t>
            </a:r>
            <a:r>
              <a:rPr lang="en-US" sz="2600" b="1" dirty="0">
                <a:latin typeface="Times New Roman" pitchFamily="18" charset="0"/>
                <a:cs typeface="Times New Roman" pitchFamily="18" charset="0"/>
                <a:hlinkClick r:id="rId3"/>
              </a:rPr>
              <a:t>switch-case</a:t>
            </a:r>
            <a:r>
              <a:rPr lang="en-US" sz="2600" dirty="0">
                <a:latin typeface="Times New Roman" pitchFamily="18" charset="0"/>
                <a:cs typeface="Times New Roman" pitchFamily="18" charset="0"/>
                <a:hlinkClick r:id="rId3"/>
              </a:rPr>
              <a:t> </a:t>
            </a:r>
            <a:r>
              <a:rPr lang="en-US" sz="2600" dirty="0">
                <a:latin typeface="Times New Roman" pitchFamily="18" charset="0"/>
                <a:cs typeface="Times New Roman" pitchFamily="18" charset="0"/>
              </a:rPr>
              <a:t>instantly. It is also used to escape the execution of a section of the program.</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solidFill>
                  <a:srgbClr val="FF0000"/>
                </a:solidFill>
                <a:latin typeface="Times New Roman" pitchFamily="18" charset="0"/>
                <a:cs typeface="Times New Roman" pitchFamily="18" charset="0"/>
              </a:rPr>
              <a:t>Iteration:</a:t>
            </a:r>
            <a:endParaRPr lang="en-US" dirty="0">
              <a:solidFill>
                <a:srgbClr val="FF0000"/>
              </a:solidFill>
            </a:endParaRPr>
          </a:p>
        </p:txBody>
      </p:sp>
      <p:sp>
        <p:nvSpPr>
          <p:cNvPr id="3" name="Content Placeholder 2"/>
          <p:cNvSpPr>
            <a:spLocks noGrp="1"/>
          </p:cNvSpPr>
          <p:nvPr>
            <p:ph idx="1"/>
          </p:nvPr>
        </p:nvSpPr>
        <p:spPr/>
        <p:txBody>
          <a:bodyPr>
            <a:normAutofit/>
          </a:bodyPr>
          <a:lstStyle/>
          <a:p>
            <a:r>
              <a:rPr lang="en-US" sz="2400" b="1" dirty="0">
                <a:latin typeface="Times New Roman" pitchFamily="18" charset="0"/>
                <a:cs typeface="Times New Roman" pitchFamily="18" charset="0"/>
              </a:rPr>
              <a:t>Iteration</a:t>
            </a:r>
            <a:r>
              <a:rPr lang="en-US" sz="2400" dirty="0">
                <a:latin typeface="Times New Roman" pitchFamily="18" charset="0"/>
                <a:cs typeface="Times New Roman" pitchFamily="18" charset="0"/>
              </a:rPr>
              <a:t> is the process where a set of instructions or statements is executed repeatedly for a specified number of time or until a condition is met. These statements also alter the control flow of the program and thus can also be classified as </a:t>
            </a:r>
            <a:r>
              <a:rPr lang="en-US" sz="2400" b="1" dirty="0">
                <a:latin typeface="Times New Roman" pitchFamily="18" charset="0"/>
                <a:cs typeface="Times New Roman" pitchFamily="18" charset="0"/>
              </a:rPr>
              <a:t>control statements</a:t>
            </a:r>
            <a:r>
              <a:rPr lang="en-US" sz="2400" dirty="0">
                <a:latin typeface="Times New Roman" pitchFamily="18" charset="0"/>
                <a:cs typeface="Times New Roman" pitchFamily="18" charset="0"/>
              </a:rPr>
              <a:t> in C Programming Language.</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while(</a:t>
            </a:r>
            <a:r>
              <a:rPr lang="en-US" dirty="0" err="1"/>
              <a:t>test_expression</a:t>
            </a:r>
            <a:r>
              <a:rPr lang="en-US" dirty="0"/>
              <a:t>)    </a:t>
            </a:r>
          </a:p>
          <a:p>
            <a:r>
              <a:rPr lang="en-US" dirty="0"/>
              <a:t> {         </a:t>
            </a:r>
          </a:p>
          <a:p>
            <a:r>
              <a:rPr lang="en-US" dirty="0"/>
              <a:t> statements;</a:t>
            </a:r>
          </a:p>
          <a:p>
            <a:r>
              <a:rPr lang="en-US" dirty="0"/>
              <a:t> while(</a:t>
            </a:r>
            <a:r>
              <a:rPr lang="en-US" dirty="0" err="1"/>
              <a:t>test_expression</a:t>
            </a:r>
            <a:r>
              <a:rPr lang="en-US" dirty="0"/>
              <a:t>)   </a:t>
            </a:r>
          </a:p>
          <a:p>
            <a:r>
              <a:rPr lang="en-US" dirty="0"/>
              <a:t>  {             </a:t>
            </a:r>
          </a:p>
          <a:p>
            <a:pPr>
              <a:buNone/>
            </a:pPr>
            <a:r>
              <a:rPr lang="en-US" dirty="0"/>
              <a:t> statements;       </a:t>
            </a:r>
          </a:p>
          <a:p>
            <a:pPr>
              <a:buNone/>
            </a:pPr>
            <a:r>
              <a:rPr lang="en-US" dirty="0"/>
              <a:t>}      </a:t>
            </a:r>
          </a:p>
          <a:p>
            <a:pPr>
              <a:buNone/>
            </a:pPr>
            <a:r>
              <a:rPr lang="en-US" dirty="0"/>
              <a:t> }</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04800" y="304800"/>
            <a:ext cx="8610600" cy="6096000"/>
          </a:xfrm>
          <a:prstGeom prst="rect">
            <a:avLst/>
          </a:prstGeom>
          <a:noFill/>
          <a:ln w="9525">
            <a:noFill/>
            <a:miter lim="800000"/>
            <a:headEnd/>
            <a:tailEnd/>
          </a:ln>
          <a:effectLst/>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Example:</a:t>
            </a:r>
          </a:p>
        </p:txBody>
      </p:sp>
      <p:sp>
        <p:nvSpPr>
          <p:cNvPr id="3" name="Content Placeholder 2"/>
          <p:cNvSpPr>
            <a:spLocks noGrp="1"/>
          </p:cNvSpPr>
          <p:nvPr>
            <p:ph idx="1"/>
          </p:nvPr>
        </p:nvSpPr>
        <p:spPr/>
        <p:txBody>
          <a:bodyPr>
            <a:normAutofit fontScale="32500" lnSpcReduction="20000"/>
          </a:bodyPr>
          <a:lstStyle/>
          <a:p>
            <a:r>
              <a:rPr lang="en-US" sz="5500" dirty="0" err="1">
                <a:latin typeface="Times New Roman" pitchFamily="18" charset="0"/>
                <a:cs typeface="Times New Roman" pitchFamily="18" charset="0"/>
              </a:rPr>
              <a:t>int</a:t>
            </a:r>
            <a:r>
              <a:rPr lang="en-US" sz="5500" dirty="0">
                <a:latin typeface="Times New Roman" pitchFamily="18" charset="0"/>
                <a:cs typeface="Times New Roman" pitchFamily="18" charset="0"/>
              </a:rPr>
              <a:t> main()</a:t>
            </a:r>
          </a:p>
          <a:p>
            <a:r>
              <a:rPr lang="en-US" sz="5500" dirty="0">
                <a:latin typeface="Times New Roman" pitchFamily="18" charset="0"/>
                <a:cs typeface="Times New Roman" pitchFamily="18" charset="0"/>
              </a:rPr>
              <a:t>{</a:t>
            </a:r>
          </a:p>
          <a:p>
            <a:r>
              <a:rPr lang="en-US" sz="5500" dirty="0" err="1">
                <a:latin typeface="Times New Roman" pitchFamily="18" charset="0"/>
                <a:cs typeface="Times New Roman" pitchFamily="18" charset="0"/>
              </a:rPr>
              <a:t>int</a:t>
            </a:r>
            <a:r>
              <a:rPr lang="en-US" sz="5500" dirty="0">
                <a:latin typeface="Times New Roman" pitchFamily="18" charset="0"/>
                <a:cs typeface="Times New Roman" pitchFamily="18" charset="0"/>
              </a:rPr>
              <a:t> </a:t>
            </a:r>
            <a:r>
              <a:rPr lang="en-US" sz="5500" dirty="0" err="1">
                <a:latin typeface="Times New Roman" pitchFamily="18" charset="0"/>
                <a:cs typeface="Times New Roman" pitchFamily="18" charset="0"/>
              </a:rPr>
              <a:t>i</a:t>
            </a:r>
            <a:r>
              <a:rPr lang="en-US" sz="5500" dirty="0">
                <a:latin typeface="Times New Roman" pitchFamily="18" charset="0"/>
                <a:cs typeface="Times New Roman" pitchFamily="18" charset="0"/>
              </a:rPr>
              <a:t>=1;</a:t>
            </a:r>
          </a:p>
          <a:p>
            <a:r>
              <a:rPr lang="en-US" sz="5500" b="1" dirty="0">
                <a:latin typeface="Times New Roman" pitchFamily="18" charset="0"/>
                <a:cs typeface="Times New Roman" pitchFamily="18" charset="0"/>
              </a:rPr>
              <a:t>while</a:t>
            </a:r>
            <a:r>
              <a:rPr lang="en-US" sz="5500" dirty="0">
                <a:latin typeface="Times New Roman" pitchFamily="18" charset="0"/>
                <a:cs typeface="Times New Roman" pitchFamily="18" charset="0"/>
              </a:rPr>
              <a:t>(</a:t>
            </a:r>
            <a:r>
              <a:rPr lang="en-US" sz="5500" dirty="0" err="1">
                <a:latin typeface="Times New Roman" pitchFamily="18" charset="0"/>
                <a:cs typeface="Times New Roman" pitchFamily="18" charset="0"/>
              </a:rPr>
              <a:t>i</a:t>
            </a:r>
            <a:r>
              <a:rPr lang="en-US" sz="5500" dirty="0">
                <a:latin typeface="Times New Roman" pitchFamily="18" charset="0"/>
                <a:cs typeface="Times New Roman" pitchFamily="18" charset="0"/>
              </a:rPr>
              <a:t>&lt;=3){</a:t>
            </a:r>
          </a:p>
          <a:p>
            <a:r>
              <a:rPr lang="en-US" sz="5500" dirty="0" err="1">
                <a:latin typeface="Times New Roman" pitchFamily="18" charset="0"/>
                <a:cs typeface="Times New Roman" pitchFamily="18" charset="0"/>
              </a:rPr>
              <a:t>printf</a:t>
            </a:r>
            <a:r>
              <a:rPr lang="en-US" sz="5500" dirty="0">
                <a:latin typeface="Times New Roman" pitchFamily="18" charset="0"/>
                <a:cs typeface="Times New Roman" pitchFamily="18" charset="0"/>
              </a:rPr>
              <a:t>("%d :inner loop is executed only once\</a:t>
            </a:r>
            <a:r>
              <a:rPr lang="en-US" sz="5500" dirty="0" err="1">
                <a:latin typeface="Times New Roman" pitchFamily="18" charset="0"/>
                <a:cs typeface="Times New Roman" pitchFamily="18" charset="0"/>
              </a:rPr>
              <a:t>n",i</a:t>
            </a:r>
            <a:r>
              <a:rPr lang="en-US" sz="5500" dirty="0">
                <a:latin typeface="Times New Roman" pitchFamily="18" charset="0"/>
                <a:cs typeface="Times New Roman" pitchFamily="18" charset="0"/>
              </a:rPr>
              <a:t>);</a:t>
            </a:r>
          </a:p>
          <a:p>
            <a:r>
              <a:rPr lang="en-US" sz="5500" dirty="0" err="1">
                <a:latin typeface="Times New Roman" pitchFamily="18" charset="0"/>
                <a:cs typeface="Times New Roman" pitchFamily="18" charset="0"/>
              </a:rPr>
              <a:t>int</a:t>
            </a:r>
            <a:r>
              <a:rPr lang="en-US" sz="5500" dirty="0">
                <a:latin typeface="Times New Roman" pitchFamily="18" charset="0"/>
                <a:cs typeface="Times New Roman" pitchFamily="18" charset="0"/>
              </a:rPr>
              <a:t> j=1;</a:t>
            </a:r>
          </a:p>
          <a:p>
            <a:r>
              <a:rPr lang="en-US" sz="5500" b="1" dirty="0">
                <a:latin typeface="Times New Roman" pitchFamily="18" charset="0"/>
                <a:cs typeface="Times New Roman" pitchFamily="18" charset="0"/>
              </a:rPr>
              <a:t>while</a:t>
            </a:r>
            <a:r>
              <a:rPr lang="en-US" sz="5500" dirty="0">
                <a:latin typeface="Times New Roman" pitchFamily="18" charset="0"/>
                <a:cs typeface="Times New Roman" pitchFamily="18" charset="0"/>
              </a:rPr>
              <a:t>(j&lt;=4){</a:t>
            </a:r>
          </a:p>
          <a:p>
            <a:r>
              <a:rPr lang="en-US" sz="5500" dirty="0" err="1">
                <a:latin typeface="Times New Roman" pitchFamily="18" charset="0"/>
                <a:cs typeface="Times New Roman" pitchFamily="18" charset="0"/>
              </a:rPr>
              <a:t>printf</a:t>
            </a:r>
            <a:r>
              <a:rPr lang="en-US" sz="5500" dirty="0">
                <a:latin typeface="Times New Roman" pitchFamily="18" charset="0"/>
                <a:cs typeface="Times New Roman" pitchFamily="18" charset="0"/>
              </a:rPr>
              <a:t>("%d :Outer loop is executed until to completion\</a:t>
            </a:r>
            <a:r>
              <a:rPr lang="en-US" sz="5500" dirty="0" err="1">
                <a:latin typeface="Times New Roman" pitchFamily="18" charset="0"/>
                <a:cs typeface="Times New Roman" pitchFamily="18" charset="0"/>
              </a:rPr>
              <a:t>n",j</a:t>
            </a:r>
            <a:r>
              <a:rPr lang="en-US" sz="5500" dirty="0">
                <a:latin typeface="Times New Roman" pitchFamily="18" charset="0"/>
                <a:cs typeface="Times New Roman" pitchFamily="18" charset="0"/>
              </a:rPr>
              <a:t>);</a:t>
            </a:r>
          </a:p>
          <a:p>
            <a:r>
              <a:rPr lang="en-US" sz="5500" dirty="0">
                <a:latin typeface="Times New Roman" pitchFamily="18" charset="0"/>
                <a:cs typeface="Times New Roman" pitchFamily="18" charset="0"/>
              </a:rPr>
              <a:t>j++;</a:t>
            </a:r>
          </a:p>
          <a:p>
            <a:r>
              <a:rPr lang="en-US" sz="5500" dirty="0">
                <a:latin typeface="Times New Roman" pitchFamily="18" charset="0"/>
                <a:cs typeface="Times New Roman" pitchFamily="18" charset="0"/>
              </a:rPr>
              <a:t>}</a:t>
            </a:r>
          </a:p>
          <a:p>
            <a:r>
              <a:rPr lang="en-US" sz="5500" dirty="0" err="1">
                <a:latin typeface="Times New Roman" pitchFamily="18" charset="0"/>
                <a:cs typeface="Times New Roman" pitchFamily="18" charset="0"/>
              </a:rPr>
              <a:t>i</a:t>
            </a:r>
            <a:r>
              <a:rPr lang="en-US" sz="5500" dirty="0">
                <a:latin typeface="Times New Roman" pitchFamily="18" charset="0"/>
                <a:cs typeface="Times New Roman" pitchFamily="18" charset="0"/>
              </a:rPr>
              <a:t>++;</a:t>
            </a:r>
          </a:p>
          <a:p>
            <a:r>
              <a:rPr lang="en-US" sz="5500" dirty="0">
                <a:latin typeface="Times New Roman" pitchFamily="18" charset="0"/>
                <a:cs typeface="Times New Roman" pitchFamily="18" charset="0"/>
              </a:rPr>
              <a:t>}</a:t>
            </a:r>
          </a:p>
          <a:p>
            <a:r>
              <a:rPr lang="en-US" sz="5500" dirty="0" err="1">
                <a:latin typeface="Times New Roman" pitchFamily="18" charset="0"/>
                <a:cs typeface="Times New Roman" pitchFamily="18" charset="0"/>
              </a:rPr>
              <a:t>getch</a:t>
            </a:r>
            <a:r>
              <a:rPr lang="en-US" sz="5500" dirty="0">
                <a:latin typeface="Times New Roman" pitchFamily="18" charset="0"/>
                <a:cs typeface="Times New Roman" pitchFamily="18" charset="0"/>
              </a:rPr>
              <a:t>();</a:t>
            </a:r>
          </a:p>
          <a:p>
            <a:r>
              <a:rPr lang="en-US" sz="5500" b="1" dirty="0">
                <a:latin typeface="Times New Roman" pitchFamily="18" charset="0"/>
                <a:cs typeface="Times New Roman" pitchFamily="18" charset="0"/>
              </a:rPr>
              <a:t>return</a:t>
            </a:r>
            <a:r>
              <a:rPr lang="en-US" sz="5500" dirty="0">
                <a:latin typeface="Times New Roman" pitchFamily="18" charset="0"/>
                <a:cs typeface="Times New Roman" pitchFamily="18" charset="0"/>
              </a:rPr>
              <a:t> 0;</a:t>
            </a:r>
          </a:p>
          <a:p>
            <a:r>
              <a:rPr lang="en-US" sz="5500" dirty="0">
                <a:latin typeface="Times New Roman" pitchFamily="18" charset="0"/>
                <a:cs typeface="Times New Roman" pitchFamily="18" charset="0"/>
              </a:rPr>
              <a:t>}</a:t>
            </a:r>
          </a:p>
          <a:p>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
            </a:r>
            <a:br>
              <a:rPr lang="en-US" sz="3200" dirty="0">
                <a:solidFill>
                  <a:srgbClr val="FF0000"/>
                </a:solidFill>
                <a:latin typeface="Times New Roman" pitchFamily="18" charset="0"/>
                <a:cs typeface="Times New Roman" pitchFamily="18" charset="0"/>
              </a:rPr>
            </a:br>
            <a:r>
              <a:rPr lang="en-US" sz="3200" dirty="0">
                <a:solidFill>
                  <a:srgbClr val="FF0000"/>
                </a:solidFill>
                <a:latin typeface="Times New Roman" pitchFamily="18" charset="0"/>
                <a:cs typeface="Times New Roman" pitchFamily="18" charset="0"/>
              </a:rPr>
              <a:t>Example on </a:t>
            </a:r>
            <a:r>
              <a:rPr lang="en-US" sz="3200">
                <a:solidFill>
                  <a:srgbClr val="FF0000"/>
                </a:solidFill>
                <a:latin typeface="Times New Roman" pitchFamily="18" charset="0"/>
                <a:cs typeface="Times New Roman" pitchFamily="18" charset="0"/>
              </a:rPr>
              <a:t>Multiplication table:</a:t>
            </a:r>
            <a:endParaRPr lang="en-US" sz="32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25000" lnSpcReduction="20000"/>
          </a:bodyPr>
          <a:lstStyle/>
          <a:p>
            <a:r>
              <a:rPr lang="en-US" sz="7200" dirty="0" err="1">
                <a:latin typeface="Times New Roman" pitchFamily="18" charset="0"/>
                <a:cs typeface="Times New Roman" pitchFamily="18" charset="0"/>
              </a:rPr>
              <a:t>int</a:t>
            </a:r>
            <a:r>
              <a:rPr lang="en-US" sz="7200" dirty="0">
                <a:latin typeface="Times New Roman" pitchFamily="18" charset="0"/>
                <a:cs typeface="Times New Roman" pitchFamily="18" charset="0"/>
              </a:rPr>
              <a:t> main()</a:t>
            </a:r>
          </a:p>
          <a:p>
            <a:r>
              <a:rPr lang="en-US" sz="7200" dirty="0">
                <a:latin typeface="Times New Roman" pitchFamily="18" charset="0"/>
                <a:cs typeface="Times New Roman" pitchFamily="18" charset="0"/>
              </a:rPr>
              <a:t>{</a:t>
            </a:r>
          </a:p>
          <a:p>
            <a:r>
              <a:rPr lang="en-US" sz="7200" dirty="0" err="1">
                <a:latin typeface="Times New Roman" pitchFamily="18" charset="0"/>
                <a:cs typeface="Times New Roman" pitchFamily="18" charset="0"/>
              </a:rPr>
              <a:t>printf</a:t>
            </a:r>
            <a:r>
              <a:rPr lang="en-US" sz="7200" dirty="0">
                <a:latin typeface="Times New Roman" pitchFamily="18" charset="0"/>
                <a:cs typeface="Times New Roman" pitchFamily="18" charset="0"/>
              </a:rPr>
              <a:t>("Multiplication table\n\n");</a:t>
            </a:r>
          </a:p>
          <a:p>
            <a:r>
              <a:rPr lang="en-US" sz="7200" dirty="0" err="1">
                <a:latin typeface="Times New Roman" pitchFamily="18" charset="0"/>
                <a:cs typeface="Times New Roman" pitchFamily="18" charset="0"/>
              </a:rPr>
              <a:t>int</a:t>
            </a:r>
            <a:r>
              <a:rPr lang="en-US" sz="7200" dirty="0">
                <a:latin typeface="Times New Roman" pitchFamily="18" charset="0"/>
                <a:cs typeface="Times New Roman" pitchFamily="18" charset="0"/>
              </a:rPr>
              <a:t> </a:t>
            </a:r>
            <a:r>
              <a:rPr lang="en-US" sz="7200" dirty="0" err="1">
                <a:latin typeface="Times New Roman" pitchFamily="18" charset="0"/>
                <a:cs typeface="Times New Roman" pitchFamily="18" charset="0"/>
              </a:rPr>
              <a:t>i</a:t>
            </a:r>
            <a:r>
              <a:rPr lang="en-US" sz="7200" dirty="0">
                <a:latin typeface="Times New Roman" pitchFamily="18" charset="0"/>
                <a:cs typeface="Times New Roman" pitchFamily="18" charset="0"/>
              </a:rPr>
              <a:t>=1,j;</a:t>
            </a:r>
          </a:p>
          <a:p>
            <a:r>
              <a:rPr lang="en-US" sz="7200" b="1" dirty="0">
                <a:latin typeface="Times New Roman" pitchFamily="18" charset="0"/>
                <a:cs typeface="Times New Roman" pitchFamily="18" charset="0"/>
              </a:rPr>
              <a:t>while</a:t>
            </a:r>
            <a:r>
              <a:rPr lang="en-US" sz="7200" dirty="0">
                <a:latin typeface="Times New Roman" pitchFamily="18" charset="0"/>
                <a:cs typeface="Times New Roman" pitchFamily="18" charset="0"/>
              </a:rPr>
              <a:t>(</a:t>
            </a:r>
            <a:r>
              <a:rPr lang="en-US" sz="7200" dirty="0" err="1">
                <a:latin typeface="Times New Roman" pitchFamily="18" charset="0"/>
                <a:cs typeface="Times New Roman" pitchFamily="18" charset="0"/>
              </a:rPr>
              <a:t>i</a:t>
            </a:r>
            <a:r>
              <a:rPr lang="en-US" sz="7200" dirty="0">
                <a:latin typeface="Times New Roman" pitchFamily="18" charset="0"/>
                <a:cs typeface="Times New Roman" pitchFamily="18" charset="0"/>
              </a:rPr>
              <a:t>&lt;=10){</a:t>
            </a:r>
          </a:p>
          <a:p>
            <a:r>
              <a:rPr lang="en-US" sz="7200" dirty="0">
                <a:latin typeface="Times New Roman" pitchFamily="18" charset="0"/>
                <a:cs typeface="Times New Roman" pitchFamily="18" charset="0"/>
              </a:rPr>
              <a:t>j=1;</a:t>
            </a:r>
          </a:p>
          <a:p>
            <a:r>
              <a:rPr lang="en-US" sz="7200" b="1" dirty="0">
                <a:latin typeface="Times New Roman" pitchFamily="18" charset="0"/>
                <a:cs typeface="Times New Roman" pitchFamily="18" charset="0"/>
              </a:rPr>
              <a:t>while</a:t>
            </a:r>
            <a:r>
              <a:rPr lang="en-US" sz="7200" dirty="0">
                <a:latin typeface="Times New Roman" pitchFamily="18" charset="0"/>
                <a:cs typeface="Times New Roman" pitchFamily="18" charset="0"/>
              </a:rPr>
              <a:t>(j&lt;=10){</a:t>
            </a:r>
          </a:p>
          <a:p>
            <a:r>
              <a:rPr lang="en-US" sz="7200" dirty="0" err="1">
                <a:latin typeface="Times New Roman" pitchFamily="18" charset="0"/>
                <a:cs typeface="Times New Roman" pitchFamily="18" charset="0"/>
              </a:rPr>
              <a:t>printf</a:t>
            </a:r>
            <a:r>
              <a:rPr lang="en-US" sz="7200" dirty="0">
                <a:latin typeface="Times New Roman" pitchFamily="18" charset="0"/>
                <a:cs typeface="Times New Roman" pitchFamily="18" charset="0"/>
              </a:rPr>
              <a:t>("%d\</a:t>
            </a:r>
            <a:r>
              <a:rPr lang="en-US" sz="7200" dirty="0" err="1">
                <a:latin typeface="Times New Roman" pitchFamily="18" charset="0"/>
                <a:cs typeface="Times New Roman" pitchFamily="18" charset="0"/>
              </a:rPr>
              <a:t>t",j</a:t>
            </a:r>
            <a:r>
              <a:rPr lang="en-US" sz="7200" dirty="0">
                <a:latin typeface="Times New Roman" pitchFamily="18" charset="0"/>
                <a:cs typeface="Times New Roman" pitchFamily="18" charset="0"/>
              </a:rPr>
              <a:t>*</a:t>
            </a:r>
            <a:r>
              <a:rPr lang="en-US" sz="7200" dirty="0" err="1">
                <a:latin typeface="Times New Roman" pitchFamily="18" charset="0"/>
                <a:cs typeface="Times New Roman" pitchFamily="18" charset="0"/>
              </a:rPr>
              <a:t>i</a:t>
            </a:r>
            <a:r>
              <a:rPr lang="en-US" sz="7200" dirty="0">
                <a:latin typeface="Times New Roman" pitchFamily="18" charset="0"/>
                <a:cs typeface="Times New Roman" pitchFamily="18" charset="0"/>
              </a:rPr>
              <a:t>);</a:t>
            </a:r>
          </a:p>
          <a:p>
            <a:r>
              <a:rPr lang="en-US" sz="7200" dirty="0">
                <a:latin typeface="Times New Roman" pitchFamily="18" charset="0"/>
                <a:cs typeface="Times New Roman" pitchFamily="18" charset="0"/>
              </a:rPr>
              <a:t>j++;</a:t>
            </a:r>
          </a:p>
          <a:p>
            <a:r>
              <a:rPr lang="en-US" sz="7200" dirty="0">
                <a:latin typeface="Times New Roman" pitchFamily="18" charset="0"/>
                <a:cs typeface="Times New Roman" pitchFamily="18" charset="0"/>
              </a:rPr>
              <a:t>}</a:t>
            </a:r>
          </a:p>
          <a:p>
            <a:r>
              <a:rPr lang="en-US" sz="7200" dirty="0" err="1">
                <a:latin typeface="Times New Roman" pitchFamily="18" charset="0"/>
                <a:cs typeface="Times New Roman" pitchFamily="18" charset="0"/>
              </a:rPr>
              <a:t>printf</a:t>
            </a:r>
            <a:r>
              <a:rPr lang="en-US" sz="7200" dirty="0">
                <a:latin typeface="Times New Roman" pitchFamily="18" charset="0"/>
                <a:cs typeface="Times New Roman" pitchFamily="18" charset="0"/>
              </a:rPr>
              <a:t>("\n");</a:t>
            </a:r>
          </a:p>
          <a:p>
            <a:r>
              <a:rPr lang="en-US" sz="7200" dirty="0" err="1">
                <a:latin typeface="Times New Roman" pitchFamily="18" charset="0"/>
                <a:cs typeface="Times New Roman" pitchFamily="18" charset="0"/>
              </a:rPr>
              <a:t>i</a:t>
            </a:r>
            <a:r>
              <a:rPr lang="en-US" sz="7200" dirty="0">
                <a:latin typeface="Times New Roman" pitchFamily="18" charset="0"/>
                <a:cs typeface="Times New Roman" pitchFamily="18" charset="0"/>
              </a:rPr>
              <a:t>++;</a:t>
            </a:r>
          </a:p>
          <a:p>
            <a:r>
              <a:rPr lang="en-US" sz="7200" dirty="0">
                <a:latin typeface="Times New Roman" pitchFamily="18" charset="0"/>
                <a:cs typeface="Times New Roman" pitchFamily="18" charset="0"/>
              </a:rPr>
              <a:t>}</a:t>
            </a:r>
          </a:p>
          <a:p>
            <a:r>
              <a:rPr lang="en-US" sz="7200" dirty="0" err="1">
                <a:latin typeface="Times New Roman" pitchFamily="18" charset="0"/>
                <a:cs typeface="Times New Roman" pitchFamily="18" charset="0"/>
              </a:rPr>
              <a:t>getch</a:t>
            </a:r>
            <a:r>
              <a:rPr lang="en-US" sz="7200" dirty="0">
                <a:latin typeface="Times New Roman" pitchFamily="18" charset="0"/>
                <a:cs typeface="Times New Roman" pitchFamily="18" charset="0"/>
              </a:rPr>
              <a:t>();</a:t>
            </a:r>
          </a:p>
          <a:p>
            <a:r>
              <a:rPr lang="en-US" sz="7200" b="1" dirty="0">
                <a:latin typeface="Times New Roman" pitchFamily="18" charset="0"/>
                <a:cs typeface="Times New Roman" pitchFamily="18" charset="0"/>
              </a:rPr>
              <a:t>return</a:t>
            </a:r>
            <a:r>
              <a:rPr lang="en-US" sz="7200" dirty="0">
                <a:latin typeface="Times New Roman" pitchFamily="18" charset="0"/>
                <a:cs typeface="Times New Roman" pitchFamily="18" charset="0"/>
              </a:rPr>
              <a:t> 0;</a:t>
            </a:r>
          </a:p>
          <a:p>
            <a:r>
              <a:rPr lang="en-US" sz="7200" dirty="0">
                <a:latin typeface="Times New Roman" pitchFamily="18" charset="0"/>
                <a:cs typeface="Times New Roman" pitchFamily="18" charset="0"/>
              </a:rPr>
              <a:t>}</a:t>
            </a:r>
          </a:p>
          <a:p>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Do While:</a:t>
            </a:r>
          </a:p>
        </p:txBody>
      </p:sp>
      <p:sp>
        <p:nvSpPr>
          <p:cNvPr id="3" name="Content Placeholder 2"/>
          <p:cNvSpPr>
            <a:spLocks noGrp="1"/>
          </p:cNvSpPr>
          <p:nvPr>
            <p:ph idx="1"/>
          </p:nvPr>
        </p:nvSpPr>
        <p:spPr/>
        <p:txBody>
          <a:bodyPr>
            <a:normAutofit/>
          </a:bodyPr>
          <a:lstStyle/>
          <a:p>
            <a:r>
              <a:rPr lang="en-US" sz="2600" dirty="0">
                <a:latin typeface="Times New Roman" pitchFamily="18" charset="0"/>
                <a:cs typeface="Times New Roman" pitchFamily="18" charset="0"/>
              </a:rPr>
              <a:t>#include&lt;</a:t>
            </a:r>
            <a:r>
              <a:rPr lang="en-US" sz="2600" dirty="0" err="1">
                <a:latin typeface="Times New Roman" pitchFamily="18" charset="0"/>
                <a:cs typeface="Times New Roman" pitchFamily="18" charset="0"/>
              </a:rPr>
              <a:t>stdio.h</a:t>
            </a:r>
            <a:r>
              <a:rPr lang="en-US" sz="2600" dirty="0">
                <a:latin typeface="Times New Roman" pitchFamily="18" charset="0"/>
                <a:cs typeface="Times New Roman" pitchFamily="18" charset="0"/>
              </a:rPr>
              <a:t>&gt;  </a:t>
            </a:r>
          </a:p>
          <a:p>
            <a:r>
              <a:rPr lang="en-US" sz="2600" b="1" dirty="0" err="1">
                <a:latin typeface="Times New Roman" pitchFamily="18" charset="0"/>
                <a:cs typeface="Times New Roman" pitchFamily="18" charset="0"/>
              </a:rPr>
              <a:t>int</a:t>
            </a:r>
            <a:r>
              <a:rPr lang="en-US" sz="2600" dirty="0">
                <a:latin typeface="Times New Roman" pitchFamily="18" charset="0"/>
                <a:cs typeface="Times New Roman" pitchFamily="18" charset="0"/>
              </a:rPr>
              <a:t> main(){    </a:t>
            </a:r>
          </a:p>
          <a:p>
            <a:r>
              <a:rPr lang="en-US" sz="2600" b="1" dirty="0" err="1">
                <a:latin typeface="Times New Roman" pitchFamily="18" charset="0"/>
                <a:cs typeface="Times New Roman" pitchFamily="18" charset="0"/>
              </a:rPr>
              <a:t>int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i</a:t>
            </a:r>
            <a:r>
              <a:rPr lang="en-US" sz="2600" dirty="0">
                <a:latin typeface="Times New Roman" pitchFamily="18" charset="0"/>
                <a:cs typeface="Times New Roman" pitchFamily="18" charset="0"/>
              </a:rPr>
              <a:t>=1;      </a:t>
            </a:r>
          </a:p>
          <a:p>
            <a:r>
              <a:rPr lang="en-US" sz="2600" b="1" dirty="0">
                <a:latin typeface="Times New Roman" pitchFamily="18" charset="0"/>
                <a:cs typeface="Times New Roman" pitchFamily="18" charset="0"/>
              </a:rPr>
              <a:t>do</a:t>
            </a:r>
            <a:r>
              <a:rPr lang="en-US" sz="2600" dirty="0">
                <a:latin typeface="Times New Roman" pitchFamily="18" charset="0"/>
                <a:cs typeface="Times New Roman" pitchFamily="18" charset="0"/>
              </a:rPr>
              <a:t>{    </a:t>
            </a:r>
          </a:p>
          <a:p>
            <a:r>
              <a:rPr lang="en-US" sz="2600" dirty="0" err="1">
                <a:latin typeface="Times New Roman" pitchFamily="18" charset="0"/>
                <a:cs typeface="Times New Roman" pitchFamily="18" charset="0"/>
              </a:rPr>
              <a:t>printf</a:t>
            </a:r>
            <a:r>
              <a:rPr lang="en-US" sz="2600" dirty="0">
                <a:latin typeface="Times New Roman" pitchFamily="18" charset="0"/>
                <a:cs typeface="Times New Roman" pitchFamily="18" charset="0"/>
              </a:rPr>
              <a:t>("%d \</a:t>
            </a:r>
            <a:r>
              <a:rPr lang="en-US" sz="2600" dirty="0" err="1">
                <a:latin typeface="Times New Roman" pitchFamily="18" charset="0"/>
                <a:cs typeface="Times New Roman" pitchFamily="18" charset="0"/>
              </a:rPr>
              <a:t>n",i</a:t>
            </a:r>
            <a:r>
              <a:rPr lang="en-US" sz="2600" dirty="0">
                <a:latin typeface="Times New Roman" pitchFamily="18" charset="0"/>
                <a:cs typeface="Times New Roman" pitchFamily="18" charset="0"/>
              </a:rPr>
              <a:t>);    </a:t>
            </a:r>
          </a:p>
          <a:p>
            <a:r>
              <a:rPr lang="en-US" sz="2600" dirty="0" err="1">
                <a:latin typeface="Times New Roman" pitchFamily="18" charset="0"/>
                <a:cs typeface="Times New Roman" pitchFamily="18" charset="0"/>
              </a:rPr>
              <a:t>i</a:t>
            </a:r>
            <a:r>
              <a:rPr lang="en-US" sz="2600" dirty="0">
                <a:latin typeface="Times New Roman" pitchFamily="18" charset="0"/>
                <a:cs typeface="Times New Roman" pitchFamily="18" charset="0"/>
              </a:rPr>
              <a:t>++;    </a:t>
            </a:r>
          </a:p>
          <a:p>
            <a:r>
              <a:rPr lang="en-US" sz="2600" dirty="0">
                <a:latin typeface="Times New Roman" pitchFamily="18" charset="0"/>
                <a:cs typeface="Times New Roman" pitchFamily="18" charset="0"/>
              </a:rPr>
              <a:t>}</a:t>
            </a:r>
            <a:r>
              <a:rPr lang="en-US" sz="2600" b="1" dirty="0">
                <a:latin typeface="Times New Roman" pitchFamily="18" charset="0"/>
                <a:cs typeface="Times New Roman" pitchFamily="18" charset="0"/>
              </a:rPr>
              <a:t>while</a:t>
            </a:r>
            <a:r>
              <a:rPr lang="en-US" sz="2600" dirty="0">
                <a:latin typeface="Times New Roman" pitchFamily="18" charset="0"/>
                <a:cs typeface="Times New Roman" pitchFamily="18" charset="0"/>
              </a:rPr>
              <a:t>(</a:t>
            </a:r>
            <a:r>
              <a:rPr lang="en-US" sz="2600" dirty="0" err="1">
                <a:latin typeface="Times New Roman" pitchFamily="18" charset="0"/>
                <a:cs typeface="Times New Roman" pitchFamily="18" charset="0"/>
              </a:rPr>
              <a:t>i</a:t>
            </a:r>
            <a:r>
              <a:rPr lang="en-US" sz="2600" dirty="0">
                <a:latin typeface="Times New Roman" pitchFamily="18" charset="0"/>
                <a:cs typeface="Times New Roman" pitchFamily="18" charset="0"/>
              </a:rPr>
              <a:t>&lt;=10);   </a:t>
            </a:r>
          </a:p>
          <a:p>
            <a:r>
              <a:rPr lang="en-US" sz="2600" b="1" dirty="0">
                <a:latin typeface="Times New Roman" pitchFamily="18" charset="0"/>
                <a:cs typeface="Times New Roman" pitchFamily="18" charset="0"/>
              </a:rPr>
              <a:t>return</a:t>
            </a:r>
            <a:r>
              <a:rPr lang="en-US" sz="2600" dirty="0">
                <a:latin typeface="Times New Roman" pitchFamily="18" charset="0"/>
                <a:cs typeface="Times New Roman" pitchFamily="18" charset="0"/>
              </a:rPr>
              <a:t> 0;  </a:t>
            </a:r>
          </a:p>
          <a:p>
            <a:r>
              <a:rPr lang="en-US" sz="2600" dirty="0">
                <a:latin typeface="Times New Roman" pitchFamily="18" charset="0"/>
                <a:cs typeface="Times New Roman" pitchFamily="18" charset="0"/>
              </a:rPr>
              <a:t>}    </a:t>
            </a:r>
          </a:p>
          <a:p>
            <a:endParaRPr 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Example2</a:t>
            </a:r>
          </a:p>
        </p:txBody>
      </p:sp>
      <p:sp>
        <p:nvSpPr>
          <p:cNvPr id="3" name="Content Placeholder 2"/>
          <p:cNvSpPr>
            <a:spLocks noGrp="1"/>
          </p:cNvSpPr>
          <p:nvPr>
            <p:ph idx="1"/>
          </p:nvPr>
        </p:nvSpPr>
        <p:spPr>
          <a:xfrm>
            <a:off x="457200" y="1600200"/>
            <a:ext cx="8229600" cy="5029200"/>
          </a:xfrm>
        </p:spPr>
        <p:txBody>
          <a:bodyPr>
            <a:noAutofit/>
          </a:bodyPr>
          <a:lstStyle/>
          <a:p>
            <a:r>
              <a:rPr lang="en-US" sz="2400" dirty="0">
                <a:latin typeface="Times New Roman" pitchFamily="18" charset="0"/>
                <a:cs typeface="Times New Roman" pitchFamily="18" charset="0"/>
              </a:rPr>
              <a:t>#include&lt;</a:t>
            </a:r>
            <a:r>
              <a:rPr lang="en-US" sz="2400" dirty="0" err="1">
                <a:latin typeface="Times New Roman" pitchFamily="18" charset="0"/>
                <a:cs typeface="Times New Roman" pitchFamily="18" charset="0"/>
              </a:rPr>
              <a:t>stdio.h</a:t>
            </a:r>
            <a:r>
              <a:rPr lang="en-US" sz="2400" dirty="0">
                <a:latin typeface="Times New Roman" pitchFamily="18" charset="0"/>
                <a:cs typeface="Times New Roman" pitchFamily="18" charset="0"/>
              </a:rPr>
              <a:t>&gt;  </a:t>
            </a:r>
          </a:p>
          <a:p>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main(){    </a:t>
            </a:r>
          </a:p>
          <a:p>
            <a:r>
              <a:rPr lang="en-US" sz="2400" b="1" dirty="0" err="1">
                <a:latin typeface="Times New Roman" pitchFamily="18" charset="0"/>
                <a:cs typeface="Times New Roman" pitchFamily="18" charset="0"/>
              </a:rPr>
              <a:t>int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=1,number=0;    </a:t>
            </a:r>
          </a:p>
          <a:p>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("Enter a number: ");    </a:t>
            </a:r>
          </a:p>
          <a:p>
            <a:r>
              <a:rPr lang="en-US" sz="2400" dirty="0" err="1">
                <a:latin typeface="Times New Roman" pitchFamily="18" charset="0"/>
                <a:cs typeface="Times New Roman" pitchFamily="18" charset="0"/>
              </a:rPr>
              <a:t>scanf</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d",&amp;number</a:t>
            </a:r>
            <a:r>
              <a:rPr lang="en-US" sz="2400" dirty="0">
                <a:latin typeface="Times New Roman" pitchFamily="18" charset="0"/>
                <a:cs typeface="Times New Roman" pitchFamily="18" charset="0"/>
              </a:rPr>
              <a:t>);    </a:t>
            </a:r>
          </a:p>
          <a:p>
            <a:r>
              <a:rPr lang="en-US" sz="2400" b="1" dirty="0">
                <a:latin typeface="Times New Roman" pitchFamily="18" charset="0"/>
                <a:cs typeface="Times New Roman" pitchFamily="18" charset="0"/>
              </a:rPr>
              <a:t>do</a:t>
            </a:r>
            <a:r>
              <a:rPr lang="en-US" sz="2400" dirty="0">
                <a:latin typeface="Times New Roman" pitchFamily="18" charset="0"/>
                <a:cs typeface="Times New Roman" pitchFamily="18" charset="0"/>
              </a:rPr>
              <a:t>{    </a:t>
            </a:r>
          </a:p>
          <a:p>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("%d \n",(number*</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a:t>
            </a:r>
          </a:p>
          <a:p>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a:t>
            </a:r>
            <a:r>
              <a:rPr lang="en-US" sz="2400" b="1" dirty="0">
                <a:latin typeface="Times New Roman" pitchFamily="18" charset="0"/>
                <a:cs typeface="Times New Roman" pitchFamily="18" charset="0"/>
              </a:rPr>
              <a:t>while</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&lt;=10);    </a:t>
            </a:r>
          </a:p>
          <a:p>
            <a:r>
              <a:rPr lang="en-US" sz="2400" b="1" dirty="0">
                <a:latin typeface="Times New Roman" pitchFamily="18" charset="0"/>
                <a:cs typeface="Times New Roman" pitchFamily="18" charset="0"/>
              </a:rPr>
              <a:t>return</a:t>
            </a:r>
            <a:r>
              <a:rPr lang="en-US" sz="2400" dirty="0">
                <a:latin typeface="Times New Roman" pitchFamily="18" charset="0"/>
                <a:cs typeface="Times New Roman" pitchFamily="18" charset="0"/>
              </a:rPr>
              <a:t> 0;  </a:t>
            </a:r>
          </a:p>
          <a:p>
            <a:r>
              <a:rPr lang="en-US" sz="2400" dirty="0">
                <a:latin typeface="Times New Roman" pitchFamily="18" charset="0"/>
                <a:cs typeface="Times New Roman" pitchFamily="18" charset="0"/>
              </a:rPr>
              <a:t>} </a:t>
            </a:r>
          </a:p>
          <a:p>
            <a:endParaRPr lang="en-US" sz="2400" dirty="0">
              <a:latin typeface="Times New Roman" pitchFamily="18" charset="0"/>
              <a:cs typeface="Times New Roman" pitchFamily="18"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Flow Diagram for Do While :</a:t>
            </a:r>
          </a:p>
        </p:txBody>
      </p:sp>
      <p:pic>
        <p:nvPicPr>
          <p:cNvPr id="1026" name="Picture 2"/>
          <p:cNvPicPr>
            <a:picLocks noGrp="1" noChangeAspect="1" noChangeArrowheads="1"/>
          </p:cNvPicPr>
          <p:nvPr>
            <p:ph idx="1"/>
          </p:nvPr>
        </p:nvPicPr>
        <p:blipFill>
          <a:blip r:embed="rId2"/>
          <a:srcRect/>
          <a:stretch>
            <a:fillRect/>
          </a:stretch>
        </p:blipFill>
        <p:spPr bwMode="auto">
          <a:xfrm>
            <a:off x="1600200" y="1676400"/>
            <a:ext cx="5943600" cy="4953000"/>
          </a:xfrm>
          <a:prstGeom prst="rect">
            <a:avLst/>
          </a:prstGeom>
          <a:noFill/>
          <a:ln w="9525">
            <a:noFill/>
            <a:miter lim="800000"/>
            <a:headEnd/>
            <a:tailEnd/>
          </a:ln>
          <a:effectLst/>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457200" y="228600"/>
            <a:ext cx="7924800" cy="6248399"/>
          </a:xfrm>
          <a:prstGeom prst="rect">
            <a:avLst/>
          </a:prstGeom>
          <a:noFill/>
          <a:ln w="9525">
            <a:noFill/>
            <a:miter lim="800000"/>
            <a:headEnd/>
            <a:tailEnd/>
          </a:ln>
          <a:effectLst/>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81000" y="228600"/>
            <a:ext cx="8077200" cy="6400800"/>
          </a:xfrm>
          <a:prstGeom prst="rect">
            <a:avLst/>
          </a:prstGeom>
          <a:noFill/>
          <a:ln w="9525">
            <a:noFill/>
            <a:miter lim="800000"/>
            <a:headEnd/>
            <a:tailEnd/>
          </a:ln>
          <a:effectLst/>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p>
        </p:txBody>
      </p:sp>
      <p:sp>
        <p:nvSpPr>
          <p:cNvPr id="3" name="Content Placeholder 2"/>
          <p:cNvSpPr>
            <a:spLocks noGrp="1"/>
          </p:cNvSpPr>
          <p:nvPr>
            <p:ph idx="1"/>
          </p:nvPr>
        </p:nvSpPr>
        <p:spPr/>
        <p:txBody>
          <a:bodyPr/>
          <a:lstStyle/>
          <a:p>
            <a:r>
              <a:rPr lang="en-US" dirty="0"/>
              <a:t>Enter a number: 222 Sum of digits of 222 is 6 </a:t>
            </a:r>
          </a:p>
          <a:p>
            <a:endParaRPr 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533400" y="457200"/>
            <a:ext cx="8382000" cy="5867400"/>
          </a:xfrm>
          <a:prstGeom prst="rect">
            <a:avLst/>
          </a:prstGeom>
          <a:noFill/>
          <a:ln w="9525">
            <a:noFill/>
            <a:miter lim="800000"/>
            <a:headEnd/>
            <a:tailEnd/>
          </a:ln>
          <a:effectLst/>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0" y="228600"/>
            <a:ext cx="8534400" cy="6400800"/>
          </a:xfrm>
          <a:prstGeom prst="rect">
            <a:avLst/>
          </a:prstGeom>
          <a:noFill/>
          <a:ln w="9525">
            <a:noFill/>
            <a:miter lim="800000"/>
            <a:headEnd/>
            <a:tailEnd/>
          </a:ln>
          <a:effectLst/>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7500" lnSpcReduction="20000"/>
          </a:bodyPr>
          <a:lstStyle/>
          <a:p>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stdio.h</a:t>
            </a:r>
            <a:r>
              <a:rPr lang="en-US" dirty="0">
                <a:latin typeface="Times New Roman" pitchFamily="18" charset="0"/>
                <a:cs typeface="Times New Roman" pitchFamily="18" charset="0"/>
              </a:rPr>
              <a:t>&gt; </a:t>
            </a: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a:t>
            </a:r>
          </a:p>
          <a:p>
            <a:r>
              <a:rPr lang="en-US" dirty="0">
                <a:latin typeface="Times New Roman" pitchFamily="18" charset="0"/>
                <a:cs typeface="Times New Roman" pitchFamily="18" charset="0"/>
              </a:rPr>
              <a:t> { </a:t>
            </a:r>
          </a:p>
          <a:p>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j=0; </a:t>
            </a:r>
          </a:p>
          <a:p>
            <a:r>
              <a:rPr lang="en-US" dirty="0">
                <a:latin typeface="Times New Roman" pitchFamily="18" charset="0"/>
                <a:cs typeface="Times New Roman" pitchFamily="18" charset="0"/>
              </a:rPr>
              <a:t>do </a:t>
            </a:r>
          </a:p>
          <a:p>
            <a:r>
              <a:rPr lang="en-US" dirty="0">
                <a:latin typeface="Times New Roman" pitchFamily="18" charset="0"/>
                <a:cs typeface="Times New Roman" pitchFamily="18" charset="0"/>
              </a:rPr>
              <a:t>{ </a:t>
            </a:r>
          </a:p>
          <a:p>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("Value of variable j is: %d\n", j);</a:t>
            </a:r>
          </a:p>
          <a:p>
            <a:r>
              <a:rPr lang="en-US" dirty="0">
                <a:latin typeface="Times New Roman" pitchFamily="18" charset="0"/>
                <a:cs typeface="Times New Roman" pitchFamily="18" charset="0"/>
              </a:rPr>
              <a:t> j++; </a:t>
            </a:r>
          </a:p>
          <a:p>
            <a:r>
              <a:rPr lang="en-US" dirty="0">
                <a:latin typeface="Times New Roman" pitchFamily="18" charset="0"/>
                <a:cs typeface="Times New Roman" pitchFamily="18" charset="0"/>
              </a:rPr>
              <a:t>}while (j&lt;=3); </a:t>
            </a:r>
          </a:p>
          <a:p>
            <a:r>
              <a:rPr lang="en-US" dirty="0">
                <a:latin typeface="Times New Roman" pitchFamily="18" charset="0"/>
                <a:cs typeface="Times New Roman" pitchFamily="18" charset="0"/>
              </a:rPr>
              <a:t>return 0; </a:t>
            </a:r>
          </a:p>
          <a:p>
            <a:r>
              <a:rPr lang="en-US" dirty="0">
                <a:latin typeface="Times New Roman" pitchFamily="18" charset="0"/>
                <a:cs typeface="Times New Roman" pitchFamily="18" charset="0"/>
              </a:rPr>
              <a:t>}</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dirty="0" err="1">
                <a:latin typeface="Times New Roman" pitchFamily="18" charset="0"/>
                <a:cs typeface="Times New Roman" pitchFamily="18" charset="0"/>
              </a:rPr>
              <a:t>OutPut</a:t>
            </a:r>
            <a:r>
              <a:rPr lang="en-US" sz="2400" dirty="0">
                <a:latin typeface="Times New Roman" pitchFamily="18" charset="0"/>
                <a:cs typeface="Times New Roman" pitchFamily="18" charset="0"/>
              </a:rPr>
              <a:t>:</a:t>
            </a:r>
          </a:p>
        </p:txBody>
      </p:sp>
      <p:sp>
        <p:nvSpPr>
          <p:cNvPr id="3" name="Content Placeholder 2"/>
          <p:cNvSpPr>
            <a:spLocks noGrp="1"/>
          </p:cNvSpPr>
          <p:nvPr>
            <p:ph idx="1"/>
          </p:nvPr>
        </p:nvSpPr>
        <p:spPr/>
        <p:txBody>
          <a:bodyPr/>
          <a:lstStyle/>
          <a:p>
            <a:r>
              <a:rPr lang="en-US" dirty="0"/>
              <a:t>Value of variable j is: 0 </a:t>
            </a:r>
          </a:p>
          <a:p>
            <a:r>
              <a:rPr lang="en-US" dirty="0"/>
              <a:t>Value of variable j is: 1 </a:t>
            </a:r>
          </a:p>
          <a:p>
            <a:r>
              <a:rPr lang="en-US" dirty="0"/>
              <a:t>Value of variable j is: 2</a:t>
            </a:r>
          </a:p>
          <a:p>
            <a:r>
              <a:rPr lang="en-US" dirty="0"/>
              <a:t> Value of variable j is: 3</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#include &lt;</a:t>
            </a:r>
            <a:r>
              <a:rPr lang="en-US" dirty="0" err="1"/>
              <a:t>stdio.h</a:t>
            </a:r>
            <a:r>
              <a:rPr lang="en-US" dirty="0"/>
              <a:t>&gt; </a:t>
            </a:r>
          </a:p>
          <a:p>
            <a:r>
              <a:rPr lang="en-US" dirty="0" err="1"/>
              <a:t>int</a:t>
            </a:r>
            <a:r>
              <a:rPr lang="en-US" dirty="0"/>
              <a:t> main() </a:t>
            </a:r>
          </a:p>
          <a:p>
            <a:r>
              <a:rPr lang="en-US" dirty="0"/>
              <a:t>{ </a:t>
            </a:r>
          </a:p>
          <a:p>
            <a:r>
              <a:rPr lang="en-US" dirty="0" err="1"/>
              <a:t>int</a:t>
            </a:r>
            <a:r>
              <a:rPr lang="en-US" dirty="0"/>
              <a:t> </a:t>
            </a:r>
            <a:r>
              <a:rPr lang="en-US" dirty="0" err="1"/>
              <a:t>i</a:t>
            </a:r>
            <a:r>
              <a:rPr lang="en-US" dirty="0"/>
              <a:t>=0; </a:t>
            </a:r>
          </a:p>
          <a:p>
            <a:r>
              <a:rPr lang="en-US" dirty="0"/>
              <a:t>do </a:t>
            </a:r>
          </a:p>
          <a:p>
            <a:r>
              <a:rPr lang="en-US" dirty="0"/>
              <a:t>{ </a:t>
            </a:r>
          </a:p>
          <a:p>
            <a:r>
              <a:rPr lang="en-US" dirty="0" err="1"/>
              <a:t>printf</a:t>
            </a:r>
            <a:r>
              <a:rPr lang="en-US" dirty="0"/>
              <a:t>("while </a:t>
            </a:r>
            <a:r>
              <a:rPr lang="en-US" dirty="0" err="1"/>
              <a:t>vs</a:t>
            </a:r>
            <a:r>
              <a:rPr lang="en-US" dirty="0"/>
              <a:t> do-while\n"); </a:t>
            </a:r>
          </a:p>
          <a:p>
            <a:r>
              <a:rPr lang="en-US" dirty="0"/>
              <a:t>}while(</a:t>
            </a:r>
            <a:r>
              <a:rPr lang="en-US" dirty="0" err="1"/>
              <a:t>i</a:t>
            </a:r>
            <a:r>
              <a:rPr lang="en-US" dirty="0"/>
              <a:t>==1); </a:t>
            </a:r>
          </a:p>
          <a:p>
            <a:pPr>
              <a:buNone/>
            </a:pPr>
            <a:r>
              <a:rPr lang="en-US" dirty="0"/>
              <a:t>      </a:t>
            </a:r>
            <a:r>
              <a:rPr lang="en-US" dirty="0" err="1"/>
              <a:t>printf</a:t>
            </a:r>
            <a:r>
              <a:rPr lang="en-US" dirty="0"/>
              <a:t>("Out of loop");</a:t>
            </a:r>
          </a:p>
          <a:p>
            <a:pPr>
              <a:buNone/>
            </a:pPr>
            <a:r>
              <a:rPr lang="en-US" dirty="0"/>
              <a:t> </a:t>
            </a:r>
          </a:p>
          <a:p>
            <a:pPr>
              <a:buNone/>
            </a:pPr>
            <a:r>
              <a:rPr lang="en-US" dirty="0"/>
              <a:t>}</a:t>
            </a:r>
            <a:r>
              <a:rPr lang="en-US" b="1" dirty="0"/>
              <a:t>Output:</a:t>
            </a:r>
            <a:endParaRPr lang="en-US" dirty="0"/>
          </a:p>
          <a:p>
            <a:r>
              <a:rPr lang="en-US" dirty="0"/>
              <a:t>while </a:t>
            </a:r>
            <a:r>
              <a:rPr lang="en-US" dirty="0" err="1"/>
              <a:t>vs</a:t>
            </a:r>
            <a:r>
              <a:rPr lang="en-US" dirty="0"/>
              <a:t> do-while </a:t>
            </a:r>
          </a:p>
          <a:p>
            <a:r>
              <a:rPr lang="en-US" dirty="0"/>
              <a:t>Out of loop</a:t>
            </a:r>
          </a:p>
          <a:p>
            <a:endParaRPr lang="en-US"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algn="l"/>
            <a:r>
              <a:rPr lang="en-US" sz="2400" dirty="0">
                <a:solidFill>
                  <a:srgbClr val="FF0000"/>
                </a:solidFill>
                <a:latin typeface="Times New Roman" pitchFamily="18" charset="0"/>
                <a:ea typeface="Segoe UI Historic" pitchFamily="34" charset="0"/>
                <a:cs typeface="Times New Roman" pitchFamily="18" charset="0"/>
              </a:rPr>
              <a:t>Print numbers 0-9</a:t>
            </a:r>
          </a:p>
        </p:txBody>
      </p:sp>
      <p:sp>
        <p:nvSpPr>
          <p:cNvPr id="3" name="Content Placeholder 2"/>
          <p:cNvSpPr>
            <a:spLocks noGrp="1"/>
          </p:cNvSpPr>
          <p:nvPr>
            <p:ph idx="1"/>
          </p:nvPr>
        </p:nvSpPr>
        <p:spPr>
          <a:xfrm>
            <a:off x="457200" y="838200"/>
            <a:ext cx="8229600" cy="5791200"/>
          </a:xfrm>
        </p:spPr>
        <p:txBody>
          <a:bodyPr>
            <a:normAutofit fontScale="77500" lnSpcReduction="20000"/>
          </a:bodyPr>
          <a:lstStyle/>
          <a:p>
            <a:pPr>
              <a:buNone/>
            </a:pPr>
            <a:r>
              <a:rPr lang="en-US" dirty="0"/>
              <a:t>#include &lt;</a:t>
            </a:r>
            <a:r>
              <a:rPr lang="en-US" dirty="0" err="1"/>
              <a:t>stdio.h</a:t>
            </a:r>
            <a:r>
              <a:rPr lang="en-US" dirty="0"/>
              <a:t>&gt; </a:t>
            </a:r>
          </a:p>
          <a:p>
            <a:pPr>
              <a:buNone/>
            </a:pPr>
            <a:r>
              <a:rPr lang="en-US" dirty="0" err="1"/>
              <a:t>int</a:t>
            </a:r>
            <a:r>
              <a:rPr lang="en-US" dirty="0"/>
              <a:t> main() </a:t>
            </a:r>
          </a:p>
          <a:p>
            <a:pPr>
              <a:buNone/>
            </a:pPr>
            <a:r>
              <a:rPr lang="en-US" dirty="0"/>
              <a:t>{ </a:t>
            </a:r>
          </a:p>
          <a:p>
            <a:pPr>
              <a:buNone/>
            </a:pPr>
            <a:r>
              <a:rPr lang="en-US" dirty="0" err="1"/>
              <a:t>int</a:t>
            </a:r>
            <a:r>
              <a:rPr lang="en-US" dirty="0"/>
              <a:t>  j=0;</a:t>
            </a:r>
          </a:p>
          <a:p>
            <a:pPr>
              <a:buNone/>
            </a:pPr>
            <a:r>
              <a:rPr lang="en-US" dirty="0"/>
              <a:t> do</a:t>
            </a:r>
          </a:p>
          <a:p>
            <a:pPr>
              <a:buNone/>
            </a:pPr>
            <a:r>
              <a:rPr lang="en-US" dirty="0"/>
              <a:t> { </a:t>
            </a:r>
          </a:p>
          <a:p>
            <a:pPr>
              <a:buNone/>
            </a:pPr>
            <a:r>
              <a:rPr lang="en-US" dirty="0"/>
              <a:t>if (j==7) </a:t>
            </a:r>
          </a:p>
          <a:p>
            <a:pPr>
              <a:buNone/>
            </a:pPr>
            <a:r>
              <a:rPr lang="en-US" dirty="0"/>
              <a:t>{ </a:t>
            </a:r>
          </a:p>
          <a:p>
            <a:pPr>
              <a:buNone/>
            </a:pPr>
            <a:r>
              <a:rPr lang="en-US" dirty="0"/>
              <a:t>j++; continue; </a:t>
            </a:r>
          </a:p>
          <a:p>
            <a:pPr>
              <a:buNone/>
            </a:pPr>
            <a:r>
              <a:rPr lang="en-US" dirty="0"/>
              <a:t>} </a:t>
            </a:r>
          </a:p>
          <a:p>
            <a:pPr>
              <a:buNone/>
            </a:pPr>
            <a:r>
              <a:rPr lang="en-US" dirty="0" err="1"/>
              <a:t>printf</a:t>
            </a:r>
            <a:r>
              <a:rPr lang="en-US" dirty="0"/>
              <a:t>("%d ", j);</a:t>
            </a:r>
          </a:p>
          <a:p>
            <a:pPr>
              <a:buNone/>
            </a:pPr>
            <a:r>
              <a:rPr lang="en-US" dirty="0"/>
              <a:t> j++;</a:t>
            </a:r>
          </a:p>
          <a:p>
            <a:pPr>
              <a:buNone/>
            </a:pPr>
            <a:r>
              <a:rPr lang="en-US" dirty="0"/>
              <a:t> }while(j&lt;10); </a:t>
            </a:r>
          </a:p>
          <a:p>
            <a:pPr>
              <a:buNone/>
            </a:pPr>
            <a:r>
              <a:rPr lang="en-US" dirty="0"/>
              <a:t>return 0;</a:t>
            </a:r>
          </a:p>
          <a:p>
            <a:pPr>
              <a:buNone/>
            </a:pPr>
            <a:r>
              <a:rPr lang="en-US" dirty="0"/>
              <a:t> }</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
            </a:r>
            <a:br>
              <a:rPr lang="en-US" sz="2800" dirty="0">
                <a:solidFill>
                  <a:srgbClr val="FF0000"/>
                </a:solidFill>
                <a:latin typeface="Times New Roman" pitchFamily="18" charset="0"/>
                <a:cs typeface="Times New Roman" pitchFamily="18" charset="0"/>
              </a:rPr>
            </a:br>
            <a:r>
              <a:rPr lang="en-US" sz="2800" dirty="0">
                <a:solidFill>
                  <a:srgbClr val="FF0000"/>
                </a:solidFill>
                <a:latin typeface="Times New Roman" pitchFamily="18" charset="0"/>
                <a:cs typeface="Times New Roman" pitchFamily="18" charset="0"/>
              </a:rPr>
              <a:t>Out-Put:</a:t>
            </a:r>
          </a:p>
        </p:txBody>
      </p:sp>
      <p:sp>
        <p:nvSpPr>
          <p:cNvPr id="3" name="Content Placeholder 2"/>
          <p:cNvSpPr>
            <a:spLocks noGrp="1"/>
          </p:cNvSpPr>
          <p:nvPr>
            <p:ph idx="1"/>
          </p:nvPr>
        </p:nvSpPr>
        <p:spPr/>
        <p:txBody>
          <a:bodyPr/>
          <a:lstStyle/>
          <a:p>
            <a:endParaRPr lang="en-US" dirty="0"/>
          </a:p>
          <a:p>
            <a:endParaRPr lang="en-US" dirty="0"/>
          </a:p>
          <a:p>
            <a:r>
              <a:rPr lang="en-US" dirty="0"/>
              <a:t>0 1 2 3 4 5 6 8 9</a:t>
            </a:r>
          </a:p>
          <a:p>
            <a:endParaRPr lang="en-US"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Print Hello word</a:t>
            </a:r>
          </a:p>
        </p:txBody>
      </p:sp>
      <p:sp>
        <p:nvSpPr>
          <p:cNvPr id="3" name="Content Placeholder 2"/>
          <p:cNvSpPr>
            <a:spLocks noGrp="1"/>
          </p:cNvSpPr>
          <p:nvPr>
            <p:ph idx="1"/>
          </p:nvPr>
        </p:nvSpPr>
        <p:spPr/>
        <p:txBody>
          <a:bodyPr>
            <a:normAutofit fontScale="85000" lnSpcReduction="20000"/>
          </a:bodyPr>
          <a:lstStyle/>
          <a:p>
            <a:pPr fontAlgn="base">
              <a:buNone/>
            </a:pPr>
            <a:r>
              <a:rPr lang="en-US" dirty="0" err="1"/>
              <a:t>int</a:t>
            </a:r>
            <a:r>
              <a:rPr lang="en-US" dirty="0"/>
              <a:t> main()</a:t>
            </a:r>
          </a:p>
          <a:p>
            <a:pPr fontAlgn="base">
              <a:buNone/>
            </a:pPr>
            <a:r>
              <a:rPr lang="en-US" dirty="0"/>
              <a:t>{</a:t>
            </a:r>
          </a:p>
          <a:p>
            <a:pPr fontAlgn="base">
              <a:buNone/>
            </a:pPr>
            <a:r>
              <a:rPr lang="en-US" dirty="0"/>
              <a:t>     </a:t>
            </a:r>
            <a:r>
              <a:rPr lang="en-US" dirty="0" err="1"/>
              <a:t>int</a:t>
            </a:r>
            <a:r>
              <a:rPr lang="en-US" dirty="0"/>
              <a:t> </a:t>
            </a:r>
            <a:r>
              <a:rPr lang="en-US" dirty="0" err="1"/>
              <a:t>i</a:t>
            </a:r>
            <a:r>
              <a:rPr lang="en-US" dirty="0"/>
              <a:t> = 2;</a:t>
            </a:r>
          </a:p>
          <a:p>
            <a:pPr fontAlgn="base">
              <a:buNone/>
            </a:pPr>
            <a:r>
              <a:rPr lang="en-US" dirty="0"/>
              <a:t>    do {</a:t>
            </a:r>
          </a:p>
          <a:p>
            <a:pPr fontAlgn="base">
              <a:buNone/>
            </a:pPr>
            <a:r>
              <a:rPr lang="en-US" dirty="0"/>
              <a:t>            </a:t>
            </a:r>
            <a:r>
              <a:rPr lang="en-US" dirty="0" err="1"/>
              <a:t>printf</a:t>
            </a:r>
            <a:r>
              <a:rPr lang="en-US" dirty="0"/>
              <a:t>("Hello World\n");</a:t>
            </a:r>
          </a:p>
          <a:p>
            <a:pPr fontAlgn="base">
              <a:buNone/>
            </a:pPr>
            <a:r>
              <a:rPr lang="en-US" dirty="0"/>
              <a:t>             </a:t>
            </a:r>
            <a:r>
              <a:rPr lang="en-US" dirty="0" err="1"/>
              <a:t>i</a:t>
            </a:r>
            <a:r>
              <a:rPr lang="en-US" dirty="0"/>
              <a:t>++;</a:t>
            </a:r>
          </a:p>
          <a:p>
            <a:pPr fontAlgn="base">
              <a:buNone/>
            </a:pPr>
            <a:r>
              <a:rPr lang="en-US" dirty="0"/>
              <a:t>         }</a:t>
            </a:r>
          </a:p>
          <a:p>
            <a:pPr fontAlgn="base">
              <a:buNone/>
            </a:pPr>
            <a:r>
              <a:rPr lang="en-US" dirty="0"/>
              <a:t> while (</a:t>
            </a:r>
            <a:r>
              <a:rPr lang="en-US" dirty="0" err="1"/>
              <a:t>i</a:t>
            </a:r>
            <a:r>
              <a:rPr lang="en-US" dirty="0"/>
              <a:t> &lt; 1);</a:t>
            </a:r>
          </a:p>
          <a:p>
            <a:pPr fontAlgn="base">
              <a:buNone/>
            </a:pPr>
            <a:r>
              <a:rPr lang="en-US" dirty="0"/>
              <a:t> return 0;</a:t>
            </a:r>
          </a:p>
          <a:p>
            <a:pPr fontAlgn="base">
              <a:buNone/>
            </a:pPr>
            <a:r>
              <a:rPr lang="en-US" dirty="0"/>
              <a:t>}</a:t>
            </a:r>
          </a:p>
          <a:p>
            <a:endParaRPr lang="en-US"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Out-Put:</a:t>
            </a:r>
          </a:p>
        </p:txBody>
      </p:sp>
      <p:sp>
        <p:nvSpPr>
          <p:cNvPr id="3" name="Content Placeholder 2"/>
          <p:cNvSpPr>
            <a:spLocks noGrp="1"/>
          </p:cNvSpPr>
          <p:nvPr>
            <p:ph idx="1"/>
          </p:nvPr>
        </p:nvSpPr>
        <p:spPr/>
        <p:txBody>
          <a:bodyPr/>
          <a:lstStyle/>
          <a:p>
            <a:endParaRPr lang="en-US" dirty="0"/>
          </a:p>
          <a:p>
            <a:endParaRPr lang="en-US" dirty="0"/>
          </a:p>
          <a:p>
            <a:r>
              <a:rPr lang="en-US" dirty="0"/>
              <a:t>Hello World</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Benefits of Do while loop :</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2400" dirty="0">
                <a:latin typeface="Times New Roman" pitchFamily="18" charset="0"/>
                <a:cs typeface="Times New Roman" pitchFamily="18" charset="0"/>
              </a:rPr>
              <a:t>do / While loop is often used in situations where the activity to be performed must happen at least once before checking the exit condition in the while loop.</a:t>
            </a:r>
          </a:p>
          <a:p>
            <a:pPr>
              <a:buFont typeface="Wingdings" pitchFamily="2" charset="2"/>
              <a:buChar char="Ø"/>
            </a:pPr>
            <a:r>
              <a:rPr lang="en-US" sz="2400" dirty="0">
                <a:latin typeface="Times New Roman" pitchFamily="18" charset="0"/>
                <a:cs typeface="Times New Roman" pitchFamily="18" charset="0"/>
              </a:rPr>
              <a:t>   In while loop, if the condition is not satisfied even once, the loop will not be executed.</a:t>
            </a:r>
          </a:p>
          <a:p>
            <a:pPr>
              <a:buFont typeface="Wingdings" pitchFamily="2" charset="2"/>
              <a:buChar char="Ø"/>
            </a:pPr>
            <a:r>
              <a:rPr lang="en-US" sz="2400" dirty="0">
                <a:latin typeface="Times New Roman" pitchFamily="18" charset="0"/>
                <a:cs typeface="Times New Roman" pitchFamily="18" charset="0"/>
              </a:rPr>
              <a:t>    Whereas in do-while loop, even if the condition is not true, the loop is executed </a:t>
            </a:r>
            <a:r>
              <a:rPr lang="en-US" sz="2400" dirty="0" err="1">
                <a:latin typeface="Times New Roman" pitchFamily="18" charset="0"/>
                <a:cs typeface="Times New Roman" pitchFamily="18" charset="0"/>
              </a:rPr>
              <a:t>atleast</a:t>
            </a:r>
            <a:r>
              <a:rPr lang="en-US" sz="2400" dirty="0">
                <a:latin typeface="Times New Roman" pitchFamily="18" charset="0"/>
                <a:cs typeface="Times New Roman" pitchFamily="18" charset="0"/>
              </a:rPr>
              <a:t> once.</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For Loop:</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for loop is used to execute a set of statements repeatedly until a particular condition is satisfied. We can say it is an </a:t>
            </a:r>
            <a:r>
              <a:rPr lang="en-US" sz="2400" b="1" dirty="0">
                <a:latin typeface="Times New Roman" pitchFamily="18" charset="0"/>
                <a:cs typeface="Times New Roman" pitchFamily="18" charset="0"/>
              </a:rPr>
              <a:t>open ended loop.</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In for loop we have exactly two semicolons, one after initialization and second after the condition. In this loop we can have more than one initialization or increment/decrement, separated using comma operator. But it can have only one </a:t>
            </a:r>
            <a:r>
              <a:rPr lang="en-US" sz="2400" b="1" dirty="0">
                <a:latin typeface="Times New Roman" pitchFamily="18" charset="0"/>
                <a:cs typeface="Times New Roman" pitchFamily="18" charset="0"/>
              </a:rPr>
              <a:t>condition</a:t>
            </a:r>
            <a:r>
              <a:rPr lang="en-US" sz="2400" dirty="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sz="2400" dirty="0">
                <a:latin typeface="Times New Roman" pitchFamily="18" charset="0"/>
                <a:cs typeface="Times New Roman" pitchFamily="18" charset="0"/>
              </a:rPr>
              <a:t>The for loop is executed as follows:</a:t>
            </a:r>
          </a:p>
          <a:p>
            <a:r>
              <a:rPr lang="en-US" sz="2400" dirty="0">
                <a:latin typeface="Times New Roman" pitchFamily="18" charset="0"/>
                <a:cs typeface="Times New Roman" pitchFamily="18" charset="0"/>
              </a:rPr>
              <a:t>It first evaluates the initialization code.</a:t>
            </a:r>
          </a:p>
          <a:p>
            <a:r>
              <a:rPr lang="en-US" sz="2400" dirty="0">
                <a:latin typeface="Times New Roman" pitchFamily="18" charset="0"/>
                <a:cs typeface="Times New Roman" pitchFamily="18" charset="0"/>
              </a:rPr>
              <a:t>Then it checks the condition expression.</a:t>
            </a:r>
          </a:p>
          <a:p>
            <a:r>
              <a:rPr lang="en-US" sz="2400" dirty="0">
                <a:latin typeface="Times New Roman" pitchFamily="18" charset="0"/>
                <a:cs typeface="Times New Roman" pitchFamily="18" charset="0"/>
              </a:rPr>
              <a:t>If it is </a:t>
            </a:r>
            <a:r>
              <a:rPr lang="en-US" sz="2400" b="1" dirty="0">
                <a:latin typeface="Times New Roman" pitchFamily="18" charset="0"/>
                <a:cs typeface="Times New Roman" pitchFamily="18" charset="0"/>
              </a:rPr>
              <a:t>true</a:t>
            </a:r>
            <a:r>
              <a:rPr lang="en-US" sz="2400" dirty="0">
                <a:latin typeface="Times New Roman" pitchFamily="18" charset="0"/>
                <a:cs typeface="Times New Roman" pitchFamily="18" charset="0"/>
              </a:rPr>
              <a:t>, it executes the for-loop body.</a:t>
            </a:r>
          </a:p>
          <a:p>
            <a:r>
              <a:rPr lang="en-US" sz="2400" dirty="0">
                <a:latin typeface="Times New Roman" pitchFamily="18" charset="0"/>
                <a:cs typeface="Times New Roman" pitchFamily="18" charset="0"/>
              </a:rPr>
              <a:t>Then it evaluate the increment/decrement condition and again follows from step 2.</a:t>
            </a:r>
          </a:p>
          <a:p>
            <a:r>
              <a:rPr lang="en-US" sz="2400" dirty="0">
                <a:latin typeface="Times New Roman" pitchFamily="18" charset="0"/>
                <a:cs typeface="Times New Roman" pitchFamily="18" charset="0"/>
              </a:rPr>
              <a:t>When the condition expression becomes </a:t>
            </a:r>
            <a:r>
              <a:rPr lang="en-US" sz="2400" b="1" dirty="0">
                <a:latin typeface="Times New Roman" pitchFamily="18" charset="0"/>
                <a:cs typeface="Times New Roman" pitchFamily="18" charset="0"/>
              </a:rPr>
              <a:t>false</a:t>
            </a:r>
            <a:r>
              <a:rPr lang="en-US" sz="2400" dirty="0">
                <a:latin typeface="Times New Roman" pitchFamily="18" charset="0"/>
                <a:cs typeface="Times New Roman" pitchFamily="18" charset="0"/>
              </a:rPr>
              <a:t>, it exits the loop</a:t>
            </a:r>
            <a:r>
              <a:rPr lang="en-US" dirty="0"/>
              <a:t>.</a:t>
            </a:r>
          </a:p>
          <a:p>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Syntax:</a:t>
            </a:r>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for (initialization Statement; test Expression; </a:t>
            </a:r>
            <a:r>
              <a:rPr lang="en-US" sz="2400" dirty="0" err="1">
                <a:latin typeface="Times New Roman" pitchFamily="18" charset="0"/>
                <a:cs typeface="Times New Roman" pitchFamily="18" charset="0"/>
              </a:rPr>
              <a:t>updateStatement</a:t>
            </a:r>
            <a:r>
              <a:rPr lang="en-US" sz="2400" dirty="0">
                <a:latin typeface="Times New Roman" pitchFamily="18" charset="0"/>
                <a:cs typeface="Times New Roman" pitchFamily="18" charset="0"/>
              </a:rPr>
              <a:t>) </a:t>
            </a:r>
          </a:p>
          <a:p>
            <a:pPr>
              <a:buNone/>
            </a:pPr>
            <a:r>
              <a:rPr lang="en-US" sz="2400" dirty="0">
                <a:latin typeface="Times New Roman" pitchFamily="18" charset="0"/>
                <a:cs typeface="Times New Roman" pitchFamily="18" charset="0"/>
              </a:rPr>
              <a:t>{ </a:t>
            </a:r>
          </a:p>
          <a:p>
            <a:endParaRPr 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statements inside the body of loop ;</a:t>
            </a:r>
          </a:p>
          <a:p>
            <a:endParaRPr 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How for loop works?</a:t>
            </a:r>
            <a:br>
              <a:rPr lang="en-US" sz="2800" dirty="0">
                <a:solidFill>
                  <a:srgbClr val="FF0000"/>
                </a:solidFill>
                <a:latin typeface="Times New Roman" pitchFamily="18" charset="0"/>
                <a:cs typeface="Times New Roman" pitchFamily="18" charset="0"/>
              </a:rPr>
            </a:b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181600"/>
          </a:xfrm>
        </p:spPr>
        <p:txBody>
          <a:bodyPr>
            <a:normAutofit fontScale="77500" lnSpcReduction="20000"/>
          </a:bodyPr>
          <a:lstStyle/>
          <a:p>
            <a:r>
              <a:rPr lang="en-US" sz="3400" dirty="0">
                <a:latin typeface="Times New Roman" pitchFamily="18" charset="0"/>
                <a:cs typeface="Times New Roman" pitchFamily="18" charset="0"/>
              </a:rPr>
              <a:t>The initialization statement is executed only once.</a:t>
            </a:r>
          </a:p>
          <a:p>
            <a:endParaRPr lang="en-US" sz="3400" dirty="0">
              <a:latin typeface="Times New Roman" pitchFamily="18" charset="0"/>
              <a:cs typeface="Times New Roman" pitchFamily="18" charset="0"/>
            </a:endParaRPr>
          </a:p>
          <a:p>
            <a:r>
              <a:rPr lang="en-US" sz="3400" dirty="0">
                <a:latin typeface="Times New Roman" pitchFamily="18" charset="0"/>
                <a:cs typeface="Times New Roman" pitchFamily="18" charset="0"/>
              </a:rPr>
              <a:t>Then, the test expression is evaluated. If the test expression is evaluated to false, the for loop is terminated.</a:t>
            </a:r>
          </a:p>
          <a:p>
            <a:endParaRPr lang="en-US" sz="3400" dirty="0">
              <a:latin typeface="Times New Roman" pitchFamily="18" charset="0"/>
              <a:cs typeface="Times New Roman" pitchFamily="18" charset="0"/>
            </a:endParaRPr>
          </a:p>
          <a:p>
            <a:r>
              <a:rPr lang="en-US" sz="3400" dirty="0">
                <a:latin typeface="Times New Roman" pitchFamily="18" charset="0"/>
                <a:cs typeface="Times New Roman" pitchFamily="18" charset="0"/>
              </a:rPr>
              <a:t>However, if the test expression is evaluated to true, statements inside the body of the for loop are executed, and the update expression is updated.</a:t>
            </a:r>
          </a:p>
          <a:p>
            <a:endParaRPr lang="en-US" sz="3400" dirty="0">
              <a:latin typeface="Times New Roman" pitchFamily="18" charset="0"/>
              <a:cs typeface="Times New Roman" pitchFamily="18" charset="0"/>
            </a:endParaRPr>
          </a:p>
          <a:p>
            <a:r>
              <a:rPr lang="en-US" sz="3400" dirty="0">
                <a:latin typeface="Times New Roman" pitchFamily="18" charset="0"/>
                <a:cs typeface="Times New Roman" pitchFamily="18" charset="0"/>
              </a:rPr>
              <a:t>Again the test expression is evaluated.</a:t>
            </a:r>
          </a:p>
          <a:p>
            <a:endParaRPr lang="en-US" sz="3400" dirty="0">
              <a:latin typeface="Times New Roman" pitchFamily="18" charset="0"/>
              <a:cs typeface="Times New Roman" pitchFamily="18" charset="0"/>
            </a:endParaRPr>
          </a:p>
          <a:p>
            <a:r>
              <a:rPr lang="en-US" sz="3400" dirty="0">
                <a:latin typeface="Times New Roman" pitchFamily="18" charset="0"/>
                <a:cs typeface="Times New Roman" pitchFamily="18" charset="0"/>
              </a:rPr>
              <a:t>This process goes on until the test expression is false. When the test expression is false, the loop terminates.</a:t>
            </a:r>
          </a:p>
          <a:p>
            <a:endParaRPr lang="en-US" sz="3400" dirty="0">
              <a:latin typeface="Times New Roman" pitchFamily="18" charset="0"/>
              <a:cs typeface="Times New Roman" pitchFamily="18" charset="0"/>
            </a:endParaRPr>
          </a:p>
          <a:p>
            <a:endParaRPr lang="en-US"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solidFill>
                  <a:srgbClr val="FF0000"/>
                </a:solidFill>
                <a:latin typeface="Times New Roman" pitchFamily="18" charset="0"/>
                <a:cs typeface="Times New Roman" pitchFamily="18" charset="0"/>
              </a:rPr>
              <a:t>Flow Diagram:</a:t>
            </a:r>
          </a:p>
        </p:txBody>
      </p:sp>
      <p:pic>
        <p:nvPicPr>
          <p:cNvPr id="1026" name="Picture 2"/>
          <p:cNvPicPr>
            <a:picLocks noGrp="1" noChangeAspect="1" noChangeArrowheads="1"/>
          </p:cNvPicPr>
          <p:nvPr>
            <p:ph idx="1"/>
          </p:nvPr>
        </p:nvPicPr>
        <p:blipFill>
          <a:blip r:embed="rId2"/>
          <a:srcRect/>
          <a:stretch>
            <a:fillRect/>
          </a:stretch>
        </p:blipFill>
        <p:spPr bwMode="auto">
          <a:xfrm>
            <a:off x="533400" y="1627980"/>
            <a:ext cx="8077200" cy="5077619"/>
          </a:xfrm>
          <a:prstGeom prst="rect">
            <a:avLst/>
          </a:prstGeom>
          <a:noFill/>
          <a:ln w="9525">
            <a:noFill/>
            <a:miter lim="800000"/>
            <a:headEnd/>
            <a:tailEnd/>
          </a:ln>
          <a:effectLst/>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 Print numbers from 1 to 10 </a:t>
            </a:r>
            <a:br>
              <a:rPr lang="en-US" sz="3200" dirty="0">
                <a:solidFill>
                  <a:srgbClr val="FF0000"/>
                </a:solidFill>
                <a:latin typeface="Times New Roman" pitchFamily="18" charset="0"/>
                <a:cs typeface="Times New Roman" pitchFamily="18" charset="0"/>
              </a:rPr>
            </a:br>
            <a:endParaRPr lang="en-US" sz="3200" dirty="0">
              <a:solidFill>
                <a:srgbClr val="FF0000"/>
              </a:solidFill>
              <a:latin typeface="Times New Roman" pitchFamily="18" charset="0"/>
              <a:cs typeface="Times New Roman" pitchFamily="18" charset="0"/>
            </a:endParaRPr>
          </a:p>
        </p:txBody>
      </p:sp>
      <p:sp>
        <p:nvSpPr>
          <p:cNvPr id="5" name="Content Placeholder 4"/>
          <p:cNvSpPr>
            <a:spLocks noGrp="1"/>
          </p:cNvSpPr>
          <p:nvPr>
            <p:ph idx="1"/>
          </p:nvPr>
        </p:nvSpPr>
        <p:spPr/>
        <p:txBody>
          <a:bodyPr>
            <a:normAutofit fontScale="85000" lnSpcReduction="20000"/>
          </a:bodyPr>
          <a:lstStyle/>
          <a:p>
            <a:pPr>
              <a:buNone/>
            </a:pPr>
            <a:r>
              <a:rPr lang="en-US" dirty="0">
                <a:latin typeface="Times New Roman" pitchFamily="18" charset="0"/>
                <a:cs typeface="Times New Roman" pitchFamily="18" charset="0"/>
              </a:rPr>
              <a:t>#include &lt;</a:t>
            </a:r>
            <a:r>
              <a:rPr lang="en-US" dirty="0" err="1">
                <a:latin typeface="Times New Roman" pitchFamily="18" charset="0"/>
                <a:cs typeface="Times New Roman" pitchFamily="18" charset="0"/>
              </a:rPr>
              <a:t>stdio.h</a:t>
            </a:r>
            <a:r>
              <a:rPr lang="en-US" dirty="0">
                <a:latin typeface="Times New Roman" pitchFamily="18" charset="0"/>
                <a:cs typeface="Times New Roman" pitchFamily="18" charset="0"/>
              </a:rPr>
              <a:t>&gt; </a:t>
            </a:r>
          </a:p>
          <a:p>
            <a:pPr>
              <a:buNone/>
            </a:pP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main() </a:t>
            </a:r>
          </a:p>
          <a:p>
            <a:pPr>
              <a:buNone/>
            </a:pPr>
            <a:r>
              <a:rPr lang="en-US" dirty="0">
                <a:latin typeface="Times New Roman" pitchFamily="18" charset="0"/>
                <a:cs typeface="Times New Roman" pitchFamily="18" charset="0"/>
              </a:rPr>
              <a:t>{ </a:t>
            </a:r>
          </a:p>
          <a:p>
            <a:pPr>
              <a:buNone/>
            </a:pP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for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 1;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&lt; 11; </a:t>
            </a:r>
            <a:r>
              <a:rPr lang="en-US" dirty="0" err="1">
                <a:latin typeface="Times New Roman" pitchFamily="18" charset="0"/>
                <a:cs typeface="Times New Roman" pitchFamily="18" charset="0"/>
              </a:rPr>
              <a:t>i</a:t>
            </a:r>
            <a:r>
              <a:rPr lang="en-US">
                <a:latin typeface="Times New Roman" pitchFamily="18" charset="0"/>
                <a:cs typeface="Times New Roman" pitchFamily="18" charset="0"/>
              </a:rPr>
              <a:t>++) </a:t>
            </a:r>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 </a:t>
            </a:r>
          </a:p>
          <a:p>
            <a:pPr>
              <a:buNone/>
            </a:pPr>
            <a:r>
              <a:rPr lang="en-US" dirty="0" err="1">
                <a:latin typeface="Times New Roman" pitchFamily="18" charset="0"/>
                <a:cs typeface="Times New Roman" pitchFamily="18" charset="0"/>
              </a:rPr>
              <a:t>printf</a:t>
            </a:r>
            <a:r>
              <a:rPr lang="en-US" dirty="0">
                <a:latin typeface="Times New Roman" pitchFamily="18" charset="0"/>
                <a:cs typeface="Times New Roman" pitchFamily="18" charset="0"/>
              </a:rPr>
              <a:t>("%d ",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 </a:t>
            </a:r>
          </a:p>
          <a:p>
            <a:pPr>
              <a:buNone/>
            </a:pPr>
            <a:r>
              <a:rPr lang="en-US" dirty="0">
                <a:latin typeface="Times New Roman" pitchFamily="18" charset="0"/>
                <a:cs typeface="Times New Roman" pitchFamily="18" charset="0"/>
              </a:rPr>
              <a:t>return 0;</a:t>
            </a:r>
          </a:p>
          <a:p>
            <a:pPr>
              <a:buNone/>
            </a:pPr>
            <a:r>
              <a:rPr lang="en-US" dirty="0">
                <a:latin typeface="Times New Roman" pitchFamily="18" charset="0"/>
                <a:cs typeface="Times New Roman" pitchFamily="18" charset="0"/>
              </a:rPr>
              <a:t> }</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a:solidFill>
                  <a:srgbClr val="FF0000"/>
                </a:solidFill>
              </a:rPr>
              <a:t>goto</a:t>
            </a:r>
            <a:r>
              <a:rPr lang="en-US" sz="3600" dirty="0">
                <a:solidFill>
                  <a:srgbClr val="FF0000"/>
                </a:solidFill>
              </a:rPr>
              <a:t> Statement</a:t>
            </a:r>
            <a:r>
              <a:rPr lang="en-US" dirty="0"/>
              <a:t>:</a:t>
            </a:r>
          </a:p>
        </p:txBody>
      </p:sp>
      <p:sp>
        <p:nvSpPr>
          <p:cNvPr id="3" name="Content Placeholder 2"/>
          <p:cNvSpPr>
            <a:spLocks noGrp="1"/>
          </p:cNvSpPr>
          <p:nvPr>
            <p:ph idx="1"/>
          </p:nvPr>
        </p:nvSpPr>
        <p:spPr/>
        <p:txBody>
          <a:bodyPr>
            <a:normAutofit lnSpcReduction="10000"/>
          </a:bodyPr>
          <a:lstStyle/>
          <a:p>
            <a:r>
              <a:rPr lang="en-US" dirty="0"/>
              <a:t>The </a:t>
            </a:r>
            <a:r>
              <a:rPr lang="en-US" dirty="0" err="1"/>
              <a:t>goto</a:t>
            </a:r>
            <a:r>
              <a:rPr lang="en-US" dirty="0"/>
              <a:t> statement is a jump statement which is sometimes also referred to as unconditional jump statement. The </a:t>
            </a:r>
            <a:r>
              <a:rPr lang="en-US" dirty="0" err="1"/>
              <a:t>goto</a:t>
            </a:r>
            <a:r>
              <a:rPr lang="en-US" dirty="0"/>
              <a:t> statement can be used to jump from anywhere to anywhere within a function.</a:t>
            </a:r>
          </a:p>
          <a:p>
            <a:endParaRPr lang="en-US" dirty="0"/>
          </a:p>
          <a:p>
            <a:r>
              <a:rPr lang="en-US" dirty="0"/>
              <a:t>When a </a:t>
            </a:r>
            <a:r>
              <a:rPr lang="en-US" dirty="0" err="1"/>
              <a:t>goto</a:t>
            </a:r>
            <a:r>
              <a:rPr lang="en-US" dirty="0"/>
              <a:t> statement is encountered in a C program, the control jumps directly to the label mentioned in the </a:t>
            </a:r>
            <a:r>
              <a:rPr lang="en-US" dirty="0" err="1"/>
              <a:t>goto</a:t>
            </a:r>
            <a:r>
              <a:rPr lang="en-US" dirty="0"/>
              <a:t> </a:t>
            </a:r>
            <a:r>
              <a:rPr lang="en-US" dirty="0" err="1"/>
              <a:t>stateemnt</a:t>
            </a:r>
            <a:endParaRPr lang="en-US"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990600" y="762000"/>
            <a:ext cx="7315200" cy="5334000"/>
          </a:xfrm>
          <a:prstGeom prst="rect">
            <a:avLst/>
          </a:prstGeom>
          <a:noFill/>
          <a:ln w="9525">
            <a:noFill/>
            <a:miter lim="800000"/>
            <a:headEnd/>
            <a:tailEnd/>
          </a:ln>
          <a:effectLst/>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solidFill>
                  <a:srgbClr val="FF0000"/>
                </a:solidFill>
                <a:latin typeface="Times New Roman" pitchFamily="18" charset="0"/>
                <a:cs typeface="Times New Roman" pitchFamily="18" charset="0"/>
              </a:rPr>
              <a:t>Note:</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goto</a:t>
            </a:r>
            <a:r>
              <a:rPr lang="en-US" sz="2400" dirty="0">
                <a:latin typeface="Times New Roman" pitchFamily="18" charset="0"/>
                <a:cs typeface="Times New Roman" pitchFamily="18" charset="0"/>
              </a:rPr>
              <a:t> statement is rarely used because it makes program confusing, less readable and complex. Also, when this is used, the control of the program won’t be easy to trace, hence it makes testing and debugging difficult.</a:t>
            </a:r>
          </a:p>
          <a:p>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295400" y="990600"/>
            <a:ext cx="5486400" cy="4495800"/>
          </a:xfrm>
          <a:prstGeom prst="rect">
            <a:avLst/>
          </a:prstGeom>
          <a:noFill/>
          <a:ln w="9525">
            <a:noFill/>
            <a:miter lim="800000"/>
            <a:headEnd/>
            <a:tailEnd/>
          </a:ln>
          <a:effectLst/>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838200" y="609600"/>
            <a:ext cx="7467599" cy="6019800"/>
          </a:xfrm>
          <a:prstGeom prst="rect">
            <a:avLst/>
          </a:prstGeom>
          <a:noFill/>
          <a:ln w="9525">
            <a:noFill/>
            <a:miter lim="800000"/>
            <a:headEnd/>
            <a:tailEnd/>
          </a:ln>
          <a:effectLst/>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dirty="0"/>
              <a:t>#include &lt;</a:t>
            </a:r>
            <a:r>
              <a:rPr lang="en-US" dirty="0" err="1"/>
              <a:t>stdio.h</a:t>
            </a:r>
            <a:r>
              <a:rPr lang="en-US" dirty="0"/>
              <a:t>&gt; </a:t>
            </a:r>
          </a:p>
          <a:p>
            <a:r>
              <a:rPr lang="en-US" dirty="0" err="1"/>
              <a:t>int</a:t>
            </a:r>
            <a:r>
              <a:rPr lang="en-US" dirty="0"/>
              <a:t> main() </a:t>
            </a:r>
          </a:p>
          <a:p>
            <a:r>
              <a:rPr lang="en-US" dirty="0"/>
              <a:t>{ </a:t>
            </a:r>
          </a:p>
          <a:p>
            <a:r>
              <a:rPr lang="en-US" dirty="0" err="1"/>
              <a:t>int</a:t>
            </a:r>
            <a:r>
              <a:rPr lang="en-US" dirty="0"/>
              <a:t> sum=0; </a:t>
            </a:r>
          </a:p>
          <a:p>
            <a:r>
              <a:rPr lang="en-US" dirty="0"/>
              <a:t>for(</a:t>
            </a:r>
            <a:r>
              <a:rPr lang="en-US" dirty="0" err="1"/>
              <a:t>int</a:t>
            </a:r>
            <a:r>
              <a:rPr lang="en-US" dirty="0"/>
              <a:t> </a:t>
            </a:r>
            <a:r>
              <a:rPr lang="en-US" dirty="0" err="1"/>
              <a:t>i</a:t>
            </a:r>
            <a:r>
              <a:rPr lang="en-US" dirty="0"/>
              <a:t> = 0; </a:t>
            </a:r>
            <a:r>
              <a:rPr lang="en-US" dirty="0" err="1"/>
              <a:t>i</a:t>
            </a:r>
            <a:r>
              <a:rPr lang="en-US" dirty="0"/>
              <a:t>&lt;=10; </a:t>
            </a:r>
            <a:r>
              <a:rPr lang="en-US" dirty="0" err="1"/>
              <a:t>i</a:t>
            </a:r>
            <a:r>
              <a:rPr lang="en-US" dirty="0"/>
              <a:t>++)</a:t>
            </a:r>
          </a:p>
          <a:p>
            <a:r>
              <a:rPr lang="en-US" dirty="0"/>
              <a:t>{ </a:t>
            </a:r>
          </a:p>
          <a:p>
            <a:r>
              <a:rPr lang="en-US" dirty="0"/>
              <a:t>sum = </a:t>
            </a:r>
            <a:r>
              <a:rPr lang="en-US" dirty="0" err="1"/>
              <a:t>sum+i</a:t>
            </a:r>
            <a:r>
              <a:rPr lang="en-US" dirty="0"/>
              <a:t>; </a:t>
            </a:r>
          </a:p>
          <a:p>
            <a:r>
              <a:rPr lang="en-US" dirty="0"/>
              <a:t>if(</a:t>
            </a:r>
            <a:r>
              <a:rPr lang="en-US" dirty="0" err="1"/>
              <a:t>i</a:t>
            </a:r>
            <a:r>
              <a:rPr lang="en-US" dirty="0"/>
              <a:t>==5)</a:t>
            </a:r>
          </a:p>
          <a:p>
            <a:r>
              <a:rPr lang="en-US" dirty="0"/>
              <a:t>{</a:t>
            </a:r>
          </a:p>
          <a:p>
            <a:r>
              <a:rPr lang="en-US" dirty="0"/>
              <a:t> </a:t>
            </a:r>
            <a:r>
              <a:rPr lang="en-US" dirty="0" err="1"/>
              <a:t>goto</a:t>
            </a:r>
            <a:r>
              <a:rPr lang="en-US" dirty="0"/>
              <a:t> addition;</a:t>
            </a:r>
          </a:p>
          <a:p>
            <a:r>
              <a:rPr lang="en-US" dirty="0"/>
              <a:t> }</a:t>
            </a:r>
          </a:p>
          <a:p>
            <a:r>
              <a:rPr lang="en-US" dirty="0"/>
              <a:t> } </a:t>
            </a:r>
          </a:p>
          <a:p>
            <a:r>
              <a:rPr lang="en-US" dirty="0"/>
              <a:t>addition: </a:t>
            </a:r>
          </a:p>
          <a:p>
            <a:r>
              <a:rPr lang="en-US" dirty="0" err="1"/>
              <a:t>printf</a:t>
            </a:r>
            <a:r>
              <a:rPr lang="en-US" dirty="0"/>
              <a:t>("%d", sum); </a:t>
            </a:r>
          </a:p>
          <a:p>
            <a:r>
              <a:rPr lang="en-US" dirty="0"/>
              <a:t>return 0;</a:t>
            </a:r>
          </a:p>
          <a:p>
            <a:r>
              <a:rPr lang="en-US" dirty="0"/>
              <a:t> }</a:t>
            </a:r>
          </a:p>
          <a:p>
            <a:r>
              <a:rPr lang="en-US" dirty="0"/>
              <a:t>                                                                               output: 15</a:t>
            </a:r>
            <a:br>
              <a:rPr lang="en-US" dirty="0"/>
            </a:br>
            <a:endParaRPr 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762000" y="1600200"/>
            <a:ext cx="7543800" cy="4953000"/>
          </a:xfrm>
          <a:prstGeom prst="rect">
            <a:avLst/>
          </a:prstGeom>
          <a:noFill/>
          <a:ln w="9525">
            <a:noFill/>
            <a:miter lim="800000"/>
            <a:headEnd/>
            <a:tailEnd/>
          </a:ln>
          <a:effectLst/>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1. Enter a number: 3</a:t>
            </a:r>
          </a:p>
          <a:p>
            <a:r>
              <a:rPr lang="en-US" dirty="0"/>
              <a:t> 2. Enter a number: 4.3 </a:t>
            </a:r>
          </a:p>
          <a:p>
            <a:r>
              <a:rPr lang="en-US" dirty="0"/>
              <a:t>3. Enter a number: 9.3</a:t>
            </a:r>
          </a:p>
          <a:p>
            <a:r>
              <a:rPr lang="en-US" dirty="0"/>
              <a:t> 4. Enter a number: -2.9</a:t>
            </a:r>
          </a:p>
          <a:p>
            <a:r>
              <a:rPr lang="en-US"/>
              <a:t> </a:t>
            </a:r>
            <a:r>
              <a:rPr lang="en-US" dirty="0"/>
              <a:t>Sum = </a:t>
            </a:r>
            <a:r>
              <a:rPr lang="en-US"/>
              <a:t>16.60 </a:t>
            </a:r>
          </a:p>
          <a:p>
            <a:r>
              <a:rPr lang="en-US"/>
              <a:t>Average </a:t>
            </a:r>
            <a:r>
              <a:rPr lang="en-US" dirty="0"/>
              <a:t>= 5.53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3140</TotalTime>
  <Words>5578</Words>
  <Application>Microsoft Office PowerPoint</Application>
  <PresentationFormat>On-screen Show (4:3)</PresentationFormat>
  <Paragraphs>1345</Paragraphs>
  <Slides>196</Slides>
  <Notes>4</Notes>
  <HiddenSlides>0</HiddenSlides>
  <MMClips>0</MMClips>
  <ScaleCrop>false</ScaleCrop>
  <HeadingPairs>
    <vt:vector size="4" baseType="variant">
      <vt:variant>
        <vt:lpstr>Theme</vt:lpstr>
      </vt:variant>
      <vt:variant>
        <vt:i4>1</vt:i4>
      </vt:variant>
      <vt:variant>
        <vt:lpstr>Slide Titles</vt:lpstr>
      </vt:variant>
      <vt:variant>
        <vt:i4>196</vt:i4>
      </vt:variant>
    </vt:vector>
  </HeadingPairs>
  <TitlesOfParts>
    <vt:vector size="197" baseType="lpstr">
      <vt:lpstr>Office Theme</vt:lpstr>
      <vt:lpstr>C Programming Basic Concepts</vt:lpstr>
      <vt:lpstr> Tokens in C </vt:lpstr>
      <vt:lpstr>PowerPoint Presentation</vt:lpstr>
      <vt:lpstr>Keywords in C</vt:lpstr>
      <vt:lpstr>PowerPoint Presentation</vt:lpstr>
      <vt:lpstr>Identifiers in C :</vt:lpstr>
      <vt:lpstr> Rules for constructing identifiers in C are given below: </vt:lpstr>
      <vt:lpstr>Constants in C</vt:lpstr>
      <vt:lpstr>Example:</vt:lpstr>
      <vt:lpstr>Types of Constants</vt:lpstr>
      <vt:lpstr>Integer Constants</vt:lpstr>
      <vt:lpstr>Real Constants</vt:lpstr>
      <vt:lpstr> Character Constants </vt:lpstr>
      <vt:lpstr>Single Character Constants </vt:lpstr>
      <vt:lpstr>String Constant</vt:lpstr>
      <vt:lpstr>PowerPoint Presentation</vt:lpstr>
      <vt:lpstr>Example:</vt:lpstr>
      <vt:lpstr>Strings:</vt:lpstr>
      <vt:lpstr>Operator</vt:lpstr>
      <vt:lpstr>PowerPoint Presentation</vt:lpstr>
      <vt:lpstr>Special characters in C</vt:lpstr>
      <vt:lpstr>PowerPoint Presentation</vt:lpstr>
      <vt:lpstr>PowerPoint Presentation</vt:lpstr>
      <vt:lpstr>PowerPoint Presentation</vt:lpstr>
      <vt:lpstr>Operator</vt:lpstr>
      <vt:lpstr>PowerPoint Presentation</vt:lpstr>
      <vt:lpstr>C Arithmetic Operators </vt:lpstr>
      <vt:lpstr>PowerPoint Presentation</vt:lpstr>
      <vt:lpstr>//Working of arithmetic operators</vt:lpstr>
      <vt:lpstr> C Increment and Decrement Operators </vt:lpstr>
      <vt:lpstr>Pre-increment </vt:lpstr>
      <vt:lpstr>PowerPoint Presentation</vt:lpstr>
      <vt:lpstr>PowerPoint Presentation</vt:lpstr>
      <vt:lpstr> Example 2: Increment and Decrement Operators </vt:lpstr>
      <vt:lpstr>Out-Put</vt:lpstr>
      <vt:lpstr>PowerPoint Presentation</vt:lpstr>
      <vt:lpstr> Relational Operator in C </vt:lpstr>
      <vt:lpstr>PowerPoint Presentation</vt:lpstr>
      <vt:lpstr> Types of Relational Operators </vt:lpstr>
      <vt:lpstr>PowerPoint Presentation</vt:lpstr>
      <vt:lpstr>PowerPoint Presentation</vt:lpstr>
      <vt:lpstr>Example on Relational Operator</vt:lpstr>
      <vt:lpstr>PowerPoint Presentation</vt:lpstr>
      <vt:lpstr> Not Equal To Operator (!=) </vt:lpstr>
      <vt:lpstr>Less than Operator (&lt;) </vt:lpstr>
      <vt:lpstr>PowerPoint Presentation</vt:lpstr>
      <vt:lpstr>PowerPoint Presentation</vt:lpstr>
      <vt:lpstr>Greater than Operator (&gt;) </vt:lpstr>
      <vt:lpstr>PowerPoint Presentation</vt:lpstr>
      <vt:lpstr> Less than Equal To Operator (&lt;=) </vt:lpstr>
      <vt:lpstr>PowerPoint Presentation</vt:lpstr>
      <vt:lpstr>Greater than Equal To Operator (&gt;=) </vt:lpstr>
      <vt:lpstr>PowerPoint Presentation</vt:lpstr>
      <vt:lpstr>Shift Operators in C </vt:lpstr>
      <vt:lpstr>Left Shift Operator </vt:lpstr>
      <vt:lpstr>PowerPoint Presentation</vt:lpstr>
      <vt:lpstr>Right shift operator </vt:lpstr>
      <vt:lpstr>PowerPoint Presentation</vt:lpstr>
      <vt:lpstr>PowerPoint Presentation</vt:lpstr>
      <vt:lpstr>Logical Operator</vt:lpstr>
      <vt:lpstr>PowerPoint Presentation</vt:lpstr>
      <vt:lpstr>Example:</vt:lpstr>
      <vt:lpstr>Example:</vt:lpstr>
      <vt:lpstr> Logical Operators in C </vt:lpstr>
      <vt:lpstr>PowerPoint Presentation</vt:lpstr>
      <vt:lpstr> C examples of Logical OR (||) operator </vt:lpstr>
      <vt:lpstr>Meaning Description of Relational Operator</vt:lpstr>
      <vt:lpstr>variable</vt:lpstr>
      <vt:lpstr>To Declare any variable in C language you need to follow rules and regulation of C Language</vt:lpstr>
      <vt:lpstr>PowerPoint Presentation</vt:lpstr>
      <vt:lpstr>PowerPoint Presentation</vt:lpstr>
      <vt:lpstr> Types of Variables in C </vt:lpstr>
      <vt:lpstr> Local Variable </vt:lpstr>
      <vt:lpstr>Example:</vt:lpstr>
      <vt:lpstr> Global Variable </vt:lpstr>
      <vt:lpstr>Example:</vt:lpstr>
      <vt:lpstr>  Static Variable  </vt:lpstr>
      <vt:lpstr>PowerPoint Presentation</vt:lpstr>
      <vt:lpstr>Multiple variables can be initialized in a single statement by single value </vt:lpstr>
      <vt:lpstr>:Define Data Type:</vt:lpstr>
      <vt:lpstr> C  Data Types are used to: </vt:lpstr>
      <vt:lpstr>PowerPoint Presentation</vt:lpstr>
      <vt:lpstr>PowerPoint Presentation</vt:lpstr>
      <vt:lpstr>Data Type size, Storage and range</vt:lpstr>
      <vt:lpstr>Integer Data_Type</vt:lpstr>
      <vt:lpstr>Float Data type:</vt:lpstr>
      <vt:lpstr>PowerPoint Presentation</vt:lpstr>
      <vt:lpstr>Char Data-Type</vt:lpstr>
      <vt:lpstr>Data Types with Specifier</vt:lpstr>
      <vt:lpstr>PowerPoint Presentation</vt:lpstr>
      <vt:lpstr>Formatted input/output functions</vt:lpstr>
      <vt:lpstr> Some of the most important formatted console input/output functions are - </vt:lpstr>
      <vt:lpstr>  Let's see what are these format specifiers.  </vt:lpstr>
      <vt:lpstr>PowerPoint Presentation</vt:lpstr>
      <vt:lpstr>PowerPoint Presentation</vt:lpstr>
      <vt:lpstr> Unformatted input / Output functions </vt:lpstr>
      <vt:lpstr> Difference between Formatted and Unformatted Functions </vt:lpstr>
      <vt:lpstr>PowerPoint Presentation</vt:lpstr>
      <vt:lpstr>PowerPoint Presentation</vt:lpstr>
      <vt:lpstr>  Formatted I/O Example:  </vt:lpstr>
      <vt:lpstr>Unformatted I/O Example:</vt:lpstr>
      <vt:lpstr>PowerPoint Presentation</vt:lpstr>
      <vt:lpstr>PowerPoint Presentation</vt:lpstr>
      <vt:lpstr>PowerPoint Presentation</vt:lpstr>
      <vt:lpstr> C gets() and puts() functions </vt:lpstr>
      <vt:lpstr>Declaration </vt:lpstr>
      <vt:lpstr>C puts() function </vt:lpstr>
      <vt:lpstr>Declaration </vt:lpstr>
      <vt:lpstr>PowerPoint Presentation</vt:lpstr>
      <vt:lpstr>Example:</vt:lpstr>
      <vt:lpstr>PowerPoint Presentation</vt:lpstr>
      <vt:lpstr>PowerPoint Presentation</vt:lpstr>
      <vt:lpstr>PowerPoint Presentation</vt:lpstr>
      <vt:lpstr> Operator Precedence and Associativity in C </vt:lpstr>
      <vt:lpstr>PowerPoint Presentation</vt:lpstr>
      <vt:lpstr>PowerPoint Presentation</vt:lpstr>
      <vt:lpstr>Operators in the top have higher precedence and it decreases as we move towards the bottom.</vt:lpstr>
      <vt:lpstr>PowerPoint Presentation</vt:lpstr>
      <vt:lpstr>12 + 3 - 4 / 2 &lt; 3 + 1</vt:lpstr>
      <vt:lpstr>PowerPoint Presentation</vt:lpstr>
      <vt:lpstr>Example:</vt:lpstr>
      <vt:lpstr>   Evaluate the arithmetic expression ((a -b / c * d + e) * (f +g)) and display its solution  </vt:lpstr>
      <vt:lpstr>PowerPoint Presentation</vt:lpstr>
      <vt:lpstr>Definition :</vt:lpstr>
      <vt:lpstr>Arithmetic expression Evaluation </vt:lpstr>
      <vt:lpstr>PowerPoint Presentation</vt:lpstr>
      <vt:lpstr>Type Conversion(Type Casting)</vt:lpstr>
      <vt:lpstr>PowerPoint Presentation</vt:lpstr>
      <vt:lpstr>Example:</vt:lpstr>
      <vt:lpstr>Explicit Type Conversion:</vt:lpstr>
      <vt:lpstr>PowerPoint Presentation</vt:lpstr>
      <vt:lpstr>Advantages of Type Conversion </vt:lpstr>
      <vt:lpstr> C - Decision Making Structure </vt:lpstr>
      <vt:lpstr>Syntax:</vt:lpstr>
      <vt:lpstr>PowerPoint Presentation</vt:lpstr>
      <vt:lpstr>  The different types of control statements in C language are:  </vt:lpstr>
      <vt:lpstr>PowerPoint Presentation</vt:lpstr>
      <vt:lpstr>If Statement</vt:lpstr>
      <vt:lpstr>PowerPoint Presentation</vt:lpstr>
      <vt:lpstr>PowerPoint Presentation</vt:lpstr>
      <vt:lpstr>PowerPoint Presentation</vt:lpstr>
      <vt:lpstr>PowerPoint Presentation</vt:lpstr>
      <vt:lpstr>If-else Statement </vt:lpstr>
      <vt:lpstr>PowerPoint Presentation</vt:lpstr>
      <vt:lpstr>Flow Chart:</vt:lpstr>
      <vt:lpstr>Example on if-else: Program to check whether a person is eligible to vote or not. </vt:lpstr>
      <vt:lpstr>If else-if ladder Statement </vt:lpstr>
      <vt:lpstr>PowerPoint Presentation</vt:lpstr>
      <vt:lpstr>PowerPoint Presentation</vt:lpstr>
      <vt:lpstr>PowerPoint Presentation</vt:lpstr>
      <vt:lpstr>Nested If</vt:lpstr>
      <vt:lpstr>Syntax</vt:lpstr>
      <vt:lpstr>PowerPoint Presentation</vt:lpstr>
      <vt:lpstr>PowerPoint Presentation</vt:lpstr>
      <vt:lpstr> Functioning of switch case statement </vt:lpstr>
      <vt:lpstr>Syntax:</vt:lpstr>
      <vt:lpstr>The following rules apply to a switch statement − </vt:lpstr>
      <vt:lpstr>PowerPoint Presentation</vt:lpstr>
      <vt:lpstr>Example:</vt:lpstr>
      <vt:lpstr>Iteration :</vt:lpstr>
      <vt:lpstr> C Iteration Statements </vt:lpstr>
      <vt:lpstr>Iteration:</vt:lpstr>
      <vt:lpstr>PowerPoint Presentation</vt:lpstr>
      <vt:lpstr>PowerPoint Presentation</vt:lpstr>
      <vt:lpstr>Example:</vt:lpstr>
      <vt:lpstr> Example on Multiplication table:</vt:lpstr>
      <vt:lpstr>Do While:</vt:lpstr>
      <vt:lpstr>Example2</vt:lpstr>
      <vt:lpstr>Flow Diagram for Do While :</vt:lpstr>
      <vt:lpstr>PowerPoint Presentation</vt:lpstr>
      <vt:lpstr>PowerPoint Presentation</vt:lpstr>
      <vt:lpstr>Output:</vt:lpstr>
      <vt:lpstr>PowerPoint Presentation</vt:lpstr>
      <vt:lpstr>PowerPoint Presentation</vt:lpstr>
      <vt:lpstr>PowerPoint Presentation</vt:lpstr>
      <vt:lpstr>OutPut:</vt:lpstr>
      <vt:lpstr>PowerPoint Presentation</vt:lpstr>
      <vt:lpstr>Print numbers 0-9</vt:lpstr>
      <vt:lpstr> Out-Put:</vt:lpstr>
      <vt:lpstr>Print Hello word</vt:lpstr>
      <vt:lpstr>Out-Put:</vt:lpstr>
      <vt:lpstr>Benefits of Do while loop :</vt:lpstr>
      <vt:lpstr>For Loop:</vt:lpstr>
      <vt:lpstr>PowerPoint Presentation</vt:lpstr>
      <vt:lpstr>Syntax:</vt:lpstr>
      <vt:lpstr>How for loop works? </vt:lpstr>
      <vt:lpstr>Flow Diagram:</vt:lpstr>
      <vt:lpstr>// Print numbers from 1 to 10  </vt:lpstr>
      <vt:lpstr>goto Statement:</vt:lpstr>
      <vt:lpstr>PowerPoint Presentation</vt:lpstr>
      <vt:lpstr>Note: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 Basic Concepts</dc:title>
  <dc:creator>Windows User</dc:creator>
  <cp:lastModifiedBy>shree</cp:lastModifiedBy>
  <cp:revision>220</cp:revision>
  <dcterms:created xsi:type="dcterms:W3CDTF">2021-11-18T16:12:30Z</dcterms:created>
  <dcterms:modified xsi:type="dcterms:W3CDTF">2022-02-13T03:29:32Z</dcterms:modified>
</cp:coreProperties>
</file>